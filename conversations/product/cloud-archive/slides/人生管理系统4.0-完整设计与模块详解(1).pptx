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da6f897c646cc" /><Relationship Type="http://schemas.openxmlformats.org/officeDocument/2006/relationships/extended-properties" Target="/docProps/app.xml" Id="R361409ef7b4143a6" /><Relationship Type="http://schemas.openxmlformats.org/officeDocument/2006/relationships/officeDocument" Target="/ppt/presentation.xml" Id="R265f7191ea16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371624204d493b"/>
  </p:sldMasterIdLst>
  <p:notesMasterIdLst>
    <p:notesMasterId xmlns:r="http://schemas.openxmlformats.org/officeDocument/2006/relationships" r:id="R671e4463be1d4bf4"/>
  </p:notesMasterIdLst>
  <p:sldIdLst>
    <p:sldId xmlns:r="http://schemas.openxmlformats.org/officeDocument/2006/relationships" id="256" r:id="Ra2f9b67acd324e2c"/>
    <p:sldId xmlns:r="http://schemas.openxmlformats.org/officeDocument/2006/relationships" id="257" r:id="Rc1f46bd9eaf04217"/>
    <p:sldId xmlns:r="http://schemas.openxmlformats.org/officeDocument/2006/relationships" id="258" r:id="R5ed7b6ecb9e546e6"/>
    <p:sldId xmlns:r="http://schemas.openxmlformats.org/officeDocument/2006/relationships" id="259" r:id="R6c0284901cd44647"/>
    <p:sldId xmlns:r="http://schemas.openxmlformats.org/officeDocument/2006/relationships" id="260" r:id="Rb508318dd0f4432f"/>
    <p:sldId xmlns:r="http://schemas.openxmlformats.org/officeDocument/2006/relationships" id="261" r:id="R5a8f1603c340462e"/>
    <p:sldId xmlns:r="http://schemas.openxmlformats.org/officeDocument/2006/relationships" id="262" r:id="R99d9fa5bd41f48c0"/>
    <p:sldId xmlns:r="http://schemas.openxmlformats.org/officeDocument/2006/relationships" id="263" r:id="R8aacdc3fd5a2483f"/>
    <p:sldId xmlns:r="http://schemas.openxmlformats.org/officeDocument/2006/relationships" id="264" r:id="R9bb57244ab334f7e"/>
    <p:sldId xmlns:r="http://schemas.openxmlformats.org/officeDocument/2006/relationships" id="265" r:id="Ra37fa38d002544e2"/>
    <p:sldId xmlns:r="http://schemas.openxmlformats.org/officeDocument/2006/relationships" id="266" r:id="R38473e21e5384535"/>
    <p:sldId xmlns:r="http://schemas.openxmlformats.org/officeDocument/2006/relationships" id="267" r:id="Rabc751c2fc814588"/>
    <p:sldId xmlns:r="http://schemas.openxmlformats.org/officeDocument/2006/relationships" id="268" r:id="Rdcc12b50370c413c"/>
    <p:sldId xmlns:r="http://schemas.openxmlformats.org/officeDocument/2006/relationships" id="269" r:id="R82ff352850084968"/>
    <p:sldId xmlns:r="http://schemas.openxmlformats.org/officeDocument/2006/relationships" id="270" r:id="R81f89c4fe13b453c"/>
    <p:sldId xmlns:r="http://schemas.openxmlformats.org/officeDocument/2006/relationships" id="271" r:id="R294054f32d3a4ec4"/>
    <p:sldId xmlns:r="http://schemas.openxmlformats.org/officeDocument/2006/relationships" id="272" r:id="R4f526e6bd7c643df"/>
    <p:sldId xmlns:r="http://schemas.openxmlformats.org/officeDocument/2006/relationships" id="273" r:id="Rfa87814914d34733"/>
    <p:sldId xmlns:r="http://schemas.openxmlformats.org/officeDocument/2006/relationships" id="274" r:id="R7378ac85c0b24de8"/>
    <p:sldId xmlns:r="http://schemas.openxmlformats.org/officeDocument/2006/relationships" id="275" r:id="Rdf241130b88a44c7"/>
    <p:sldId xmlns:r="http://schemas.openxmlformats.org/officeDocument/2006/relationships" id="276" r:id="Rb8a4a3d51a4849ce"/>
    <p:sldId xmlns:r="http://schemas.openxmlformats.org/officeDocument/2006/relationships" id="277" r:id="Rdcda0241bb874cb4"/>
    <p:sldId xmlns:r="http://schemas.openxmlformats.org/officeDocument/2006/relationships" id="278" r:id="Rdd7981d690c04240"/>
    <p:sldId xmlns:r="http://schemas.openxmlformats.org/officeDocument/2006/relationships" id="279" r:id="R1981c2e1a8704bb8"/>
    <p:sldId xmlns:r="http://schemas.openxmlformats.org/officeDocument/2006/relationships" id="280" r:id="Rf5cc110dda254713"/>
    <p:sldId xmlns:r="http://schemas.openxmlformats.org/officeDocument/2006/relationships" id="281" r:id="Rec940df7d4ec4e64"/>
    <p:sldId xmlns:r="http://schemas.openxmlformats.org/officeDocument/2006/relationships" id="282" r:id="R5e1dcbe1008c4ac4"/>
    <p:sldId xmlns:r="http://schemas.openxmlformats.org/officeDocument/2006/relationships" id="283" r:id="Rf834a4a431a84d17"/>
    <p:sldId xmlns:r="http://schemas.openxmlformats.org/officeDocument/2006/relationships" id="284" r:id="R1295415bcd884543"/>
    <p:sldId xmlns:r="http://schemas.openxmlformats.org/officeDocument/2006/relationships" id="285" r:id="Re02989973c7b417f"/>
    <p:sldId xmlns:r="http://schemas.openxmlformats.org/officeDocument/2006/relationships" id="286" r:id="R95e323ecd397442a"/>
    <p:sldId xmlns:r="http://schemas.openxmlformats.org/officeDocument/2006/relationships" id="287" r:id="Rcebf53f188cd4d59"/>
    <p:sldId xmlns:r="http://schemas.openxmlformats.org/officeDocument/2006/relationships" id="288" r:id="R909b083346ee456f"/>
    <p:sldId xmlns:r="http://schemas.openxmlformats.org/officeDocument/2006/relationships" id="289" r:id="Ra8091598f2fb478a"/>
    <p:sldId xmlns:r="http://schemas.openxmlformats.org/officeDocument/2006/relationships" id="290" r:id="R2666d990fb0647b0"/>
    <p:sldId xmlns:r="http://schemas.openxmlformats.org/officeDocument/2006/relationships" id="291" r:id="R76b31d02b0dc44e6"/>
    <p:sldId xmlns:r="http://schemas.openxmlformats.org/officeDocument/2006/relationships" id="292" r:id="R00cfbce80fe14520"/>
    <p:sldId xmlns:r="http://schemas.openxmlformats.org/officeDocument/2006/relationships" id="293" r:id="R7ed540647eda430b"/>
    <p:sldId xmlns:r="http://schemas.openxmlformats.org/officeDocument/2006/relationships" id="294" r:id="R90ac611f2ca647e9"/>
    <p:sldId xmlns:r="http://schemas.openxmlformats.org/officeDocument/2006/relationships" id="295" r:id="Rf0db766d494746ee"/>
    <p:sldId xmlns:r="http://schemas.openxmlformats.org/officeDocument/2006/relationships" id="296" r:id="R0bc3cf80d3e045d9"/>
    <p:sldId xmlns:r="http://schemas.openxmlformats.org/officeDocument/2006/relationships" id="297" r:id="Re34f12d2208944ea"/>
    <p:sldId xmlns:r="http://schemas.openxmlformats.org/officeDocument/2006/relationships" id="298" r:id="Rdd344979bd1b4b81"/>
    <p:sldId xmlns:r="http://schemas.openxmlformats.org/officeDocument/2006/relationships" id="299" r:id="R96adf9ad2c514d52"/>
    <p:sldId xmlns:r="http://schemas.openxmlformats.org/officeDocument/2006/relationships" id="300" r:id="Ra27a35dd150f459f"/>
    <p:sldId xmlns:r="http://schemas.openxmlformats.org/officeDocument/2006/relationships" id="301" r:id="R6392d417623f4aec"/>
    <p:sldId xmlns:r="http://schemas.openxmlformats.org/officeDocument/2006/relationships" id="302" r:id="R2d53aec39a754746"/>
    <p:sldId xmlns:r="http://schemas.openxmlformats.org/officeDocument/2006/relationships" id="303" r:id="R12ca0e994ec54e11"/>
    <p:sldId xmlns:r="http://schemas.openxmlformats.org/officeDocument/2006/relationships" id="304" r:id="R250dc01007a74b95"/>
    <p:sldId xmlns:r="http://schemas.openxmlformats.org/officeDocument/2006/relationships" id="305" r:id="R441bf7e8a29b49c8"/>
    <p:sldId xmlns:r="http://schemas.openxmlformats.org/officeDocument/2006/relationships" id="306" r:id="R7b78213d78894db3"/>
    <p:sldId xmlns:r="http://schemas.openxmlformats.org/officeDocument/2006/relationships" id="307" r:id="Rd45a8e331974455a"/>
    <p:sldId xmlns:r="http://schemas.openxmlformats.org/officeDocument/2006/relationships" id="308" r:id="Rf3cdcb6da5704143"/>
    <p:sldId xmlns:r="http://schemas.openxmlformats.org/officeDocument/2006/relationships" id="309" r:id="Rc7468999f6c847dd"/>
    <p:sldId xmlns:r="http://schemas.openxmlformats.org/officeDocument/2006/relationships" id="310" r:id="Rfd62fcbd81964e9a"/>
    <p:sldId xmlns:r="http://schemas.openxmlformats.org/officeDocument/2006/relationships" id="311" r:id="R977f750fa1ec4ac0"/>
    <p:sldId xmlns:r="http://schemas.openxmlformats.org/officeDocument/2006/relationships" id="312" r:id="Rb34e0576dd854fe5"/>
    <p:sldId xmlns:r="http://schemas.openxmlformats.org/officeDocument/2006/relationships" id="313" r:id="R82b84c54745c4b20"/>
    <p:sldId xmlns:r="http://schemas.openxmlformats.org/officeDocument/2006/relationships" id="314" r:id="R2bbe500f05854548"/>
    <p:sldId xmlns:r="http://schemas.openxmlformats.org/officeDocument/2006/relationships" id="315" r:id="Rd8ca8f65ab804dae"/>
    <p:sldId xmlns:r="http://schemas.openxmlformats.org/officeDocument/2006/relationships" id="316" r:id="R4d5df301bfdf4274"/>
    <p:sldId xmlns:r="http://schemas.openxmlformats.org/officeDocument/2006/relationships" id="317" r:id="R2113ebfa0ab9422a"/>
    <p:sldId xmlns:r="http://schemas.openxmlformats.org/officeDocument/2006/relationships" id="318" r:id="R25876af6a5dc4a92"/>
    <p:sldId xmlns:r="http://schemas.openxmlformats.org/officeDocument/2006/relationships" id="319" r:id="R9cb0e9b7d56f4b12"/>
    <p:sldId xmlns:r="http://schemas.openxmlformats.org/officeDocument/2006/relationships" id="320" r:id="Ra767131e04984131"/>
    <p:sldId xmlns:r="http://schemas.openxmlformats.org/officeDocument/2006/relationships" id="321" r:id="Rb67efb2f310e431e"/>
    <p:sldId xmlns:r="http://schemas.openxmlformats.org/officeDocument/2006/relationships" id="322" r:id="Ra227846aba894a67"/>
    <p:sldId xmlns:r="http://schemas.openxmlformats.org/officeDocument/2006/relationships" id="323" r:id="R894687b7924245eb"/>
    <p:sldId xmlns:r="http://schemas.openxmlformats.org/officeDocument/2006/relationships" id="324" r:id="Rb9482b7da5144618"/>
    <p:sldId xmlns:r="http://schemas.openxmlformats.org/officeDocument/2006/relationships" id="325" r:id="R0acaea2842054aae"/>
    <p:sldId xmlns:r="http://schemas.openxmlformats.org/officeDocument/2006/relationships" id="326" r:id="R9034c26d113344eb"/>
    <p:sldId xmlns:r="http://schemas.openxmlformats.org/officeDocument/2006/relationships" id="327" r:id="R00e4acd1d3cf49c4"/>
    <p:sldId xmlns:r="http://schemas.openxmlformats.org/officeDocument/2006/relationships" id="328" r:id="Re476755b1a6b4f93"/>
    <p:sldId xmlns:r="http://schemas.openxmlformats.org/officeDocument/2006/relationships" id="329" r:id="Ra57f608283eb4aa1"/>
    <p:sldId xmlns:r="http://schemas.openxmlformats.org/officeDocument/2006/relationships" id="330" r:id="Rfd90cf97ada3453a"/>
    <p:sldId xmlns:r="http://schemas.openxmlformats.org/officeDocument/2006/relationships" id="331" r:id="R37b7430a5b2f4bb5"/>
    <p:sldId xmlns:r="http://schemas.openxmlformats.org/officeDocument/2006/relationships" id="332" r:id="R40f11117b0414754"/>
    <p:sldId xmlns:r="http://schemas.openxmlformats.org/officeDocument/2006/relationships" id="333" r:id="R856f7b0c1291475d"/>
    <p:sldId xmlns:r="http://schemas.openxmlformats.org/officeDocument/2006/relationships" id="334" r:id="R6c106c6431cd41c6"/>
    <p:sldId xmlns:r="http://schemas.openxmlformats.org/officeDocument/2006/relationships" id="335" r:id="R6f039aea07274627"/>
    <p:sldId xmlns:r="http://schemas.openxmlformats.org/officeDocument/2006/relationships" id="336" r:id="Rde0e70dafe314068"/>
    <p:sldId xmlns:r="http://schemas.openxmlformats.org/officeDocument/2006/relationships" id="337" r:id="Rf3f599d123b745b6"/>
    <p:sldId xmlns:r="http://schemas.openxmlformats.org/officeDocument/2006/relationships" id="338" r:id="R8307b320ea7a4967"/>
    <p:sldId xmlns:r="http://schemas.openxmlformats.org/officeDocument/2006/relationships" id="339" r:id="R594a29f1a6bc49ea"/>
    <p:sldId xmlns:r="http://schemas.openxmlformats.org/officeDocument/2006/relationships" id="340" r:id="R9a45a96a790e4ef3"/>
    <p:sldId xmlns:r="http://schemas.openxmlformats.org/officeDocument/2006/relationships" id="341" r:id="Rd2e8a72d94344339"/>
    <p:sldId xmlns:r="http://schemas.openxmlformats.org/officeDocument/2006/relationships" id="342" r:id="R1d3928b8e746492f"/>
    <p:sldId xmlns:r="http://schemas.openxmlformats.org/officeDocument/2006/relationships" id="343" r:id="R78037c3e38d74037"/>
    <p:sldId xmlns:r="http://schemas.openxmlformats.org/officeDocument/2006/relationships" id="344" r:id="Rda0968d7924b4f3c"/>
    <p:sldId xmlns:r="http://schemas.openxmlformats.org/officeDocument/2006/relationships" id="345" r:id="Rb0710b021f2543f5"/>
    <p:sldId xmlns:r="http://schemas.openxmlformats.org/officeDocument/2006/relationships" id="346" r:id="R82745b79b24440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cc9d27c544376" /><Relationship Type="http://schemas.openxmlformats.org/officeDocument/2006/relationships/slideMaster" Target="/ppt/slideMasters/slideMaster1.xml" Id="R55371624204d493b" /><Relationship Type="http://schemas.openxmlformats.org/officeDocument/2006/relationships/notesMaster" Target="/ppt/notesMasters/notesMaster1.xml" Id="R671e4463be1d4bf4" /><Relationship Type="http://schemas.openxmlformats.org/officeDocument/2006/relationships/presProps" Target="/ppt/presProps.xml" Id="R2997b4a386234e2d" /><Relationship Type="http://schemas.openxmlformats.org/officeDocument/2006/relationships/tableStyles" Target="/ppt/tableStyles.xml" Id="Rc51539f954f640b9" /><Relationship Type="http://schemas.openxmlformats.org/officeDocument/2006/relationships/slide" Target="/ppt/slides/slide1.xml" Id="Ra2f9b67acd324e2c" /><Relationship Type="http://schemas.openxmlformats.org/officeDocument/2006/relationships/slide" Target="/ppt/slides/slide2.xml" Id="Rc1f46bd9eaf04217" /><Relationship Type="http://schemas.openxmlformats.org/officeDocument/2006/relationships/slide" Target="/ppt/slides/slide3.xml" Id="R5ed7b6ecb9e546e6" /><Relationship Type="http://schemas.openxmlformats.org/officeDocument/2006/relationships/slide" Target="/ppt/slides/slide4.xml" Id="R6c0284901cd44647" /><Relationship Type="http://schemas.openxmlformats.org/officeDocument/2006/relationships/slide" Target="/ppt/slides/slide5.xml" Id="Rb508318dd0f4432f" /><Relationship Type="http://schemas.openxmlformats.org/officeDocument/2006/relationships/slide" Target="/ppt/slides/slide6.xml" Id="R5a8f1603c340462e" /><Relationship Type="http://schemas.openxmlformats.org/officeDocument/2006/relationships/slide" Target="/ppt/slides/slide7.xml" Id="R99d9fa5bd41f48c0" /><Relationship Type="http://schemas.openxmlformats.org/officeDocument/2006/relationships/slide" Target="/ppt/slides/slide8.xml" Id="R8aacdc3fd5a2483f" /><Relationship Type="http://schemas.openxmlformats.org/officeDocument/2006/relationships/slide" Target="/ppt/slides/slide9.xml" Id="R9bb57244ab334f7e" /><Relationship Type="http://schemas.openxmlformats.org/officeDocument/2006/relationships/slide" Target="/ppt/slides/slide10.xml" Id="Ra37fa38d002544e2" /><Relationship Type="http://schemas.openxmlformats.org/officeDocument/2006/relationships/slide" Target="/ppt/slides/slide11.xml" Id="R38473e21e5384535" /><Relationship Type="http://schemas.openxmlformats.org/officeDocument/2006/relationships/slide" Target="/ppt/slides/slide12.xml" Id="Rabc751c2fc814588" /><Relationship Type="http://schemas.openxmlformats.org/officeDocument/2006/relationships/slide" Target="/ppt/slides/slide13.xml" Id="Rdcc12b50370c413c" /><Relationship Type="http://schemas.openxmlformats.org/officeDocument/2006/relationships/slide" Target="/ppt/slides/slide14.xml" Id="R82ff352850084968" /><Relationship Type="http://schemas.openxmlformats.org/officeDocument/2006/relationships/slide" Target="/ppt/slides/slide15.xml" Id="R81f89c4fe13b453c" /><Relationship Type="http://schemas.openxmlformats.org/officeDocument/2006/relationships/slide" Target="/ppt/slides/slide16.xml" Id="R294054f32d3a4ec4" /><Relationship Type="http://schemas.openxmlformats.org/officeDocument/2006/relationships/slide" Target="/ppt/slides/slide17.xml" Id="R4f526e6bd7c643df" /><Relationship Type="http://schemas.openxmlformats.org/officeDocument/2006/relationships/slide" Target="/ppt/slides/slide18.xml" Id="Rfa87814914d34733" /><Relationship Type="http://schemas.openxmlformats.org/officeDocument/2006/relationships/slide" Target="/ppt/slides/slide19.xml" Id="R7378ac85c0b24de8" /><Relationship Type="http://schemas.openxmlformats.org/officeDocument/2006/relationships/slide" Target="/ppt/slides/slide20.xml" Id="Rdf241130b88a44c7" /><Relationship Type="http://schemas.openxmlformats.org/officeDocument/2006/relationships/slide" Target="/ppt/slides/slide21.xml" Id="Rb8a4a3d51a4849ce" /><Relationship Type="http://schemas.openxmlformats.org/officeDocument/2006/relationships/slide" Target="/ppt/slides/slide22.xml" Id="Rdcda0241bb874cb4" /><Relationship Type="http://schemas.openxmlformats.org/officeDocument/2006/relationships/slide" Target="/ppt/slides/slide23.xml" Id="Rdd7981d690c04240" /><Relationship Type="http://schemas.openxmlformats.org/officeDocument/2006/relationships/slide" Target="/ppt/slides/slide24.xml" Id="R1981c2e1a8704bb8" /><Relationship Type="http://schemas.openxmlformats.org/officeDocument/2006/relationships/slide" Target="/ppt/slides/slide25.xml" Id="Rf5cc110dda254713" /><Relationship Type="http://schemas.openxmlformats.org/officeDocument/2006/relationships/slide" Target="/ppt/slides/slide26.xml" Id="Rec940df7d4ec4e64" /><Relationship Type="http://schemas.openxmlformats.org/officeDocument/2006/relationships/slide" Target="/ppt/slides/slide27.xml" Id="R5e1dcbe1008c4ac4" /><Relationship Type="http://schemas.openxmlformats.org/officeDocument/2006/relationships/slide" Target="/ppt/slides/slide28.xml" Id="Rf834a4a431a84d17" /><Relationship Type="http://schemas.openxmlformats.org/officeDocument/2006/relationships/slide" Target="/ppt/slides/slide29.xml" Id="R1295415bcd884543" /><Relationship Type="http://schemas.openxmlformats.org/officeDocument/2006/relationships/slide" Target="/ppt/slides/slide30.xml" Id="Re02989973c7b417f" /><Relationship Type="http://schemas.openxmlformats.org/officeDocument/2006/relationships/slide" Target="/ppt/slides/slide31.xml" Id="R95e323ecd397442a" /><Relationship Type="http://schemas.openxmlformats.org/officeDocument/2006/relationships/slide" Target="/ppt/slides/slide32.xml" Id="Rcebf53f188cd4d59" /><Relationship Type="http://schemas.openxmlformats.org/officeDocument/2006/relationships/slide" Target="/ppt/slides/slide33.xml" Id="R909b083346ee456f" /><Relationship Type="http://schemas.openxmlformats.org/officeDocument/2006/relationships/slide" Target="/ppt/slides/slide34.xml" Id="Ra8091598f2fb478a" /><Relationship Type="http://schemas.openxmlformats.org/officeDocument/2006/relationships/slide" Target="/ppt/slides/slide35.xml" Id="R2666d990fb0647b0" /><Relationship Type="http://schemas.openxmlformats.org/officeDocument/2006/relationships/slide" Target="/ppt/slides/slide36.xml" Id="R76b31d02b0dc44e6" /><Relationship Type="http://schemas.openxmlformats.org/officeDocument/2006/relationships/slide" Target="/ppt/slides/slide37.xml" Id="R00cfbce80fe14520" /><Relationship Type="http://schemas.openxmlformats.org/officeDocument/2006/relationships/slide" Target="/ppt/slides/slide38.xml" Id="R7ed540647eda430b" /><Relationship Type="http://schemas.openxmlformats.org/officeDocument/2006/relationships/slide" Target="/ppt/slides/slide39.xml" Id="R90ac611f2ca647e9" /><Relationship Type="http://schemas.openxmlformats.org/officeDocument/2006/relationships/slide" Target="/ppt/slides/slide40.xml" Id="Rf0db766d494746ee" /><Relationship Type="http://schemas.openxmlformats.org/officeDocument/2006/relationships/slide" Target="/ppt/slides/slide41.xml" Id="R0bc3cf80d3e045d9" /><Relationship Type="http://schemas.openxmlformats.org/officeDocument/2006/relationships/slide" Target="/ppt/slides/slide42.xml" Id="Re34f12d2208944ea" /><Relationship Type="http://schemas.openxmlformats.org/officeDocument/2006/relationships/slide" Target="/ppt/slides/slide43.xml" Id="Rdd344979bd1b4b81" /><Relationship Type="http://schemas.openxmlformats.org/officeDocument/2006/relationships/slide" Target="/ppt/slides/slide44.xml" Id="R96adf9ad2c514d52" /><Relationship Type="http://schemas.openxmlformats.org/officeDocument/2006/relationships/slide" Target="/ppt/slides/slide45.xml" Id="Ra27a35dd150f459f" /><Relationship Type="http://schemas.openxmlformats.org/officeDocument/2006/relationships/slide" Target="/ppt/slides/slide46.xml" Id="R6392d417623f4aec" /><Relationship Type="http://schemas.openxmlformats.org/officeDocument/2006/relationships/slide" Target="/ppt/slides/slide47.xml" Id="R2d53aec39a754746" /><Relationship Type="http://schemas.openxmlformats.org/officeDocument/2006/relationships/slide" Target="/ppt/slides/slide48.xml" Id="R12ca0e994ec54e11" /><Relationship Type="http://schemas.openxmlformats.org/officeDocument/2006/relationships/slide" Target="/ppt/slides/slide49.xml" Id="R250dc01007a74b95" /><Relationship Type="http://schemas.openxmlformats.org/officeDocument/2006/relationships/slide" Target="/ppt/slides/slide50.xml" Id="R441bf7e8a29b49c8" /><Relationship Type="http://schemas.openxmlformats.org/officeDocument/2006/relationships/slide" Target="/ppt/slides/slide51.xml" Id="R7b78213d78894db3" /><Relationship Type="http://schemas.openxmlformats.org/officeDocument/2006/relationships/slide" Target="/ppt/slides/slide52.xml" Id="Rd45a8e331974455a" /><Relationship Type="http://schemas.openxmlformats.org/officeDocument/2006/relationships/slide" Target="/ppt/slides/slide53.xml" Id="Rf3cdcb6da5704143" /><Relationship Type="http://schemas.openxmlformats.org/officeDocument/2006/relationships/slide" Target="/ppt/slides/slide54.xml" Id="Rc7468999f6c847dd" /><Relationship Type="http://schemas.openxmlformats.org/officeDocument/2006/relationships/slide" Target="/ppt/slides/slide55.xml" Id="Rfd62fcbd81964e9a" /><Relationship Type="http://schemas.openxmlformats.org/officeDocument/2006/relationships/slide" Target="/ppt/slides/slide56.xml" Id="R977f750fa1ec4ac0" /><Relationship Type="http://schemas.openxmlformats.org/officeDocument/2006/relationships/slide" Target="/ppt/slides/slide57.xml" Id="Rb34e0576dd854fe5" /><Relationship Type="http://schemas.openxmlformats.org/officeDocument/2006/relationships/slide" Target="/ppt/slides/slide58.xml" Id="R82b84c54745c4b20" /><Relationship Type="http://schemas.openxmlformats.org/officeDocument/2006/relationships/slide" Target="/ppt/slides/slide59.xml" Id="R2bbe500f05854548" /><Relationship Type="http://schemas.openxmlformats.org/officeDocument/2006/relationships/slide" Target="/ppt/slides/slide60.xml" Id="Rd8ca8f65ab804dae" /><Relationship Type="http://schemas.openxmlformats.org/officeDocument/2006/relationships/slide" Target="/ppt/slides/slide61.xml" Id="R4d5df301bfdf4274" /><Relationship Type="http://schemas.openxmlformats.org/officeDocument/2006/relationships/slide" Target="/ppt/slides/slide62.xml" Id="R2113ebfa0ab9422a" /><Relationship Type="http://schemas.openxmlformats.org/officeDocument/2006/relationships/slide" Target="/ppt/slides/slide63.xml" Id="R25876af6a5dc4a92" /><Relationship Type="http://schemas.openxmlformats.org/officeDocument/2006/relationships/slide" Target="/ppt/slides/slide64.xml" Id="R9cb0e9b7d56f4b12" /><Relationship Type="http://schemas.openxmlformats.org/officeDocument/2006/relationships/slide" Target="/ppt/slides/slide65.xml" Id="Ra767131e04984131" /><Relationship Type="http://schemas.openxmlformats.org/officeDocument/2006/relationships/slide" Target="/ppt/slides/slide66.xml" Id="Rb67efb2f310e431e" /><Relationship Type="http://schemas.openxmlformats.org/officeDocument/2006/relationships/slide" Target="/ppt/slides/slide67.xml" Id="Ra227846aba894a67" /><Relationship Type="http://schemas.openxmlformats.org/officeDocument/2006/relationships/slide" Target="/ppt/slides/slide68.xml" Id="R894687b7924245eb" /><Relationship Type="http://schemas.openxmlformats.org/officeDocument/2006/relationships/slide" Target="/ppt/slides/slide69.xml" Id="Rb9482b7da5144618" /><Relationship Type="http://schemas.openxmlformats.org/officeDocument/2006/relationships/slide" Target="/ppt/slides/slide70.xml" Id="R0acaea2842054aae" /><Relationship Type="http://schemas.openxmlformats.org/officeDocument/2006/relationships/slide" Target="/ppt/slides/slide71.xml" Id="R9034c26d113344eb" /><Relationship Type="http://schemas.openxmlformats.org/officeDocument/2006/relationships/slide" Target="/ppt/slides/slide72.xml" Id="R00e4acd1d3cf49c4" /><Relationship Type="http://schemas.openxmlformats.org/officeDocument/2006/relationships/slide" Target="/ppt/slides/slide73.xml" Id="Re476755b1a6b4f93" /><Relationship Type="http://schemas.openxmlformats.org/officeDocument/2006/relationships/slide" Target="/ppt/slides/slide74.xml" Id="Ra57f608283eb4aa1" /><Relationship Type="http://schemas.openxmlformats.org/officeDocument/2006/relationships/slide" Target="/ppt/slides/slide75.xml" Id="Rfd90cf97ada3453a" /><Relationship Type="http://schemas.openxmlformats.org/officeDocument/2006/relationships/slide" Target="/ppt/slides/slide76.xml" Id="R37b7430a5b2f4bb5" /><Relationship Type="http://schemas.openxmlformats.org/officeDocument/2006/relationships/slide" Target="/ppt/slides/slide77.xml" Id="R40f11117b0414754" /><Relationship Type="http://schemas.openxmlformats.org/officeDocument/2006/relationships/slide" Target="/ppt/slides/slide78.xml" Id="R856f7b0c1291475d" /><Relationship Type="http://schemas.openxmlformats.org/officeDocument/2006/relationships/slide" Target="/ppt/slides/slide79.xml" Id="R6c106c6431cd41c6" /><Relationship Type="http://schemas.openxmlformats.org/officeDocument/2006/relationships/slide" Target="/ppt/slides/slide80.xml" Id="R6f039aea07274627" /><Relationship Type="http://schemas.openxmlformats.org/officeDocument/2006/relationships/slide" Target="/ppt/slides/slide81.xml" Id="Rde0e70dafe314068" /><Relationship Type="http://schemas.openxmlformats.org/officeDocument/2006/relationships/slide" Target="/ppt/slides/slide82.xml" Id="Rf3f599d123b745b6" /><Relationship Type="http://schemas.openxmlformats.org/officeDocument/2006/relationships/slide" Target="/ppt/slides/slide83.xml" Id="R8307b320ea7a4967" /><Relationship Type="http://schemas.openxmlformats.org/officeDocument/2006/relationships/slide" Target="/ppt/slides/slide84.xml" Id="R594a29f1a6bc49ea" /><Relationship Type="http://schemas.openxmlformats.org/officeDocument/2006/relationships/slide" Target="/ppt/slides/slide85.xml" Id="R9a45a96a790e4ef3" /><Relationship Type="http://schemas.openxmlformats.org/officeDocument/2006/relationships/slide" Target="/ppt/slides/slide86.xml" Id="Rd2e8a72d94344339" /><Relationship Type="http://schemas.openxmlformats.org/officeDocument/2006/relationships/slide" Target="/ppt/slides/slide87.xml" Id="R1d3928b8e746492f" /><Relationship Type="http://schemas.openxmlformats.org/officeDocument/2006/relationships/slide" Target="/ppt/slides/slide88.xml" Id="R78037c3e38d74037" /><Relationship Type="http://schemas.openxmlformats.org/officeDocument/2006/relationships/slide" Target="/ppt/slides/slide89.xml" Id="Rda0968d7924b4f3c" /><Relationship Type="http://schemas.openxmlformats.org/officeDocument/2006/relationships/slide" Target="/ppt/slides/slide90.xml" Id="Rb0710b021f2543f5" /><Relationship Type="http://schemas.openxmlformats.org/officeDocument/2006/relationships/slide" Target="/ppt/slides/slide91.xml" Id="R82745b79b244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b2c89a2afb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f071295fb64ce4" /><Relationship Type="http://schemas.openxmlformats.org/officeDocument/2006/relationships/notesMaster" Target="/ppt/notesMasters/notesMaster1.xml" Id="R54b2fbe4ca6647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f0160bf4d64315" /><Relationship Type="http://schemas.openxmlformats.org/officeDocument/2006/relationships/notesMaster" Target="/ppt/notesMasters/notesMaster1.xml" Id="R5225d7f4cca1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9b44f2c3b34c88" /><Relationship Type="http://schemas.openxmlformats.org/officeDocument/2006/relationships/notesMaster" Target="/ppt/notesMasters/notesMaster1.xml" Id="R208f0d43dc87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38768fb60141bc" /><Relationship Type="http://schemas.openxmlformats.org/officeDocument/2006/relationships/notesMaster" Target="/ppt/notesMasters/notesMaster1.xml" Id="Red013ca32f454e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36da4d595412b" /><Relationship Type="http://schemas.openxmlformats.org/officeDocument/2006/relationships/notesMaster" Target="/ppt/notesMasters/notesMaster1.xml" Id="R5fb1ea5eba76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e1fab68d324b7a" /><Relationship Type="http://schemas.openxmlformats.org/officeDocument/2006/relationships/notesMaster" Target="/ppt/notesMasters/notesMaster1.xml" Id="R27e31c4f4d8a44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3d541452e742d5" /><Relationship Type="http://schemas.openxmlformats.org/officeDocument/2006/relationships/notesMaster" Target="/ppt/notesMasters/notesMaster1.xml" Id="Re99bb3c9a16344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37f3495e944b0a" /><Relationship Type="http://schemas.openxmlformats.org/officeDocument/2006/relationships/notesMaster" Target="/ppt/notesMasters/notesMaster1.xml" Id="R594cc4f835ee43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a1e447044e4937" /><Relationship Type="http://schemas.openxmlformats.org/officeDocument/2006/relationships/notesMaster" Target="/ppt/notesMasters/notesMaster1.xml" Id="R124e10b627764c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d06c510a2b4ffc" /><Relationship Type="http://schemas.openxmlformats.org/officeDocument/2006/relationships/notesMaster" Target="/ppt/notesMasters/notesMaster1.xml" Id="Rbb53dd9492744a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5c6e6a02b149de" /><Relationship Type="http://schemas.openxmlformats.org/officeDocument/2006/relationships/notesMaster" Target="/ppt/notesMasters/notesMaster1.xml" Id="R1ce49fcfb1c545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935b1ac2fb4b81" /><Relationship Type="http://schemas.openxmlformats.org/officeDocument/2006/relationships/notesMaster" Target="/ppt/notesMasters/notesMaster1.xml" Id="Rbcae0312ac8144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789f2551624415" /><Relationship Type="http://schemas.openxmlformats.org/officeDocument/2006/relationships/notesMaster" Target="/ppt/notesMasters/notesMaster1.xml" Id="R609cc016eeb14c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3aa73a6480474d" /><Relationship Type="http://schemas.openxmlformats.org/officeDocument/2006/relationships/notesMaster" Target="/ppt/notesMasters/notesMaster1.xml" Id="R9858ae3b7a8a47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023d3026de4007" /><Relationship Type="http://schemas.openxmlformats.org/officeDocument/2006/relationships/notesMaster" Target="/ppt/notesMasters/notesMaster1.xml" Id="R36decb35296944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e46b5584e94426" /><Relationship Type="http://schemas.openxmlformats.org/officeDocument/2006/relationships/notesMaster" Target="/ppt/notesMasters/notesMaster1.xml" Id="Rae9fa3c1d59b4f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514f0c4c72420a" /><Relationship Type="http://schemas.openxmlformats.org/officeDocument/2006/relationships/notesMaster" Target="/ppt/notesMasters/notesMaster1.xml" Id="R8bf1b2c5944b45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65f45654294f3a" /><Relationship Type="http://schemas.openxmlformats.org/officeDocument/2006/relationships/notesMaster" Target="/ppt/notesMasters/notesMaster1.xml" Id="R80f65df54d1344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042e28fefd42a5" /><Relationship Type="http://schemas.openxmlformats.org/officeDocument/2006/relationships/notesMaster" Target="/ppt/notesMasters/notesMaster1.xml" Id="R9c81a6b77f294c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a1468fa6a14282" /><Relationship Type="http://schemas.openxmlformats.org/officeDocument/2006/relationships/notesMaster" Target="/ppt/notesMasters/notesMaster1.xml" Id="Re20763eb14af4d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95e8e4606641ff" /><Relationship Type="http://schemas.openxmlformats.org/officeDocument/2006/relationships/notesMaster" Target="/ppt/notesMasters/notesMaster1.xml" Id="R6c2ed467a70a43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36606b6cc7401f" /><Relationship Type="http://schemas.openxmlformats.org/officeDocument/2006/relationships/notesMaster" Target="/ppt/notesMasters/notesMaster1.xml" Id="Ra79c3a51819440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82bd55d72845ed" /><Relationship Type="http://schemas.openxmlformats.org/officeDocument/2006/relationships/notesMaster" Target="/ppt/notesMasters/notesMaster1.xml" Id="R37c1725e144a48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fc2d28ce65a4ceb" /><Relationship Type="http://schemas.openxmlformats.org/officeDocument/2006/relationships/notesMaster" Target="/ppt/notesMasters/notesMaster1.xml" Id="R7fb9efb134d947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5ab619b38040e5" /><Relationship Type="http://schemas.openxmlformats.org/officeDocument/2006/relationships/notesMaster" Target="/ppt/notesMasters/notesMaster1.xml" Id="Ra5bc40353eca421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84cdc792733478f" /><Relationship Type="http://schemas.openxmlformats.org/officeDocument/2006/relationships/notesMaster" Target="/ppt/notesMasters/notesMaster1.xml" Id="Rce1d565f8a7b41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7cc1ee40204ebc" /><Relationship Type="http://schemas.openxmlformats.org/officeDocument/2006/relationships/notesMaster" Target="/ppt/notesMasters/notesMaster1.xml" Id="R6aa2b51b8b00447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c188c5b72d4dc9" /><Relationship Type="http://schemas.openxmlformats.org/officeDocument/2006/relationships/notesMaster" Target="/ppt/notesMasters/notesMaster1.xml" Id="Rc2df2b30108749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3cdb5a648294fc8" /><Relationship Type="http://schemas.openxmlformats.org/officeDocument/2006/relationships/notesMaster" Target="/ppt/notesMasters/notesMaster1.xml" Id="R7bac228d521c4c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a8aeb1ea9745b6" /><Relationship Type="http://schemas.openxmlformats.org/officeDocument/2006/relationships/notesMaster" Target="/ppt/notesMasters/notesMaster1.xml" Id="Ra8ef6404d8184e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019bc9d62f543f8" /><Relationship Type="http://schemas.openxmlformats.org/officeDocument/2006/relationships/notesMaster" Target="/ppt/notesMasters/notesMaster1.xml" Id="R453cc886f8b545a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c8386961b754840" /><Relationship Type="http://schemas.openxmlformats.org/officeDocument/2006/relationships/notesMaster" Target="/ppt/notesMasters/notesMaster1.xml" Id="R6f6e9cd89a544e9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33ef519b1b34333" /><Relationship Type="http://schemas.openxmlformats.org/officeDocument/2006/relationships/notesMaster" Target="/ppt/notesMasters/notesMaster1.xml" Id="R66c55a3462fd43d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74707ad782646d1" /><Relationship Type="http://schemas.openxmlformats.org/officeDocument/2006/relationships/notesMaster" Target="/ppt/notesMasters/notesMaster1.xml" Id="R3ab4af441090489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ad9afc3f404b1d" /><Relationship Type="http://schemas.openxmlformats.org/officeDocument/2006/relationships/notesMaster" Target="/ppt/notesMasters/notesMaster1.xml" Id="Rea026e959e3c46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cc0bf9ebda412d" /><Relationship Type="http://schemas.openxmlformats.org/officeDocument/2006/relationships/notesMaster" Target="/ppt/notesMasters/notesMaster1.xml" Id="R19f867905296488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0a8c3af8ab54983" /><Relationship Type="http://schemas.openxmlformats.org/officeDocument/2006/relationships/notesMaster" Target="/ppt/notesMasters/notesMaster1.xml" Id="R7438974ccf9c4d4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a6465950659440a" /><Relationship Type="http://schemas.openxmlformats.org/officeDocument/2006/relationships/notesMaster" Target="/ppt/notesMasters/notesMaster1.xml" Id="Reca558ed11944b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41c8781a6bb49a6" /><Relationship Type="http://schemas.openxmlformats.org/officeDocument/2006/relationships/notesMaster" Target="/ppt/notesMasters/notesMaster1.xml" Id="R6d567e6630244b7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4d1d2d253cf4c0d" /><Relationship Type="http://schemas.openxmlformats.org/officeDocument/2006/relationships/notesMaster" Target="/ppt/notesMasters/notesMaster1.xml" Id="Rb669c9bef7584e6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cd01f8532074c08" /><Relationship Type="http://schemas.openxmlformats.org/officeDocument/2006/relationships/notesMaster" Target="/ppt/notesMasters/notesMaster1.xml" Id="Re19df3a031f5489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b3ceac1992f4740" /><Relationship Type="http://schemas.openxmlformats.org/officeDocument/2006/relationships/notesMaster" Target="/ppt/notesMasters/notesMaster1.xml" Id="Rae3c8f169fa547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b3a4520dc5440d9" /><Relationship Type="http://schemas.openxmlformats.org/officeDocument/2006/relationships/notesMaster" Target="/ppt/notesMasters/notesMaster1.xml" Id="R774ad3430f3f4c0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357e6801d31459a" /><Relationship Type="http://schemas.openxmlformats.org/officeDocument/2006/relationships/notesMaster" Target="/ppt/notesMasters/notesMaster1.xml" Id="R6324af9cde4d4a7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06b47830b3d49f0" /><Relationship Type="http://schemas.openxmlformats.org/officeDocument/2006/relationships/notesMaster" Target="/ppt/notesMasters/notesMaster1.xml" Id="R76a14f2334d144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4d9f90b4af0443b" /><Relationship Type="http://schemas.openxmlformats.org/officeDocument/2006/relationships/notesMaster" Target="/ppt/notesMasters/notesMaster1.xml" Id="R05b18da853584ed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0c31cfc6c404dfe" /><Relationship Type="http://schemas.openxmlformats.org/officeDocument/2006/relationships/notesMaster" Target="/ppt/notesMasters/notesMaster1.xml" Id="R1a88fa01d11e4b5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8e25e4349474cce" /><Relationship Type="http://schemas.openxmlformats.org/officeDocument/2006/relationships/notesMaster" Target="/ppt/notesMasters/notesMaster1.xml" Id="R463fe874aca74b0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986ef9e94364713" /><Relationship Type="http://schemas.openxmlformats.org/officeDocument/2006/relationships/notesMaster" Target="/ppt/notesMasters/notesMaster1.xml" Id="R4d886d5a667e4ad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cdd1412886e455b" /><Relationship Type="http://schemas.openxmlformats.org/officeDocument/2006/relationships/notesMaster" Target="/ppt/notesMasters/notesMaster1.xml" Id="R4dd45b083dc1450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68bb35018244760" /><Relationship Type="http://schemas.openxmlformats.org/officeDocument/2006/relationships/notesMaster" Target="/ppt/notesMasters/notesMaster1.xml" Id="Rcbddfb7b0dd6427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3f8b5b4cdad4084" /><Relationship Type="http://schemas.openxmlformats.org/officeDocument/2006/relationships/notesMaster" Target="/ppt/notesMasters/notesMaster1.xml" Id="Reec6a8808aed446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fcd51a90b5443d9" /><Relationship Type="http://schemas.openxmlformats.org/officeDocument/2006/relationships/notesMaster" Target="/ppt/notesMasters/notesMaster1.xml" Id="R6d07dca01d664be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7a69bb708804547" /><Relationship Type="http://schemas.openxmlformats.org/officeDocument/2006/relationships/notesMaster" Target="/ppt/notesMasters/notesMaster1.xml" Id="Rd252412d08f1436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c5d26cc6bb647c2" /><Relationship Type="http://schemas.openxmlformats.org/officeDocument/2006/relationships/notesMaster" Target="/ppt/notesMasters/notesMaster1.xml" Id="Ree1a009273b447d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3bb8d1359494b6e" /><Relationship Type="http://schemas.openxmlformats.org/officeDocument/2006/relationships/notesMaster" Target="/ppt/notesMasters/notesMaster1.xml" Id="R93d13cb2c3144f2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36281f1a3d244f6" /><Relationship Type="http://schemas.openxmlformats.org/officeDocument/2006/relationships/notesMaster" Target="/ppt/notesMasters/notesMaster1.xml" Id="Rade7955db00844c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3a85fb789254ca5" /><Relationship Type="http://schemas.openxmlformats.org/officeDocument/2006/relationships/notesMaster" Target="/ppt/notesMasters/notesMaster1.xml" Id="R169f92913c9d4c8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0caf0771aa948d5" /><Relationship Type="http://schemas.openxmlformats.org/officeDocument/2006/relationships/notesMaster" Target="/ppt/notesMasters/notesMaster1.xml" Id="R2f1c3c3c6d9444a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dc510df13364f92" /><Relationship Type="http://schemas.openxmlformats.org/officeDocument/2006/relationships/notesMaster" Target="/ppt/notesMasters/notesMaster1.xml" Id="R3d118cc0887249b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323f3bd2c674502" /><Relationship Type="http://schemas.openxmlformats.org/officeDocument/2006/relationships/notesMaster" Target="/ppt/notesMasters/notesMaster1.xml" Id="R2400f82f36984fe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ba28a1e6ade4d57" /><Relationship Type="http://schemas.openxmlformats.org/officeDocument/2006/relationships/notesMaster" Target="/ppt/notesMasters/notesMaster1.xml" Id="R94b2880a8f394ff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1cd371bdaa9468d" /><Relationship Type="http://schemas.openxmlformats.org/officeDocument/2006/relationships/notesMaster" Target="/ppt/notesMasters/notesMaster1.xml" Id="Rc73c5540c443408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8c38af6e9df479b" /><Relationship Type="http://schemas.openxmlformats.org/officeDocument/2006/relationships/notesMaster" Target="/ppt/notesMasters/notesMaster1.xml" Id="Rfa1cc3a2d09648b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8086046beb24e4f" /><Relationship Type="http://schemas.openxmlformats.org/officeDocument/2006/relationships/notesMaster" Target="/ppt/notesMasters/notesMaster1.xml" Id="R5ade2034823849d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54991b4cda544f8" /><Relationship Type="http://schemas.openxmlformats.org/officeDocument/2006/relationships/notesMaster" Target="/ppt/notesMasters/notesMaster1.xml" Id="Re10f1b0a47a6405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70f4d9031de43c5" /><Relationship Type="http://schemas.openxmlformats.org/officeDocument/2006/relationships/notesMaster" Target="/ppt/notesMasters/notesMaster1.xml" Id="R68f6f419964f41d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e56efd06e5c4388" /><Relationship Type="http://schemas.openxmlformats.org/officeDocument/2006/relationships/notesMaster" Target="/ppt/notesMasters/notesMaster1.xml" Id="R77731970877b447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102cf8d7805463b" /><Relationship Type="http://schemas.openxmlformats.org/officeDocument/2006/relationships/notesMaster" Target="/ppt/notesMasters/notesMaster1.xml" Id="R6831d4ca91844a0a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b45776c0886454b" /><Relationship Type="http://schemas.openxmlformats.org/officeDocument/2006/relationships/notesMaster" Target="/ppt/notesMasters/notesMaster1.xml" Id="Rc83274e26c7047f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1216681bbbb41d7" /><Relationship Type="http://schemas.openxmlformats.org/officeDocument/2006/relationships/notesMaster" Target="/ppt/notesMasters/notesMaster1.xml" Id="Rb71b08ba4ba14c93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eb98399fd4146f4" /><Relationship Type="http://schemas.openxmlformats.org/officeDocument/2006/relationships/notesMaster" Target="/ppt/notesMasters/notesMaster1.xml" Id="R043e8bdff0a74c7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333f9be8ec342f6" /><Relationship Type="http://schemas.openxmlformats.org/officeDocument/2006/relationships/notesMaster" Target="/ppt/notesMasters/notesMaster1.xml" Id="Re41405fd46654ab9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52e64ec929245b2" /><Relationship Type="http://schemas.openxmlformats.org/officeDocument/2006/relationships/notesMaster" Target="/ppt/notesMasters/notesMaster1.xml" Id="R40341c651b6e46a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059125341424d2a" /><Relationship Type="http://schemas.openxmlformats.org/officeDocument/2006/relationships/notesMaster" Target="/ppt/notesMasters/notesMaster1.xml" Id="R74280773f3f44770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8a87ec849bd44604" /><Relationship Type="http://schemas.openxmlformats.org/officeDocument/2006/relationships/notesMaster" Target="/ppt/notesMasters/notesMaster1.xml" Id="Rbfc840d96d5940ad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86e1acc8d5d74754" /><Relationship Type="http://schemas.openxmlformats.org/officeDocument/2006/relationships/notesMaster" Target="/ppt/notesMasters/notesMaster1.xml" Id="Rfd77df428e384f7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a51c38cbeee4c39" /><Relationship Type="http://schemas.openxmlformats.org/officeDocument/2006/relationships/notesMaster" Target="/ppt/notesMasters/notesMaster1.xml" Id="R652f21bf415e49b0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9f8d98b8a4e4239" /><Relationship Type="http://schemas.openxmlformats.org/officeDocument/2006/relationships/notesMaster" Target="/ppt/notesMasters/notesMaster1.xml" Id="R89d3652a6c89405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f5f79edbb18409e" /><Relationship Type="http://schemas.openxmlformats.org/officeDocument/2006/relationships/notesMaster" Target="/ppt/notesMasters/notesMaster1.xml" Id="R646dff352bc0478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fa64e647cb44488" /><Relationship Type="http://schemas.openxmlformats.org/officeDocument/2006/relationships/notesMaster" Target="/ppt/notesMasters/notesMaster1.xml" Id="R5cbb111125d24ab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f519e83b2b04880" /><Relationship Type="http://schemas.openxmlformats.org/officeDocument/2006/relationships/notesMaster" Target="/ppt/notesMasters/notesMaster1.xml" Id="R542dd36169594556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a648e9a565dc4c5b" /><Relationship Type="http://schemas.openxmlformats.org/officeDocument/2006/relationships/notesMaster" Target="/ppt/notesMasters/notesMaster1.xml" Id="Rc48625f80c03485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75f4127ec2974aca" /><Relationship Type="http://schemas.openxmlformats.org/officeDocument/2006/relationships/notesMaster" Target="/ppt/notesMasters/notesMaster1.xml" Id="R9adf633aeab745e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d6562fe73cb4d75" /><Relationship Type="http://schemas.openxmlformats.org/officeDocument/2006/relationships/notesMaster" Target="/ppt/notesMasters/notesMaster1.xml" Id="Rd7c35d19b3a84a7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917b840695ab43fa" /><Relationship Type="http://schemas.openxmlformats.org/officeDocument/2006/relationships/notesMaster" Target="/ppt/notesMasters/notesMaster1.xml" Id="Rec4630b4c8534941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d9e12f6410044f35" /><Relationship Type="http://schemas.openxmlformats.org/officeDocument/2006/relationships/notesMaster" Target="/ppt/notesMasters/notesMaster1.xml" Id="R87ed392a1354494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c723670273ad4875" /><Relationship Type="http://schemas.openxmlformats.org/officeDocument/2006/relationships/notesMaster" Target="/ppt/notesMasters/notesMaster1.xml" Id="Rc4aba0718ab94035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556cbb2fcd545ee" /><Relationship Type="http://schemas.openxmlformats.org/officeDocument/2006/relationships/notesMaster" Target="/ppt/notesMasters/notesMaster1.xml" Id="R5867ef99eb854dc2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e1dfdb407cc0454f" /><Relationship Type="http://schemas.openxmlformats.org/officeDocument/2006/relationships/notesMaster" Target="/ppt/notesMasters/notesMaster1.xml" Id="Rd2b2c7446a7d414b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51e867a10ba4a79" /><Relationship Type="http://schemas.openxmlformats.org/officeDocument/2006/relationships/notesMaster" Target="/ppt/notesMasters/notesMaster1.xml" Id="R7742bc7d25f6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面向希望理解、讨论和落地该系统的用户、产品与技术合作者。4.0是人生整体管理架构，3.0是保留在内部的单次决策引擎版本。当前成果是Skill、协议、模板和核算工具；尚不能据此宣称持续采集、后台调度与商业软件已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可以顺序阅读，也可以凭页脚章节定位。每个领域和每个能力模块都单独展开，讲者备注补充输入、方法与边界。本演示中的资源数字均为明确标注的合成例子，不代表用户的实际预算、行为或能力。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这是一条设计出发点，而非关于所有人的统计结论。系统把用户当前目标和承诺纳入共同视野，避免每个建议孤立地增加任务。总控既可建议新增行动，也可建议缩减、延期或暂不调整。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“有依据”不等于绝对正确，“能落实”不等于已经执行，“有反馈”不等于改善一定由系统引起。这三项分别需要证据记录、行动记录和结果观察支持。系统维护的是可以检查和修正的工作方式。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钱学森相关原文为《再谈开放的复杂巨系统》高校转载。现代状态空间、可观测性等概念参考MIT课程资料，不能全归于某一篇钱学森文章。九领域分类、八阶段流程和总控运行规则是本项目的应用设计；不宣称该理论证明了人生可控或最优。1954年《工程控制论》未在本轮通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https://sass.usst.edu.cn/2021/1102/c12541a258347/page.htm</a:t>
            </a:r>
          </a:p>
          <a:p xmlns:a="http://schemas.openxmlformats.org/drawingml/2006/main">
            <a:r>
              <a:t>- https://www.nasa.gov/reference/2-0-fundamentals-of-systems-engineering/</a:t>
            </a:r>
          </a:p>
          <a:p xmlns:a="http://schemas.openxmlformats.org/drawingml/2006/main">
            <a:r>
              <a:t>- https://ocw.mit.edu/courses/6-241j-dynamic-systems-and-control-spring-2011/pages/readings/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系统工程对整体性、接口及验证/确认的区分提供了参考。这里把它们转成人生管理中的责任与影响记录。这种迁移是设计判断，不是NASA对产品效果的认可；也无需照搬大型工程的完整审批流程。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https://www.nasa.gov/reference/2-0-fundamentals-of-systems-engineering/</a:t>
            </a:r>
          </a:p>
          <a:p xmlns:a="http://schemas.openxmlformats.org/drawingml/2006/main">
            <a:r>
              <a:t>- https://www.nasa.gov/reference/6-0-crosscutting-technical-management/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内是本系统用于说明观察边界的例子，不是诊断工具。观测指标有覆盖范围、更新时间和误差；没有记录时应保留未知。控制理论中的可观测性有明确模型条件，我们没有为真实人生建立满足这些条件的数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https://ocw.mit.edu/courses/6-241j-dynamic-systems-and-control-spring-2011/pages/readings/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反馈并不自动带来稳定。现代控制理论讨论稳定性时需要模型和适用条件；本系统只借鉴关注延迟与调整力度的原则。实际等待时长、停止条件和调整上限应由具体任务的证据与用户条件决定，不设万能数值。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https://ocw.mit.edu/courses/6-241j-dynamic-systems-and-control-spring-2011/pages/readings/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图中的箭头表示输入、派工和反馈关系，不能理解为AI控制人的意愿。复核与记录横贯全流程。领域与能力模块按需启动，不是要求同时运行32个常驻代理。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一个领域会调用多个能力，一个能力也会在多个领域和阶段使用。例如学习领域D05可以在S2调用检索，在S4调用运筹，在S8调用因果分析。总控的8项职能不是新增8个AI角色。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目标、愿望、承诺和允许动作应分别记录。用户选择收入更重要或自由时间更重要，是价值取舍，不由统计模型直接推导。其他人保留自主意愿，关系中的配合必须通过沟通与协商确认。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全局快照不是整个人生的完整数字复制。它是服务当前问题的有限信息集合，应显示未覆盖内容。用户不需要一开始提供全部领域数据，缺失值也不能默认填零。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影响箭头需要标明是已知关系、用户陈述还是机制假设。资源核算要统一单位与周期；即使总小时数不超标，具体日历时段仍可能冲突。精力和情绪宜作为状态与边界处理，不能随意折成资金分值。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简单可逆的事情可以压缩分析；重大或难以撤回的选择需要更完整的证据和复核。在用户已授权范围内继续工作，不重复索要确认。超出范围的行为不能从建议或状态字段中推导出许可。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用户纠正事实后，应保留更正关系而不是抹掉原判断。数据更新不意味着全部研究重做，总控只重核受到影响的部分。判断质量、执行质量和结果好坏分别讨论，避免仅用最终成败解释一切。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公式仅用于能够同口径核算的资源，例如某一周的可用小时。它不能证明方案值得做，也不能代替对日历时段、法律或健康限制的具体检查。已经支出的费用、耗用时间和未解除义务不能因项目停止而消失。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多领域价值不必强行相加成一个收益数字。这一页只展示资源去重原则，不判断某份作品的市场价值。作品是否能用于求职，需要具体岗位要求或反馈支持。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例如一次家庭照护事项可由D03主责，D01提供身体照护相关信息，D06负责支出影响，D07负责居住与交通安排。各领域提交影响，但不能各自承诺同一份资源或重复执行同一个动作。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这是为了便于维护生活结果而提出的可调整分类，不是自然科学证明的唯一人生分类。生活结果可以跨领域产生影响，但执行与资源记录仍需统一。下面逐个展开每个领域的观察、行动、协作和边界。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领域维护的是实际身体功能与照护连续性，而不是追求更多指标。数据可以来自用户陈述、明确提供的记录或已授权来源；睡眠时长等只作为观测，不能直接推出疾病。比较方案时，要同时记录时间、费用、支持需求与结果延迟，承认未知并给出停止条件。医疗判断需要当前专业依据。例子是合成场景，不代表用户有健康问题。建议、用户选择与实际执行仍需分别记录。</a:t>
            </a:r>
          </a:p>
          <a:p xmlns:a="http://schemas.openxmlformats.org/drawingml/2006/main">
            <a:r>
              <a:t>设计来源：D01-身体健康与恢复.md；人生领域协议.md；人生总控架构.md；模块清单.json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本项目设计文件：D01-身体健康与恢复.md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心理状态允许保留叙述、矛盾和不确定，不必为每一种体验设置数字。方案应区分用户能改变的行动、需要环境调整的条件以及需要他人自主配合的部分。出现偏差时，先查记录、负荷和外部变化，不以“意志力不足”解释一切。身体、关系和工作反馈需要总控协调。合成例子只说明核对顺序，不构成对任何人的诊断。建议、用户选择与实际执行仍需分别记录。</a:t>
            </a:r>
          </a:p>
          <a:p xmlns:a="http://schemas.openxmlformats.org/drawingml/2006/main">
            <a:r>
              <a:t>设计来源：D02-心理状态与自我调节.md；人生领域协议.md；人生总控架构.md；模块清单.json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本项目设计文件：D02-心理状态与自我调节.md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与照护不是可由总控单方面优化的对象。系统可以帮助整理约定、沟通草稿和资源需求，却不能替他人承诺、揣测真实感受或把沉默当同意。跨域事项设置一个主责领域和唯一行动编号：照护主责在D03，医疗、费用和环境分别补充影响。遇到时间冲突须交总控协调，不能自动删去家庭承诺。反馈应来自自愿沟通。建议、用户选择与实际执行仍需分别记录。</a:t>
            </a:r>
          </a:p>
          <a:p xmlns:a="http://schemas.openxmlformats.org/drawingml/2006/main">
            <a:r>
              <a:t>设计来源：D03-关系家庭与照护.md；人生领域协议.md；人生总控架构.md；模块清单.json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本项目设计文件：D03-关系家庭与照护.md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领域先问创造了什么价值、谁验证交付以及工作是否能持续，而非只看忙碌和收入。经济、组织与劳动关系模块提供不同观察角度，不由某一理论直接决定个人取舍。职业行动要与能力形成、资金安排和已有承诺对齐，并保留不承接、试行和缩减等备选。预测收入不能作为已到账现金；项目完成也不自动证明职业适配改善。建议、用户选择与实际执行仍需分别记录。</a:t>
            </a:r>
          </a:p>
          <a:p xmlns:a="http://schemas.openxmlformats.org/drawingml/2006/main">
            <a:r>
              <a:t>设计来源：D04-职业劳动与价值创造.md；人生领域协议.md；人生总控架构.md；模块清单.json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本项目设计文件：D04-职业劳动与价值创造.md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成果应与用户实际目标对应：理解、技能保持和跨情境使用可以采用不同证据。课程观看、打卡和自信感提供投入信息，却不足以证明掌握。缺少作品记录不等于没有学习，主动服务必须先核实。练习和实验要占用真实预算，并检查反馈是否足够成熟。若创作只是出于享受，则可归D09维护，不强迫它证明职业回报。建议、用户选择与实际执行仍需分别记录。</a:t>
            </a:r>
          </a:p>
          <a:p xmlns:a="http://schemas.openxmlformats.org/drawingml/2006/main">
            <a:r>
              <a:t>设计来源：D05-学习能力与探索.md；人生领域协议.md；人生总控架构.md；模块清单.json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本项目设计文件：D05-学习能力与探索.md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财务为所有领域提供统一资金约束，但不代替用户判断各领域价值。固定义务、唯一行动需求和明确保留量要在同一周期与币种下比较，互斥方案分别核算。不能用一个财务分数抵消照护、健康或法律底线。合成例子突出预测和到账的区别，不涉及具体投资建议。任何交易都需要真实授权与工具能力，生成建议并不代表成交。建议、用户选择与实际执行仍需分别记录。</a:t>
            </a:r>
          </a:p>
          <a:p xmlns:a="http://schemas.openxmlformats.org/drawingml/2006/main">
            <a:r>
              <a:t>设计来源：D06-财务资产与保障.md；人生领域协议.md；人生总控架构.md；模块清单.json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本项目设计文件：D06-财务资产与保障.md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设施包含物理环境、行政事务与数字资料，不只是家务清单。任务是否有用，要看它能否恢复可用性、避免中断或减少重复劳动。具体行动需核对前置材料、时间窗口、费用和权限。自动化只在能力可验证且已有授权内配置，不能以便利为理由扩大采集。维护成本也是负担，必要时应简化工具和记录，而不是不断增加应用。建议、用户选择与实际执行仍需分别记录。</a:t>
            </a:r>
          </a:p>
          <a:p xmlns:a="http://schemas.openxmlformats.org/drawingml/2006/main">
            <a:r>
              <a:t>设计来源：D07-居住日常与基础设施.md；人生领域协议.md；人生总控架构.md；模块清单.json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本项目设计文件：D07-居住日常与基础设施.md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领域维护超出私人关系的共同责任，但不要求每个人都同时承担大量公共项目。参与应出于用户认可，并尊重受影响者自主性。判断贡献需要实际影响和反馈，不能把社交曝光、报名或出席直接等同于结果。D06是根据统一资金规则补充的跨域接口。建议必须检查已有责任、资金和时间，机会出现时仍保留暂不参与的方案。建议、用户选择与实际执行仍需分别记录。</a:t>
            </a:r>
          </a:p>
          <a:p xmlns:a="http://schemas.openxmlformats.org/drawingml/2006/main">
            <a:r>
              <a:t>设计来源：D08-社群公共参与与生态责任.md；人生领域协议.md；人生总控架构.md；模块清单.json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本项目设计文件：D08-社群公共参与与生态责任.md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休闲是人生结果的一部分，不能仅被当作工作恢复工具。用户可以选择创作、玩乐、旅行或什么也不安排，也可以用自己的语言反馈体验。与亲友同行时，其他人的意愿须通过协商确认。一次旅行即使同时改善关系和体验，费用与时间也只记一次。D06是共同资源规则的补充接口。例子中释放的时间不是系统自动新增任务的授权。建议、用户选择与实际执行仍需分别记录。</a:t>
            </a:r>
          </a:p>
          <a:p xmlns:a="http://schemas.openxmlformats.org/drawingml/2006/main">
            <a:r>
              <a:t>设计来源：D09-休闲审美与生命体验.md；人生领域协议.md；人生总控架构.md；模块清单.json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本项目设计文件：D09-休闲审美与生命体验.md</a:t>
            </a:r>
          </a:p>
          <a:p xmlns:a="http://schemas.openxmlformats.org/drawingml/2006/main">
            <a:r>
              <a:t>- 本项目设计文件：人生领域协议.md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- 本项目设计文件：模块清单.json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这个例子不预设工作或家庭永远优先。总控先弄清事实、不可变条件和真实替代方案，再呈现用户要承担的代价。关系中的另一方不是可以被模型随意控制的变量。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流程不是强制单向流水线。缺事实返回S2，方案不可行返回S3，目标改变返回S1。后续页把每一步的输入、方法、产物和回退讲清楚。所有阶段都接受目标、证据、伦理与资源检查。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合成示例：不是泛问“学什么”，而是“在既定时间内，怎样完成一份能验证能力的作品”。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日历计划只能说明安排，不能自动证明做过。模型抽取的金额、日期和承诺是候选记录，重要字段需要核对。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真实备选需要能够采取且有意义。不能用明显差的方案陪衬预设答案；也不能把行业标签直接当作具体行动。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概率可靠时可用期望效用或决策树；概率不可靠时改用情景、区间与反转条件。任何计算都要保留单位和实际输入。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R01检查的是证据和推理，而不是投票背书。多个模型引用同一材料只是一份证据，模型间一致不能替代专业核验。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建议的证据状态与用户是否愿意选择是两回事。用户愿意尝试，不会自动提高证据质量；用户暂缓后，应尊重其实际状态。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授权要绑定具体内容，不能用一个“已同意”布尔值概括无限范围。没有操作记录时应写执行情况未知，不能默认已经开始或完成。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前后变化不能直接证明因果。没有实际执行，或观察窗口尚未覆盖效果延迟时，先核实与等待；不要把沉默或缺失记录解释为失败。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方法选择本身也是判断。计算越复杂不代表越可信；如果输入是猜测，精确计算只会让猜测显得准确。没有概率依据时，呈现清楚的条件分析往往更合适。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用户已经决定不能消除证据缺口，建议已被查看不能证明用户接受，用户接受也不能证明行动完成。三个字段都需要自己的来源与时间。记录的状态只是描述，不会自动创造工具授权。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合成示例：原方案只需2小时，修改后变成10小时，即使ID未变，也不能沿用旧的资源结论。内容指纹用于发现变化，但指纹匹配或更新本身不能证明人或模型实际完成了重核。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等待也有成本。不能把证据尚不完美变成无限研究的理由，也不能为了结束研究而虚构确定性。停止补证可以与保留未知同时发生。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基础数学主要归数量知识，调查研究与实践主要归决策方法。伦理价值贯穿全流程。下面每个模块都讲知识范围、实际输入、方法产物、一个合成示例和常见误用，避免只列学科名称。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先问：我们究竟在判断哪一句话？把“这个方向很好”拆成对谁、在什么时间、用什么标准算好，才能寻找证据。复核时不只检查支持材料，还要找最强反例，并写清会改变判断的观察。页中三位转行者是合成案例，不是对真实市场的调查。验收应看证据对应和未知处理，而不是是否说出了逻辑术语。日常小事可压缩，重要判断则保留可追溯记录。</a:t>
            </a:r>
          </a:p>
          <a:p xmlns:a="http://schemas.openxmlformats.org/drawingml/2006/main">
            <a:r>
              <a:t>设计来源：M01-逻辑与科学方法.md；方法总览.md；能力范围.md；模块路由.md；决策引擎.md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本项目设计文件：M01-逻辑与科学方法.md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学的首要价值是避免口径混乱。例如增长百分比与百分点不同，平均投入与新增一小时的收益也不同。先定义变量再计算，比立即套公式更可靠。复杂模型只有在现实关系和参数有依据时才有意义。本页算式只是合成计划中的乘法，不证明学习效果，更不是用户承诺。基础数学在引擎中主要归入知识资源，也随时支持统计、优化和反馈分析。</a:t>
            </a:r>
          </a:p>
          <a:p xmlns:a="http://schemas.openxmlformats.org/drawingml/2006/main">
            <a:r>
              <a:t>设计来源：M02-基础数学.md；方法总览.md；能力范围.md；模块路由.md；决策引擎.md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本项目设计文件：M02-基础数学.md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始统计前，应先追问数据怎样进入样本。选择偏差不会因公式更复杂而消失。结果应同时说明差异大小、不确定性和适用人群；没有显著差异也不等于效果不存在。若做预测，还要保留未参与设计的数据，并与简单基线比较。合成问卷例子突出样本边界，不提供任何真实调查结论。验收是可复算的分析及假设检查，不是只展示一个百分比或显著性符号。</a:t>
            </a:r>
          </a:p>
          <a:p xmlns:a="http://schemas.openxmlformats.org/drawingml/2006/main">
            <a:r>
              <a:t>设计来源：M03-概率与统计.md；方法总览.md；能力范围.md；模块路由.md；决策引擎.md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本项目设计文件：M03-概率与统计.md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果问题应写成：对哪些人，实施什么，与什么比较，在多久内改变什么。实验不是随意尝试，主要指标与观察期最好事先确定。不能随机分配时，需要说明观察研究依赖的假设及无法排除的混杂。合成学习例子只展示需要排查的解释，并未做实验。个人低风险试行可以帮助学习，但仍可能受到时间趋势和熟练效应影响；证据不足时保留关联表述。</a:t>
            </a:r>
          </a:p>
          <a:p xmlns:a="http://schemas.openxmlformats.org/drawingml/2006/main">
            <a:r>
              <a:t>设计来源：M04-因果推断与实验.md；方法总览.md；能力范围.md；模块路由.md；决策引擎.md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本项目设计文件：M04-因果推断与实验.md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的任务是把选择展开，而不是替用户决定人生目标。真实备选应有进入条件、资源需求和退出方式，必要时包括暂缓及小规模试行。概率没有依据，就用情景和反转条件，不为了完成表格填一个成功率。合成案例没有规定用户必须保留多少现金，仅说明硬约束优先于收益评分。最后还要区分证据支持的建议、用户实际选择，以及是否开始执行。</a:t>
            </a:r>
          </a:p>
          <a:p xmlns:a="http://schemas.openxmlformats.org/drawingml/2006/main">
            <a:r>
              <a:t>设计来源：M05-决策理论.md；方法总览.md；能力范围.md；模块路由.md；决策引擎.md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本项目设计文件：M05-决策理论.md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分配先判断有没有可行安排，再谈优劣。时间相加不够，还应检查任务依赖、真实可用时段和恢复需求。若只是按经验排列任务，应明确它是启发式安排；只有满足模型条件并实际求解，才能准确说明求解状态。合成周末例子只证明总时长冲突，不能代替日历排程。跨领域行动由总控统一核算，避免学习、工作和健康各自重复占用同一段时间。</a:t>
            </a:r>
          </a:p>
          <a:p xmlns:a="http://schemas.openxmlformats.org/drawingml/2006/main">
            <a:r>
              <a:t>设计来源：M06-运筹与资源配置.md；方法总览.md；能力范围.md；模块路由.md；决策引擎.md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本项目设计文件：M06-运筹与资源配置.md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计算自己的行动成本，容易漏掉对方会调整行为这一点。本模块先把已知利益与未经确认的动机分开，再提出几种合理回应。承诺应检查可执行性，合作破裂也应有备选路径。合成付款案例只是可讨论的机制，不表示已形成合同，也不能保证合作成功。均衡是特定假设下的分析概念，不能直接充当现实预测。实际方案仍应尊重自主选择，以诚实沟通核对关键条件。</a:t>
            </a:r>
          </a:p>
          <a:p xmlns:a="http://schemas.openxmlformats.org/drawingml/2006/main">
            <a:r>
              <a:t>设计来源：M07-博弈与合作.md；方法总览.md；能力范围.md；模块路由.md；决策引擎.md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本项目设计文件：M07-博弈与合作.md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析经济问题时，先明确对象和口径。名义收入增长不一定等于购买力改善，销量也不等于利润。微观部分解释边际变化、交易成本和参与者激励；宏观部分用于构造有来源的外部情景，不能把周期当精确时钟。合成课程案例说明应计算完整成本，而非给出购买建议。现实时点的岗位、市场和产品信息必须另外核实，并与制度或其他解释比较。</a:t>
            </a:r>
          </a:p>
          <a:p xmlns:a="http://schemas.openxmlformats.org/drawingml/2006/main">
            <a:r>
              <a:t>设计来源：M08-微观与宏观经济.md；方法总览.md；能力范围.md；模块路由.md；决策引擎.md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本项目设计文件：M08-微观与宏观经济.md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视角帮助看见个体选择背后的资源与权力关系，但应从具体材料出发。投入、控制、风险和收益未必由同一方承担，需要逐项记录。使用经典概念时保留原文语境，区分解释事实与评价是否公平，并与微观激励和制度分析进行比较。合成合作例子不预设哪一安排更好，也不推断任何人的政治立场。能力验收应看理论如何连接证据，以及哪些反例仍未解释。</a:t>
            </a:r>
          </a:p>
          <a:p xmlns:a="http://schemas.openxmlformats.org/drawingml/2006/main">
            <a:r>
              <a:t>设计来源：M09-马克思主义政治经济学.md；方法总览.md；能力范围.md；模块路由.md；决策引擎.md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本项目设计文件：M09-马克思主义政治经济学.md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用户说自己不自律，先找具体事件，而不是立即贴人格标签。同一种拖延可能来自疲劳、目标模糊、冲突或环境诱因，需要保留竞争解释。页中行为调整只是合成试行，没有声称找到原因或取得改善。观察时看一段时间的实际记录，并检查代价和可持续性。心理概念并非适用于每个人的定律；持续显著困扰或功能受损，需要将专业评估纳入下一步。</a:t>
            </a:r>
          </a:p>
          <a:p xmlns:a="http://schemas.openxmlformats.org/drawingml/2006/main">
            <a:r>
              <a:t>设计来源：M10-心理与行为.md；方法总览.md；能力范围.md；模块路由.md；决策引擎.md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本项目设计文件：M10-心理与行为.md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问题常发生在层次之间：个人想推进，流程却要求别人批准；正式规定与实际习惯也可能不同。分析应列出谁能决定、谁提供资源、谁承担责任，以及信息在哪里中断。合成审批例子只提出调查方向，并未确认原因。改进需处于用户权限内，写清参与者与程序。政治制度描述、法律效力和价值判断应分别表达，不能用一种层面的结论代替另一种。</a:t>
            </a:r>
          </a:p>
          <a:p xmlns:a="http://schemas.openxmlformats.org/drawingml/2006/main">
            <a:r>
              <a:t>设计来源：M11-社会制度与组织.md；方法总览.md；能力范围.md；模块路由.md；决策引擎.md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本项目设计文件：M11-社会制度与组织.md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分析的价值在于解释条件如何积累，而不只是寻找一句支持当下选择的故事。同一事件需要区分当事记录、后来的研究与今天的转述。使用类比时，应把共同机制和关键差异同时摆出，并寻找不符合预期的案例。合成技术转型例子不指向具体历史结论。资料可能残缺，解释也可能有争议；周期论述须注明证据和范围，不能用来预测确定时间点。</a:t>
            </a:r>
          </a:p>
          <a:p xmlns:a="http://schemas.openxmlformats.org/drawingml/2006/main">
            <a:r>
              <a:t>设计来源：M12-历史与思想史.md；方法总览.md；能力范围.md；模块路由.md；决策引擎.md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本项目设计文件：M12-历史与思想史.md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模块在现有引擎中归入决策方法，重点是具体问题、调查材料和实践检验。调查不能只听方便接触或支持既有结论的人，应记录漏掉了谁。选择阶段重点时，解释为何先处理这一问题，同时保留其他底线。合成团队例子没有认定瓶颈，真正调查后才可提出有依据的试行。历史思想需保持原文语境并结合现代证据方法；条件变化后，应重新判断重点并保留修正理由。</a:t>
            </a:r>
          </a:p>
          <a:p xmlns:a="http://schemas.openxmlformats.org/drawingml/2006/main">
            <a:r>
              <a:t>设计来源：M13-调查研究与实践.md；方法总览.md；能力范围.md；模块路由.md；决策引擎.md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本项目设计文件：M13-调查研究与实践.md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区分看不见的真实状态与可记录的代理指标：投入时长正常，能力或恢复状态仍可能下降。关系箭头要标证据或假设；只有结构、参数和检验资料充足时才建立数值模型。采集数据可以频繁，改变策略却应考虑延迟和累积投入。合成学习例子不提供健康因果结论。钱学森原文、现代控制知识和本项目应用应分别标识，不能把数学定理直接套在人生上；总控仍由主协调者承担。</a:t>
            </a:r>
          </a:p>
          <a:p xmlns:a="http://schemas.openxmlformats.org/drawingml/2006/main">
            <a:r>
              <a:t>设计来源：M14-系统与控制.md；方法总览.md；能力范围.md；模块路由.md；决策引擎.md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本项目设计文件：M14-系统与控制.md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工作首先是理解字段，而不是选软件。相同名称可能表示不同口径，同一交易也可能被重复记录。应保留原始材料，使清洗与转换可追溯，再用样本核对和总额勾稽检查结果。合成账表示例没有读取用户财务资料，只示范缺失值处理。图表需写清单位、分母和范围；备份有实际恢复路径才有用。工具执行成功是技术状态，不是数据真实或结论正确的证明。</a:t>
            </a:r>
          </a:p>
          <a:p xmlns:a="http://schemas.openxmlformats.org/drawingml/2006/main">
            <a:r>
              <a:t>设计来源：M15-计算机数据与安全.md；方法总览.md；能力范围.md；模块路由.md；决策引擎.md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本项目设计文件：M15-计算机数据与安全.md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化应从明确的输入、输出和失败成本开始。先与人工规则或简单办法比较，才能知道AI是否真正节省成本并保持质量。测试材料应覆盖实际任务中的难例，而且不能全部参与过提示设计。合成会议任务例子只是评价方案，不代表已连接会议工具或启用后台任务。多个相似模型的意见不能替代独立证据。运行后要记录真实结果、失败处理与修订，授权范围也必须落实到具体动作。</a:t>
            </a:r>
          </a:p>
          <a:p xmlns:a="http://schemas.openxmlformats.org/drawingml/2006/main">
            <a:r>
              <a:t>设计来源：M16-人工智能与自动化.md；方法总览.md；能力范围.md；模块路由.md；决策引擎.md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本项目设计文件：M16-人工智能与自动化.md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沟通先明确听众要作出的判断或行动，再选择一句话、一页纸或完整报告。谈判时要区分立场和背后的利益，未知动机应通过提问核对。合成排班例子展示表达结构，并不意味着对方已答应或用户授权发送。验收除了稿件本身，还要看事实与意见是否区分、请求是否具体，以及责任和后续是否明确。说服应建立在诚实与自主选择上，不编造背书、经历或对方认可。</a:t>
            </a:r>
          </a:p>
          <a:p xmlns:a="http://schemas.openxmlformats.org/drawingml/2006/main">
            <a:r>
              <a:t>设计来源：M17-表达沟通与谈判.md；方法总览.md；能力范围.md；模块路由.md；决策引擎.md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本项目设计文件：M17-表达沟通与谈判.md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要能看见成果，而不只是看见任务列表。每项重要行动应说明谁负责、依赖什么、怎样验收和遇到阻碍如何处理。反馈频率使用最低必要水平，避免维护系统反而消耗大量资源。合成SQL例子仅示范如何定义产物，不保证一份报告就代表全面掌握能力。复盘要分开计划假设、执行偏差和外部变化，下一轮把改进落实到具体动作，同时保留休息与恢复所需空间。</a:t>
            </a:r>
          </a:p>
          <a:p xmlns:a="http://schemas.openxmlformats.org/drawingml/2006/main">
            <a:r>
              <a:t>设计来源：M18-管理与执行.md；方法总览.md；能力范围.md；模块路由.md；决策引擎.md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本项目设计文件：M18-管理与执行.md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财务首先支持生活责任与选择空间。净资产为正也可能出现短期现金不足，因此要区分收入、利润、现金流与资产。合成停工进修例子没有给出投资建议或确定预算，只说明应做何种压力情景。具体方案应比较总费用、用款期限、流动性和承受不起的损失。真实产品、税务和法律条件需按地区与日期另外核实；历史收益不能保证未来，也不应收集完整账户凭证。</a:t>
            </a:r>
          </a:p>
          <a:p xmlns:a="http://schemas.openxmlformats.org/drawingml/2006/main">
            <a:r>
              <a:t>设计来源：M19-个人财务.md；方法总览.md；能力范围.md；模块路由.md；决策引擎.md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本项目设计文件：M19-个人财务.md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律问题常被事实细节、地区和时间改变。分析应先分清实际发生的事件、各方主张与未知，再核对现行官方资料的效力和适用范围。页中合同例子只是资料整理步骤，没有审核任何真实合同，也不保证条款有效。关键程序期限不能被一般讨论淹没。重大争议、复杂适用或不可逆行动，应明确需要专业核实的具体问题；掌握法律概念不等于获得执业资格或完成个案判断。</a:t>
            </a:r>
          </a:p>
          <a:p xmlns:a="http://schemas.openxmlformats.org/drawingml/2006/main">
            <a:r>
              <a:t>设计来源：M20-法律基础.md；方法总览.md；能力范围.md；模块路由.md；决策引擎.md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本项目设计文件：M20-法律基础.md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健康模块既服务健康领域，也帮助其他领域检查计划是否可持续。先确定问题属于一般生活安排，还是症状、疾病或治疗；明显紧急线索需要及时处理。合成学习例子只强调资源和身体负担的联动，没有给出特定治疗或运动处方。实际调整应结合医嘱与活动限制，并使用当时适用的权威指南。验收要看到证据支持范围、具体行动、观察窗口和停止条件，而非只有笼统的健康口号。</a:t>
            </a:r>
          </a:p>
          <a:p xmlns:a="http://schemas.openxmlformats.org/drawingml/2006/main">
            <a:r>
              <a:t>设计来源：M21-健康基础.md；方法总览.md；能力范围.md；模块路由.md；决策引擎.md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本项目设计文件：M21-健康基础.md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语在这里首先是获取一手知识的工具，不以口音作为核心目标。检索应从具体问题拆出关键词和限定条件，读取后特别核对否定、条件和概率措辞。合成软件例子不声称查阅了某份文档。实际来源应记录作者机构、日期版本及访问深度：只见摘要就明确写摘要，打不开就保留访问状态。官方来源也可能只支持有限范围；遇到关键歧义，需要返回上下文核对，不能用流畅翻译掩盖未知。</a:t>
            </a:r>
          </a:p>
          <a:p xmlns:a="http://schemas.openxmlformats.org/drawingml/2006/main">
            <a:r>
              <a:t>设计来源：M22-英语与原始资料检索.md；方法总览.md；能力范围.md；模块路由.md；决策引擎.md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本项目设计文件：M22-英语与原始资料检索.md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最后补上的装饰性检查。定义目标时就要确认谁受益、谁承担代价，以及自主、尊严和责任是否受影响。文学艺术帮助理解经验与多种立场，但作品分析不能充当现实心理规律的证据。合成高薪案例没有预设家庭责任必须压倒职业成长，只呈现必须由用户作出的取舍。效率之外的价值不应被无声折算成统一总分；AI可以帮助表达冲突，却不能冒充亲身经验或替用户决定何种人生值得过。</a:t>
            </a:r>
          </a:p>
          <a:p xmlns:a="http://schemas.openxmlformats.org/drawingml/2006/main">
            <a:r>
              <a:t>设计来源：M23-文学艺术与伦理.md；方法总览.md；能力范围.md；模块路由.md；决策引擎.md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本项目设计文件：M23-文学艺术与伦理.md</a:t>
            </a:r>
          </a:p>
          <a:p xmlns:a="http://schemas.openxmlformats.org/drawingml/2006/main">
            <a:r>
              <a:t>- 本项目设计文件：方法总览.md</a:t>
            </a:r>
          </a:p>
          <a:p xmlns:a="http://schemas.openxmlformats.org/drawingml/2006/main">
            <a:r>
              <a:t>- 本项目设计文件：能力范围.md</a:t>
            </a:r>
          </a:p>
          <a:p xmlns:a="http://schemas.openxmlformats.org/drawingml/2006/main">
            <a:r>
              <a:t>- 本项目设计文件：模块路由.md</a:t>
            </a:r>
          </a:p>
          <a:p xmlns:a="http://schemas.openxmlformats.org/drawingml/2006/main">
            <a:r>
              <a:t>- 本项目设计文件：决策引擎.md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表中是常见调用顺序，并非学科与阶段的一一绑定。比如法律或健康知识可能从S1设约束时就出现；信息检索也可能在复核中再次发生。判断调用是否必要，要看当前产物缺什么。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知识是支撑阶段产物的工具，不能只因写了某学科名称就认定已经使用方法。比如“用了统计”需要说明实际样本、估计、检验及限制；“用了系统分析”需要说清边界、资源、影响与反馈。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合成例子：来源核验与独立预算复算可以并行；基于核实预算做最终比较需要等待前面的产物。模块并非永久注册的后台人格，实际派工记录真实任务ID；直接完成则标不适用，并保存实际产物。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只向模块传入必要个人信息，模块不擅自改共享记录或扩大授权。两个模块使用同一份资料时，证据应去重；意见冲突按事实、假设或价值来处理，而不是简单投票。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独立复核角色可以减少部分漏项，但第二个模型不是新的事实来源，也不是专业资质。当前检查器主要核对结构和状态一致性，不能替代事实核验或长期实际效果检验。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这些是计划产品的记录职责，不要求用户看见技术字段。产品界面只需要清楚呈现当前目标、证据变化、下一步和状态。模型拿不到持久记录时，应如实保留信息缺口，不能假装一直在跟踪。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这一页描述入口类别，不承诺当前平台已具备任何具体账户权限。新增连接需要实际工具支持和相应授权。读取失败、来源撤销或超过有效观察窗口时应标记未更新，不能把缺失当作零。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设计与实际部署状态需要分别理解。协议扩展4.0的观察与反馈职能，本身不会创建连接、数据库、定时任务或通知。当前能确认的是方法文件存在，不能据此推断后台已经收集数据。新增四类基础设施不是四个智能体。真正上线时还需逐项验证读取、持久写入和消息送达，并分别保留运行状态。合成：定期协调只有在任务实际创建且状态可读取后才会运行。</a:t>
            </a:r>
          </a:p>
          <a:p xmlns:a="http://schemas.openxmlformats.org/drawingml/2006/main">
            <a:r>
              <a:t>设计来源：主动服务协议.md；人生总控架构.md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本项目设计文件：主动服务协议.md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信状态不仅来自数值，也来自清楚的来源与时间覆盖。自动抽取是候选事实；歧义日期、关键承诺和矛盾记录需要核对。计划与完成记录分开，用户纠正后保留修正关系。已有授权内读取不用反复询问，但“请主动工作”不会自动授予其他账户或亲友资料权限。跨次运行需要真实持久状态，聊天历史和临时文件不能单独承担。合成：日历有学习计划，只能证明计划存在，不能证明已学习。</a:t>
            </a:r>
          </a:p>
          <a:p xmlns:a="http://schemas.openxmlformats.org/drawingml/2006/main">
            <a:r>
              <a:t>设计来源：主动服务协议.md；人生总控架构.md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本项目设计文件：主动服务协议.md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补问是降低错误决策，而不是补齐九领域表格。没有明确目标时，应先问当前最希望改善的事。已有资料足够就直接工作；只有关键缺口可能改变下一步才提问。暂缓的问题按约定条件恢复，不因沉默而增加频率。合成学习场景说明应先排除漏记；没有文件不能证明没有学习，更不能由此评价人格或自律程度。合成：“是否已有练习或作品，只是未记录？”答复后才判断是否调整学习。</a:t>
            </a:r>
          </a:p>
          <a:p xmlns:a="http://schemas.openxmlformats.org/drawingml/2006/main">
            <a:r>
              <a:t>设计来源：主动服务协议.md；人生总控架构.md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本项目设计文件：主动服务协议.md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事件是筛选起点，不自动等于应打扰用户。持续偏差需排除漏记、重复计算与效果延迟，缺少个人基线不能设置万能阈值。通知应按后果、期限和可信度合并；无有效变化可不发常规报告，但平台若每次定时运行都产生消息，必须说明真实限制。机会不应自动占满时间。提醒的目标是帮助用户处理值得处理的事。合成：项目完成释放时间时，可选择复用成果，也可保留自由时间。</a:t>
            </a:r>
          </a:p>
          <a:p xmlns:a="http://schemas.openxmlformats.org/drawingml/2006/main">
            <a:r>
              <a:t>设计来源：主动服务协议.md；人生总控架构.md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本项目设计文件：主动服务协议.md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反馈分两条：生活是否变好，以及服务是否可靠、省力、不打扰。某条建议得到认可并不能证明有效；只有实际开始后，才按结果延迟设置观察窗口。没有执行状态时先核实，不把缺反馈记成失败。重试必须避免重复消息和动作，失效建议不能继续执行。系统可以在已有范围内简化提问和降低频率，越界变更须明确提出。合成：用户说明作品已完成，撤回无产出判断，补证并修正漏记流程。</a:t>
            </a:r>
          </a:p>
          <a:p xmlns:a="http://schemas.openxmlformats.org/drawingml/2006/main">
            <a:r>
              <a:t>设计来源：主动服务协议.md；人生总控架构.md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本项目设计文件：主动服务协议.md</a:t>
            </a:r>
          </a:p>
          <a:p xmlns:a="http://schemas.openxmlformats.org/drawingml/2006/main">
            <a:r>
              <a:t>- 本项目设计文件：人生总控架构.md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这是产品实现要求，当前Skill协议本身并不提供数据库事务或消息基础设施。系统需要实际跑通读取、记录、建议和送达，才能称相应功能已启用。重试设计的目的包括避免重复提醒、重复执行和沿用过期选择。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该页是拟议产品形态，而不是现有已上线页面。优先使用用户能够直接理解的语言，技术版本、任务ID等放在可展开记录中。界面不以装饰性人生总分或虚假状态灯替代事实。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负责何时运行，数据接入负责在授权内取得资料，持久状态负责记住真实版本，通知与行动接口负责可靠交付。具体接入哪些服务、如何部署与采用什么技术栈，需要在选定环境中核实，不能从架构图直接宣称已接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这是实施顺序建议，不是固定天数的效果承诺。先验证完整闭环能否成立，再增加来源、领域和主动运行频率。设置频率与阈值需要用户条件和实际反馈，不由控制论提供通用常数。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这里的10小时仅是当前例子给定的增量预算，不包含已被扣除的其他基线时间；不能再次重复扣减。项目收益、真实健康限制和学习缩减效果均未提供，保持未知，不推导具体收入建议。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组合A必须确认学习可缩减到2小时仍有价值；组合B必须确认项目3小时仍能满足交付。总量可行还要检查具体时段，以及是否存在未计入的承诺。这里只计算时间，没有虚构项目收益或成功率。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不应因为项目看起来更能赚钱就自动删掉家庭或缓冲。还可以提出延期、替代或不启动的方案。最后推荐状态取决于已经核实什么；用户是否愿意接受学习缩减是另一条独立信息。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没有文件不等于没有学习，日历安排也不等于实际观看。这个例子同时体现主动补问、证据更正、目标版本和提醒去重。系统不应从局部行为推断“不自律”等人格结论。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已有Skill记录过有限的回归与资源测试，本次演示不把它包装为商业系统长期验证，也不重新声称执行了这些历史测试。后续评估应保留原预测、执行与环境记录，选择与真实用途相符的验收标准。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- 本项目《验证记录》：2026-09-05历史有限测试，本轮未重跑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这里是产品实施路径，不是融资计划、市场预测或已排期的开发承诺。商业化还需要针对具体人群验证需求、交付方式与付费意愿；本演示的重点是系统结构和运行依据。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引用页面于2026-09-05本次制作中核对。钱学森高校转载包含历史性与有争议内容，本设计不把全文所有观点作为已证实科学事实。没有通读1954年《工程控制论》，也不声称有权威机构为本产品背书。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https://sass.usst.edu.cn/2021/1102/c12541a258347/page.htm</a:t>
            </a:r>
          </a:p>
          <a:p xmlns:a="http://schemas.openxmlformats.org/drawingml/2006/main">
            <a:r>
              <a:t>- https://www.nasa.gov/reference/2-0-fundamentals-of-systems-engineering/</a:t>
            </a:r>
          </a:p>
          <a:p xmlns:a="http://schemas.openxmlformats.org/drawingml/2006/main">
            <a:r>
              <a:t>- https://www.nasa.gov/reference/6-0-crosscutting-technical-management/</a:t>
            </a:r>
          </a:p>
          <a:p xmlns:a="http://schemas.openxmlformats.org/drawingml/2006/main">
            <a:r>
              <a:t>- https://ocw.mit.edu/courses/6-241j-dynamic-systems-and-control-spring-2011/pages/readings/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本演示整理已有设计并增加解释与合成示例，不将PPT制作过程等同于Skill更新、连接安装或后台部署。当前知识范围是模块职责，不代表系统或用户已经全面掌握全部学科。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- 设计依据：决策引擎3.0《决策引擎》《状态记录规则》《协作契约》</a:t>
            </a:r>
          </a:p>
          <a:p xmlns:a="http://schemas.openxmlformats.org/drawingml/2006/main">
            <a:r>
              <a:t>- 设计依据：《人生系统主动服务协议》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回到最初的问题：如果各领域都提出好建议但无法同时执行，就需要整体协调。该系统的价值须通过真实任务来验证。开始时只需一个重要问题、有限资料和明确边界，不必先建立完整的人生数据库。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设计依据：人生管理架构4.0《人生总控架构》《人生领域协议》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4575f357d4a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0b1282f9048a6" /><Relationship Type="http://schemas.openxmlformats.org/officeDocument/2006/relationships/slideLayout" Target="/ppt/slideLayouts/slideLayout1.xml" Id="Raa0e94f1a456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0e94f1a456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404bd56fc4193" /><Relationship Type="http://schemas.openxmlformats.org/officeDocument/2006/relationships/notesSlide" Target="/ppt/notesSlides/notesSlide1.xml" Id="R003605c4693d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e68e5124c416e" /><Relationship Type="http://schemas.openxmlformats.org/officeDocument/2006/relationships/notesSlide" Target="/ppt/notesSlides/notesSlide2.xml" Id="R40fd04885179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53727a8fe4120" /><Relationship Type="http://schemas.openxmlformats.org/officeDocument/2006/relationships/notesSlide" Target="/ppt/notesSlides/notesSlide3.xml" Id="R8dae7df5574147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8ec95c5df472b" /><Relationship Type="http://schemas.openxmlformats.org/officeDocument/2006/relationships/notesSlide" Target="/ppt/notesSlides/notesSlide4.xml" Id="Rbde2854cf6d845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067340e744b96" /><Relationship Type="http://schemas.openxmlformats.org/officeDocument/2006/relationships/notesSlide" Target="/ppt/notesSlides/notesSlide5.xml" Id="R74377e7b49f94d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568eb79c24570" /><Relationship Type="http://schemas.openxmlformats.org/officeDocument/2006/relationships/notesSlide" Target="/ppt/notesSlides/notesSlide6.xml" Id="R6d41c89613a84d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cc244ad7d467d" /><Relationship Type="http://schemas.openxmlformats.org/officeDocument/2006/relationships/notesSlide" Target="/ppt/notesSlides/notesSlide7.xml" Id="R402741e62968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df95ce74042df" /><Relationship Type="http://schemas.openxmlformats.org/officeDocument/2006/relationships/notesSlide" Target="/ppt/notesSlides/notesSlide8.xml" Id="R4cef3acae4704a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e841f61a744d6" /><Relationship Type="http://schemas.openxmlformats.org/officeDocument/2006/relationships/notesSlide" Target="/ppt/notesSlides/notesSlide9.xml" Id="R70183b0c21894b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4a80afabb4935" /><Relationship Type="http://schemas.openxmlformats.org/officeDocument/2006/relationships/notesSlide" Target="/ppt/notesSlides/notesSlide10.xml" Id="Rb293193770c244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f05502f9a43e3" /><Relationship Type="http://schemas.openxmlformats.org/officeDocument/2006/relationships/notesSlide" Target="/ppt/notesSlides/notesSlide11.xml" Id="R9d8cf624c3cf4c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5a52cd3514e1c" /><Relationship Type="http://schemas.openxmlformats.org/officeDocument/2006/relationships/notesSlide" Target="/ppt/notesSlides/notesSlide12.xml" Id="R0c87c3fac05d42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63f14e934c54" /><Relationship Type="http://schemas.openxmlformats.org/officeDocument/2006/relationships/notesSlide" Target="/ppt/notesSlides/notesSlide13.xml" Id="R5184c548f99b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e438c2ba24a0d" /><Relationship Type="http://schemas.openxmlformats.org/officeDocument/2006/relationships/notesSlide" Target="/ppt/notesSlides/notesSlide14.xml" Id="R75d5de898a1349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a70735db847d9" /><Relationship Type="http://schemas.openxmlformats.org/officeDocument/2006/relationships/notesSlide" Target="/ppt/notesSlides/notesSlide15.xml" Id="R1956ae4face649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7dcad38e240e9" /><Relationship Type="http://schemas.openxmlformats.org/officeDocument/2006/relationships/notesSlide" Target="/ppt/notesSlides/notesSlide16.xml" Id="R93a76aeee45645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db83e42b4713" /><Relationship Type="http://schemas.openxmlformats.org/officeDocument/2006/relationships/notesSlide" Target="/ppt/notesSlides/notesSlide17.xml" Id="Rc8c59d2a21c24d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c55fb4ab1408d" /><Relationship Type="http://schemas.openxmlformats.org/officeDocument/2006/relationships/notesSlide" Target="/ppt/notesSlides/notesSlide18.xml" Id="Rc9e5426f08a24e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1d41ac96844b6" /><Relationship Type="http://schemas.openxmlformats.org/officeDocument/2006/relationships/notesSlide" Target="/ppt/notesSlides/notesSlide19.xml" Id="R8a750729010942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2627b02db4d19" /><Relationship Type="http://schemas.openxmlformats.org/officeDocument/2006/relationships/notesSlide" Target="/ppt/notesSlides/notesSlide20.xml" Id="R64556043878f44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fcbe07f4645ed" /><Relationship Type="http://schemas.openxmlformats.org/officeDocument/2006/relationships/notesSlide" Target="/ppt/notesSlides/notesSlide21.xml" Id="Rda838710369c40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839ccf1ef45ef" /><Relationship Type="http://schemas.openxmlformats.org/officeDocument/2006/relationships/notesSlide" Target="/ppt/notesSlides/notesSlide22.xml" Id="R493a2885455740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1115cfcd74567" /><Relationship Type="http://schemas.openxmlformats.org/officeDocument/2006/relationships/notesSlide" Target="/ppt/notesSlides/notesSlide23.xml" Id="R97ff8291a8334b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136348a6541c9" /><Relationship Type="http://schemas.openxmlformats.org/officeDocument/2006/relationships/notesSlide" Target="/ppt/notesSlides/notesSlide24.xml" Id="R4b0845863ce14c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a64f29c804987" /><Relationship Type="http://schemas.openxmlformats.org/officeDocument/2006/relationships/notesSlide" Target="/ppt/notesSlides/notesSlide25.xml" Id="Rd72112c27a0046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e1d5053144a0f" /><Relationship Type="http://schemas.openxmlformats.org/officeDocument/2006/relationships/notesSlide" Target="/ppt/notesSlides/notesSlide26.xml" Id="Reb0fa05b12374c2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6ffc487ad4ea3" /><Relationship Type="http://schemas.openxmlformats.org/officeDocument/2006/relationships/notesSlide" Target="/ppt/notesSlides/notesSlide27.xml" Id="R9a6637f160ae4ed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3095e26c34547" /><Relationship Type="http://schemas.openxmlformats.org/officeDocument/2006/relationships/notesSlide" Target="/ppt/notesSlides/notesSlide28.xml" Id="R3d4b7306d02540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30d9189d84f0e" /><Relationship Type="http://schemas.openxmlformats.org/officeDocument/2006/relationships/notesSlide" Target="/ppt/notesSlides/notesSlide29.xml" Id="R95604167311b472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a60a29d5d4909" /><Relationship Type="http://schemas.openxmlformats.org/officeDocument/2006/relationships/notesSlide" Target="/ppt/notesSlides/notesSlide30.xml" Id="Ra932b57ed8ad4a6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8f91adb0f4ccf" /><Relationship Type="http://schemas.openxmlformats.org/officeDocument/2006/relationships/notesSlide" Target="/ppt/notesSlides/notesSlide31.xml" Id="Rff9aa06f3c6b42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62f416ffa436f" /><Relationship Type="http://schemas.openxmlformats.org/officeDocument/2006/relationships/notesSlide" Target="/ppt/notesSlides/notesSlide32.xml" Id="R3a87e7fc991747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2dd2c5830427e" /><Relationship Type="http://schemas.openxmlformats.org/officeDocument/2006/relationships/notesSlide" Target="/ppt/notesSlides/notesSlide33.xml" Id="Rd9f24fd120734b4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142960c4d4bc1" /><Relationship Type="http://schemas.openxmlformats.org/officeDocument/2006/relationships/notesSlide" Target="/ppt/notesSlides/notesSlide34.xml" Id="R54b706c3bb4a42f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d65b2b3fe4661" /><Relationship Type="http://schemas.openxmlformats.org/officeDocument/2006/relationships/notesSlide" Target="/ppt/notesSlides/notesSlide35.xml" Id="R82478e8409ec4eb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aec8afbe241b1" /><Relationship Type="http://schemas.openxmlformats.org/officeDocument/2006/relationships/notesSlide" Target="/ppt/notesSlides/notesSlide36.xml" Id="Ra9124adab5dd438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39ed2b1e34c01" /><Relationship Type="http://schemas.openxmlformats.org/officeDocument/2006/relationships/notesSlide" Target="/ppt/notesSlides/notesSlide37.xml" Id="R52a7688623c7433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f332f1cc8488a" /><Relationship Type="http://schemas.openxmlformats.org/officeDocument/2006/relationships/notesSlide" Target="/ppt/notesSlides/notesSlide38.xml" Id="Re9c0523f55ae40a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1cabe76b545d1" /><Relationship Type="http://schemas.openxmlformats.org/officeDocument/2006/relationships/notesSlide" Target="/ppt/notesSlides/notesSlide39.xml" Id="Rdf852147c605444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59b465f344866" /><Relationship Type="http://schemas.openxmlformats.org/officeDocument/2006/relationships/notesSlide" Target="/ppt/notesSlides/notesSlide40.xml" Id="R1c438d7ff80140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757750c864916" /><Relationship Type="http://schemas.openxmlformats.org/officeDocument/2006/relationships/notesSlide" Target="/ppt/notesSlides/notesSlide41.xml" Id="R30b419ef9f2346c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778f7de5e441b" /><Relationship Type="http://schemas.openxmlformats.org/officeDocument/2006/relationships/notesSlide" Target="/ppt/notesSlides/notesSlide42.xml" Id="Rd2d418efc6ba465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5809e03284246" /><Relationship Type="http://schemas.openxmlformats.org/officeDocument/2006/relationships/notesSlide" Target="/ppt/notesSlides/notesSlide43.xml" Id="R5d6ab069aa74475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aa5b299ab4d5c" /><Relationship Type="http://schemas.openxmlformats.org/officeDocument/2006/relationships/notesSlide" Target="/ppt/notesSlides/notesSlide44.xml" Id="Rc699799909aa48b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482c1e3c14674" /><Relationship Type="http://schemas.openxmlformats.org/officeDocument/2006/relationships/notesSlide" Target="/ppt/notesSlides/notesSlide45.xml" Id="R180534477b5a498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74d9b110b4d57" /><Relationship Type="http://schemas.openxmlformats.org/officeDocument/2006/relationships/notesSlide" Target="/ppt/notesSlides/notesSlide46.xml" Id="R6c9fb35a0fcc47c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cf205225942fc" /><Relationship Type="http://schemas.openxmlformats.org/officeDocument/2006/relationships/notesSlide" Target="/ppt/notesSlides/notesSlide47.xml" Id="Rcb171b46af13459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e6f8a831d4e95" /><Relationship Type="http://schemas.openxmlformats.org/officeDocument/2006/relationships/notesSlide" Target="/ppt/notesSlides/notesSlide48.xml" Id="R179d1e15a7b04a4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241f473b145cf" /><Relationship Type="http://schemas.openxmlformats.org/officeDocument/2006/relationships/notesSlide" Target="/ppt/notesSlides/notesSlide49.xml" Id="R1f1d0f2e98e7451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b7962993e4605" /><Relationship Type="http://schemas.openxmlformats.org/officeDocument/2006/relationships/notesSlide" Target="/ppt/notesSlides/notesSlide50.xml" Id="R165113841378496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80a2c2d9e4857" /><Relationship Type="http://schemas.openxmlformats.org/officeDocument/2006/relationships/notesSlide" Target="/ppt/notesSlides/notesSlide51.xml" Id="R8da2a2b9e0024e5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4c411d3c34ec8" /><Relationship Type="http://schemas.openxmlformats.org/officeDocument/2006/relationships/notesSlide" Target="/ppt/notesSlides/notesSlide52.xml" Id="R5d892d94461d48c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5fe2b1844438f" /><Relationship Type="http://schemas.openxmlformats.org/officeDocument/2006/relationships/notesSlide" Target="/ppt/notesSlides/notesSlide53.xml" Id="R835f8efd54da485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542797917480a" /><Relationship Type="http://schemas.openxmlformats.org/officeDocument/2006/relationships/notesSlide" Target="/ppt/notesSlides/notesSlide54.xml" Id="R34e39fdfa7e3446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28bc45148477c" /><Relationship Type="http://schemas.openxmlformats.org/officeDocument/2006/relationships/notesSlide" Target="/ppt/notesSlides/notesSlide55.xml" Id="R5888f497f2504bb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221eaa74b4786" /><Relationship Type="http://schemas.openxmlformats.org/officeDocument/2006/relationships/notesSlide" Target="/ppt/notesSlides/notesSlide56.xml" Id="R69f1a02c1c434d3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5fb4b18a74b6b" /><Relationship Type="http://schemas.openxmlformats.org/officeDocument/2006/relationships/notesSlide" Target="/ppt/notesSlides/notesSlide57.xml" Id="Rc4bd075ebbee4ea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6f66f66be4926" /><Relationship Type="http://schemas.openxmlformats.org/officeDocument/2006/relationships/notesSlide" Target="/ppt/notesSlides/notesSlide58.xml" Id="R5c15e0992722404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1f1581b7840b4" /><Relationship Type="http://schemas.openxmlformats.org/officeDocument/2006/relationships/notesSlide" Target="/ppt/notesSlides/notesSlide59.xml" Id="Rc2843e930d154d7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d7d2858964dfd" /><Relationship Type="http://schemas.openxmlformats.org/officeDocument/2006/relationships/notesSlide" Target="/ppt/notesSlides/notesSlide60.xml" Id="Rdf0d808b1f8d42a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616d174b14c85" /><Relationship Type="http://schemas.openxmlformats.org/officeDocument/2006/relationships/notesSlide" Target="/ppt/notesSlides/notesSlide61.xml" Id="R099a1c720e2e4f1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9e4cf8564838" /><Relationship Type="http://schemas.openxmlformats.org/officeDocument/2006/relationships/notesSlide" Target="/ppt/notesSlides/notesSlide62.xml" Id="R8b66b1a729614b3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fecdaa924b8a" /><Relationship Type="http://schemas.openxmlformats.org/officeDocument/2006/relationships/notesSlide" Target="/ppt/notesSlides/notesSlide63.xml" Id="R852cfec71fcd4fa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7c8e7a2fc4375" /><Relationship Type="http://schemas.openxmlformats.org/officeDocument/2006/relationships/notesSlide" Target="/ppt/notesSlides/notesSlide64.xml" Id="R366469182616483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d8456b4794af2" /><Relationship Type="http://schemas.openxmlformats.org/officeDocument/2006/relationships/notesSlide" Target="/ppt/notesSlides/notesSlide65.xml" Id="R92c127f22b774f1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e86e831584474" /><Relationship Type="http://schemas.openxmlformats.org/officeDocument/2006/relationships/notesSlide" Target="/ppt/notesSlides/notesSlide66.xml" Id="Rb04134e10d0b4a0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04673c0a4153" /><Relationship Type="http://schemas.openxmlformats.org/officeDocument/2006/relationships/notesSlide" Target="/ppt/notesSlides/notesSlide67.xml" Id="Rbc56cd9eb31647e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17d06fb1849f2" /><Relationship Type="http://schemas.openxmlformats.org/officeDocument/2006/relationships/notesSlide" Target="/ppt/notesSlides/notesSlide68.xml" Id="Raef918d137f3491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cdc42704a41b8" /><Relationship Type="http://schemas.openxmlformats.org/officeDocument/2006/relationships/notesSlide" Target="/ppt/notesSlides/notesSlide69.xml" Id="Re70bb56e0b6c468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74f49291b47a9" /><Relationship Type="http://schemas.openxmlformats.org/officeDocument/2006/relationships/notesSlide" Target="/ppt/notesSlides/notesSlide70.xml" Id="R8828fd4d9103447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e9e17cea14dce" /><Relationship Type="http://schemas.openxmlformats.org/officeDocument/2006/relationships/notesSlide" Target="/ppt/notesSlides/notesSlide71.xml" Id="Rd66af5f743fd4e3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138fbfc0b4cc0" /><Relationship Type="http://schemas.openxmlformats.org/officeDocument/2006/relationships/notesSlide" Target="/ppt/notesSlides/notesSlide72.xml" Id="R92ae6cc8bc14469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017726cb14b6d" /><Relationship Type="http://schemas.openxmlformats.org/officeDocument/2006/relationships/notesSlide" Target="/ppt/notesSlides/notesSlide73.xml" Id="Rc6b85989daca4ba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1199d3874e1e" /><Relationship Type="http://schemas.openxmlformats.org/officeDocument/2006/relationships/notesSlide" Target="/ppt/notesSlides/notesSlide74.xml" Id="R1839b99ac58647a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c55771eea4300" /><Relationship Type="http://schemas.openxmlformats.org/officeDocument/2006/relationships/notesSlide" Target="/ppt/notesSlides/notesSlide75.xml" Id="R196727c39bf043a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0d329a074e67" /><Relationship Type="http://schemas.openxmlformats.org/officeDocument/2006/relationships/notesSlide" Target="/ppt/notesSlides/notesSlide76.xml" Id="R402e9012972e4e6d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92c263b9c4679" /><Relationship Type="http://schemas.openxmlformats.org/officeDocument/2006/relationships/notesSlide" Target="/ppt/notesSlides/notesSlide77.xml" Id="R45221ac04e9042f2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0e2ce7af4bad" /><Relationship Type="http://schemas.openxmlformats.org/officeDocument/2006/relationships/notesSlide" Target="/ppt/notesSlides/notesSlide78.xml" Id="Rebfb05b2e2ef432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5ccbbd5454ede" /><Relationship Type="http://schemas.openxmlformats.org/officeDocument/2006/relationships/notesSlide" Target="/ppt/notesSlides/notesSlide79.xml" Id="R24c63cb19626467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ad7c5c02c4b45" /><Relationship Type="http://schemas.openxmlformats.org/officeDocument/2006/relationships/notesSlide" Target="/ppt/notesSlides/notesSlide80.xml" Id="R7ab77c6bb398440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fa3c80a3049c7" /><Relationship Type="http://schemas.openxmlformats.org/officeDocument/2006/relationships/notesSlide" Target="/ppt/notesSlides/notesSlide81.xml" Id="R2a4ca4c96c2247f9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0c6138b914993" /><Relationship Type="http://schemas.openxmlformats.org/officeDocument/2006/relationships/notesSlide" Target="/ppt/notesSlides/notesSlide82.xml" Id="R1743c3c056774200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8a45d6dcf4845" /><Relationship Type="http://schemas.openxmlformats.org/officeDocument/2006/relationships/notesSlide" Target="/ppt/notesSlides/notesSlide83.xml" Id="R72b15653a5774b8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d3eb10ee4b74" /><Relationship Type="http://schemas.openxmlformats.org/officeDocument/2006/relationships/notesSlide" Target="/ppt/notesSlides/notesSlide84.xml" Id="Rafd06029ee934ed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523b478b34920" /><Relationship Type="http://schemas.openxmlformats.org/officeDocument/2006/relationships/notesSlide" Target="/ppt/notesSlides/notesSlide85.xml" Id="R2d5a42d6d014474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46fcb755a4763" /><Relationship Type="http://schemas.openxmlformats.org/officeDocument/2006/relationships/notesSlide" Target="/ppt/notesSlides/notesSlide86.xml" Id="R71c996e2012f48e4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3e9d2ade14c45" /><Relationship Type="http://schemas.openxmlformats.org/officeDocument/2006/relationships/notesSlide" Target="/ppt/notesSlides/notesSlide87.xml" Id="R4cd9c2cc93084b1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8ea06895c4604" /><Relationship Type="http://schemas.openxmlformats.org/officeDocument/2006/relationships/notesSlide" Target="/ppt/notesSlides/notesSlide88.xml" Id="Rf294e6ad4eff47b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2ecf5654d4324" /><Relationship Type="http://schemas.openxmlformats.org/officeDocument/2006/relationships/hyperlink" Target="https://sass.usst.edu.cn/2021/1102/c12541a258347/page.htm" TargetMode="External" Id="R8b92d167a0184fa6" /><Relationship Type="http://schemas.openxmlformats.org/officeDocument/2006/relationships/hyperlink" Target="https://www.nasa.gov/reference/2-0-fundamentals-of-systems-engineering/" TargetMode="External" Id="Rc40e4f5758e7494d" /><Relationship Type="http://schemas.openxmlformats.org/officeDocument/2006/relationships/hyperlink" Target="https://www.nasa.gov/reference/6-0-crosscutting-technical-management/" TargetMode="External" Id="Rcb67b1b5dcb6453b" /><Relationship Type="http://schemas.openxmlformats.org/officeDocument/2006/relationships/hyperlink" Target="https://ocw.mit.edu/courses/6-241j-dynamic-systems-and-control-spring-2011/pages/readings/" TargetMode="External" Id="R5d3cd260ad754fe8" /><Relationship Type="http://schemas.openxmlformats.org/officeDocument/2006/relationships/notesSlide" Target="/ppt/notesSlides/notesSlide89.xml" Id="Rd93471dfe7ec422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29c3dc67745b7" /><Relationship Type="http://schemas.openxmlformats.org/officeDocument/2006/relationships/notesSlide" Target="/ppt/notesSlides/notesSlide90.xml" Id="R36ffa82ea578402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c6feace9419c" /><Relationship Type="http://schemas.openxmlformats.org/officeDocument/2006/relationships/notesSlide" Target="/ppt/notesSlides/notesSlide91.xml" Id="R50ae78738eee43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">
            <a:extLst xmlns:a="http://schemas.openxmlformats.org/drawingml/2006/main">
              <a:ext uri="{FF2B5EF4-FFF2-40B4-BE49-F238E27FC236}">
                <a16:creationId xmlns:a16="http://schemas.microsoft.com/office/drawing/2014/main" id="{6290B6ED-F511-4767-A644-1064DDAB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系统设计说明</a:t>
            </a:r>
          </a:p>
        </p:txBody>
      </p:sp>
      <p:sp>
        <p:nvSpPr>
          <p:cNvPr id="2" name="box-2">
            <a:extLst xmlns:a="http://schemas.openxmlformats.org/drawingml/2006/main">
              <a:ext uri="{FF2B5EF4-FFF2-40B4-BE49-F238E27FC236}">
                <a16:creationId xmlns:a16="http://schemas.microsoft.com/office/drawing/2014/main" id="{57D5BC6C-86FC-468C-BF8F-512EC047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AF54CE2D-8F4A-4325-8FEB-AF44AE3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5FE37601-7F2A-4B22-9759-209B8989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01 / 91</a:t>
            </a:r>
          </a:p>
        </p:txBody>
      </p:sp>
      <p:sp>
        <p:nvSpPr>
          <p:cNvPr id="5" name="deck-title-5">
            <a:extLst xmlns:a="http://schemas.openxmlformats.org/drawingml/2006/main">
              <a:ext uri="{FF2B5EF4-FFF2-40B4-BE49-F238E27FC236}">
                <a16:creationId xmlns:a16="http://schemas.microsoft.com/office/drawing/2014/main" id="{841FDD92-CE82-4D91-A2E6-03F1F8B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82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60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60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人生管理系统</a:t>
            </a:r>
          </a:p>
        </p:txBody>
      </p:sp>
      <p:sp>
        <p:nvSpPr>
          <p:cNvPr id="6" name="deck-version-6">
            <a:extLst xmlns:a="http://schemas.openxmlformats.org/drawingml/2006/main">
              <a:ext uri="{FF2B5EF4-FFF2-40B4-BE49-F238E27FC236}">
                <a16:creationId xmlns:a16="http://schemas.microsoft.com/office/drawing/2014/main" id="{A9A1B03D-0320-4CF1-881B-8060264B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72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72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4.0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02C65AD-5B5F-440E-B832-4F40235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整体协调 · 科学决策 · 主动服务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631E8D2-ADED-4395-B881-87EDE165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总控架构、9个人生领域、23个共享能力模块与运行机制</a:t>
            </a:r>
          </a:p>
        </p:txBody>
      </p:sp>
    </p:spTree>
    <p:extLst>
      <p:ext uri="{BB962C8B-B14F-4D97-AF65-F5344CB8AC3E}">
        <p14:creationId xmlns:p14="http://schemas.microsoft.com/office/powerpoint/2010/main" val="1854297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9">
            <a:extLst xmlns:a="http://schemas.openxmlformats.org/drawingml/2006/main">
              <a:ext uri="{FF2B5EF4-FFF2-40B4-BE49-F238E27FC236}">
                <a16:creationId xmlns:a16="http://schemas.microsoft.com/office/drawing/2014/main" id="{01C2C90A-37CB-4090-A8DB-1FEDBD67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阅读地图</a:t>
            </a:r>
          </a:p>
        </p:txBody>
      </p:sp>
      <p:sp>
        <p:nvSpPr>
          <p:cNvPr id="2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BA155260-B37E-4A6F-82C1-D34ACB49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先看整体，再理解每一层</a:t>
            </a:r>
          </a:p>
        </p:txBody>
      </p:sp>
      <p:sp>
        <p:nvSpPr>
          <p:cNvPr id="3" name="claim-11">
            <a:extLst xmlns:a="http://schemas.openxmlformats.org/drawingml/2006/main">
              <a:ext uri="{FF2B5EF4-FFF2-40B4-BE49-F238E27FC236}">
                <a16:creationId xmlns:a16="http://schemas.microsoft.com/office/drawing/2014/main" id="{0A8C9FE6-8E92-4AAD-8CC0-71DCCCD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从设计理由走到真实运行，最后用完整案例检验逻辑。</a:t>
            </a:r>
          </a:p>
        </p:txBody>
      </p:sp>
      <p:sp>
        <p:nvSpPr>
          <p:cNvPr id="4" name="box-12">
            <a:extLst xmlns:a="http://schemas.openxmlformats.org/drawingml/2006/main">
              <a:ext uri="{FF2B5EF4-FFF2-40B4-BE49-F238E27FC236}">
                <a16:creationId xmlns:a16="http://schemas.microsoft.com/office/drawing/2014/main" id="{69F5916C-6DB9-47FE-9A2F-12CBDF3A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">
            <a:extLst xmlns:a="http://schemas.openxmlformats.org/drawingml/2006/main">
              <a:ext uri="{FF2B5EF4-FFF2-40B4-BE49-F238E27FC236}">
                <a16:creationId xmlns:a16="http://schemas.microsoft.com/office/drawing/2014/main" id="{A898641F-274A-416C-972F-13B537C0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4">
            <a:extLst xmlns:a="http://schemas.openxmlformats.org/drawingml/2006/main">
              <a:ext uri="{FF2B5EF4-FFF2-40B4-BE49-F238E27FC236}">
                <a16:creationId xmlns:a16="http://schemas.microsoft.com/office/drawing/2014/main" id="{95CFFB55-6F38-4DB7-AFF6-B1E0D87A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5">
            <a:extLst xmlns:a="http://schemas.openxmlformats.org/drawingml/2006/main">
              <a:ext uri="{FF2B5EF4-FFF2-40B4-BE49-F238E27FC236}">
                <a16:creationId xmlns:a16="http://schemas.microsoft.com/office/drawing/2014/main" id="{B889759D-5F51-4902-A421-5BAAF471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02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部分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要回答的问题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设计基础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为什么需要整体协调？借鉴哪些系统思想？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总控与领域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谁决定目标？9个领域怎样分工与共同用资源？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决策与知识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8个阶段如何推进？23个模块分别交付什么？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协作与主动服务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怎样派工、复核、获取资料、补问和通知？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实现与验证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怎样形成可运行产品？怎样知道它真正有用？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21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6">
            <a:extLst xmlns:a="http://schemas.openxmlformats.org/drawingml/2006/main">
              <a:ext uri="{FF2B5EF4-FFF2-40B4-BE49-F238E27FC236}">
                <a16:creationId xmlns:a16="http://schemas.microsoft.com/office/drawing/2014/main" id="{A5D82D08-D37D-4F12-A621-C2802F1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 设计基础</a:t>
            </a:r>
          </a:p>
        </p:txBody>
      </p:sp>
      <p:sp>
        <p:nvSpPr>
          <p:cNvPr id="2" name="slide-title-17">
            <a:extLst xmlns:a="http://schemas.openxmlformats.org/drawingml/2006/main">
              <a:ext uri="{FF2B5EF4-FFF2-40B4-BE49-F238E27FC236}">
                <a16:creationId xmlns:a16="http://schemas.microsoft.com/office/drawing/2014/main" id="{54D7D175-B6CC-4373-B5FD-0B099A3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每个决定都在占用共同资源</a:t>
            </a:r>
          </a:p>
        </p:txBody>
      </p:sp>
      <p:sp>
        <p:nvSpPr>
          <p:cNvPr id="3" name="claim-18">
            <a:extLst xmlns:a="http://schemas.openxmlformats.org/drawingml/2006/main">
              <a:ext uri="{FF2B5EF4-FFF2-40B4-BE49-F238E27FC236}">
                <a16:creationId xmlns:a16="http://schemas.microsoft.com/office/drawing/2014/main" id="{96B0D1C7-4DD6-4C3B-8904-04DE36A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单项看起来合理，组合起来可能无法执行。</a:t>
            </a:r>
          </a:p>
        </p:txBody>
      </p:sp>
      <p:sp>
        <p:nvSpPr>
          <p:cNvPr id="4" name="box-19">
            <a:extLst xmlns:a="http://schemas.openxmlformats.org/drawingml/2006/main">
              <a:ext uri="{FF2B5EF4-FFF2-40B4-BE49-F238E27FC236}">
                <a16:creationId xmlns:a16="http://schemas.microsoft.com/office/drawing/2014/main" id="{19CB3609-EB16-4B16-AA1B-F14517DA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0">
            <a:extLst xmlns:a="http://schemas.openxmlformats.org/drawingml/2006/main">
              <a:ext uri="{FF2B5EF4-FFF2-40B4-BE49-F238E27FC236}">
                <a16:creationId xmlns:a16="http://schemas.microsoft.com/office/drawing/2014/main" id="{D6C62680-FA8E-4177-9BA5-93D5ECF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1">
            <a:extLst xmlns:a="http://schemas.openxmlformats.org/drawingml/2006/main">
              <a:ext uri="{FF2B5EF4-FFF2-40B4-BE49-F238E27FC236}">
                <a16:creationId xmlns:a16="http://schemas.microsoft.com/office/drawing/2014/main" id="{681B8858-28C7-48BB-86EE-5AC73D98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2">
            <a:extLst xmlns:a="http://schemas.openxmlformats.org/drawingml/2006/main">
              <a:ext uri="{FF2B5EF4-FFF2-40B4-BE49-F238E27FC236}">
                <a16:creationId xmlns:a16="http://schemas.microsoft.com/office/drawing/2014/main" id="{73D8B4F6-5888-4C55-836D-ACA86240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03 / 91</a:t>
            </a:r>
          </a:p>
        </p:txBody>
      </p:sp>
      <p:sp>
        <p:nvSpPr>
          <p:cNvPr id="8" name="subhead-23">
            <a:extLst xmlns:a="http://schemas.openxmlformats.org/drawingml/2006/main">
              <a:ext uri="{FF2B5EF4-FFF2-40B4-BE49-F238E27FC236}">
                <a16:creationId xmlns:a16="http://schemas.microsoft.com/office/drawing/2014/main" id="{98D19798-0D33-4611-83FF-410022DD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常见局部计划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670C16BB-69CB-44B3-98BB-6EBF8A44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职业想增加项目；学习想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加课；家庭已有承诺。</a:t>
            </a:r>
          </a:p>
        </p:txBody>
      </p:sp>
      <p:sp>
        <p:nvSpPr>
          <p:cNvPr id="10" name="subhead-25">
            <a:extLst xmlns:a="http://schemas.openxmlformats.org/drawingml/2006/main">
              <a:ext uri="{FF2B5EF4-FFF2-40B4-BE49-F238E27FC236}">
                <a16:creationId xmlns:a16="http://schemas.microsoft.com/office/drawing/2014/main" id="{F871C693-8995-4A3D-B88A-A0C0C28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共同限制</a:t>
            </a:r>
          </a:p>
        </p:txBody>
      </p:sp>
      <p:sp>
        <p:nvSpPr>
          <p:cNvPr id="11" name="text-26">
            <a:extLst xmlns:a="http://schemas.openxmlformats.org/drawingml/2006/main">
              <a:ext uri="{FF2B5EF4-FFF2-40B4-BE49-F238E27FC236}">
                <a16:creationId xmlns:a16="http://schemas.microsoft.com/office/drawing/2014/main" id="{2B6F63C8-D6DA-431A-A7B5-CACFA04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这些计划竞争同一份时间、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资金和可承受负荷。</a:t>
            </a:r>
          </a:p>
        </p:txBody>
      </p:sp>
      <p:sp>
        <p:nvSpPr>
          <p:cNvPr id="12" name="subhead-27">
            <a:extLst xmlns:a="http://schemas.openxmlformats.org/drawingml/2006/main">
              <a:ext uri="{FF2B5EF4-FFF2-40B4-BE49-F238E27FC236}">
                <a16:creationId xmlns:a16="http://schemas.microsoft.com/office/drawing/2014/main" id="{136C0605-2670-48A0-9B7D-3FDCE28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总控的任务</a:t>
            </a:r>
          </a:p>
        </p:txBody>
      </p:sp>
      <p:sp>
        <p:nvSpPr>
          <p:cNvPr id="13" name="text-28">
            <a:extLst xmlns:a="http://schemas.openxmlformats.org/drawingml/2006/main">
              <a:ext uri="{FF2B5EF4-FFF2-40B4-BE49-F238E27FC236}">
                <a16:creationId xmlns:a16="http://schemas.microsoft.com/office/drawing/2014/main" id="{19E49D6C-CDA6-43A5-AA57-007CFCEC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把计划放在一起检查，找出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真实冲突与可调整之处。</a:t>
            </a:r>
          </a:p>
        </p:txBody>
      </p:sp>
      <p:sp>
        <p:nvSpPr>
          <p:cNvPr id="14" name="subhead-29">
            <a:extLst xmlns:a="http://schemas.openxmlformats.org/drawingml/2006/main">
              <a:ext uri="{FF2B5EF4-FFF2-40B4-BE49-F238E27FC236}">
                <a16:creationId xmlns:a16="http://schemas.microsoft.com/office/drawing/2014/main" id="{EEB5CDDB-6624-4852-B008-CD2C81F2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需要保留的价值</a:t>
            </a:r>
          </a:p>
        </p:txBody>
      </p:sp>
      <p:sp>
        <p:nvSpPr>
          <p:cNvPr id="15" name="text-30">
            <a:extLst xmlns:a="http://schemas.openxmlformats.org/drawingml/2006/main">
              <a:ext uri="{FF2B5EF4-FFF2-40B4-BE49-F238E27FC236}">
                <a16:creationId xmlns:a16="http://schemas.microsoft.com/office/drawing/2014/main" id="{6124A339-F965-4B8F-99E2-70C6C4E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休息、关系和自由时间可以本身值得保留。</a:t>
            </a:r>
          </a:p>
        </p:txBody>
      </p:sp>
    </p:spTree>
    <p:extLst>
      <p:ext uri="{BB962C8B-B14F-4D97-AF65-F5344CB8AC3E}">
        <p14:creationId xmlns:p14="http://schemas.microsoft.com/office/powerpoint/2010/main" val="751786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31">
            <a:extLst xmlns:a="http://schemas.openxmlformats.org/drawingml/2006/main">
              <a:ext uri="{FF2B5EF4-FFF2-40B4-BE49-F238E27FC236}">
                <a16:creationId xmlns:a16="http://schemas.microsoft.com/office/drawing/2014/main" id="{F6BD7E1A-2714-428E-99E8-4FD2CC2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 设计基础</a:t>
            </a:r>
          </a:p>
        </p:txBody>
      </p:sp>
      <p:sp>
        <p:nvSpPr>
          <p:cNvPr id="2" name="slide-title-32">
            <a:extLst xmlns:a="http://schemas.openxmlformats.org/drawingml/2006/main">
              <a:ext uri="{FF2B5EF4-FFF2-40B4-BE49-F238E27FC236}">
                <a16:creationId xmlns:a16="http://schemas.microsoft.com/office/drawing/2014/main" id="{257C5206-4AB5-4D70-B5D1-BEFB286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目标是让选择有依据、能落实</a:t>
            </a:r>
          </a:p>
        </p:txBody>
      </p:sp>
      <p:sp>
        <p:nvSpPr>
          <p:cNvPr id="3" name="claim-33">
            <a:extLst xmlns:a="http://schemas.openxmlformats.org/drawingml/2006/main">
              <a:ext uri="{FF2B5EF4-FFF2-40B4-BE49-F238E27FC236}">
                <a16:creationId xmlns:a16="http://schemas.microsoft.com/office/drawing/2014/main" id="{B30BDBFD-9EC8-456F-B8AF-CA7BC37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系统围绕三个连续的问题提供帮助。</a:t>
            </a:r>
          </a:p>
        </p:txBody>
      </p:sp>
      <p:sp>
        <p:nvSpPr>
          <p:cNvPr id="4" name="box-34">
            <a:extLst xmlns:a="http://schemas.openxmlformats.org/drawingml/2006/main">
              <a:ext uri="{FF2B5EF4-FFF2-40B4-BE49-F238E27FC236}">
                <a16:creationId xmlns:a16="http://schemas.microsoft.com/office/drawing/2014/main" id="{0F5C8C53-D06B-4DED-B821-9B24A7F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35">
            <a:extLst xmlns:a="http://schemas.openxmlformats.org/drawingml/2006/main">
              <a:ext uri="{FF2B5EF4-FFF2-40B4-BE49-F238E27FC236}">
                <a16:creationId xmlns:a16="http://schemas.microsoft.com/office/drawing/2014/main" id="{7C347E8E-0572-4957-A649-3446D098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36">
            <a:extLst xmlns:a="http://schemas.openxmlformats.org/drawingml/2006/main">
              <a:ext uri="{FF2B5EF4-FFF2-40B4-BE49-F238E27FC236}">
                <a16:creationId xmlns:a16="http://schemas.microsoft.com/office/drawing/2014/main" id="{FDE20E5D-B999-40C9-8686-E29F3C2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37">
            <a:extLst xmlns:a="http://schemas.openxmlformats.org/drawingml/2006/main">
              <a:ext uri="{FF2B5EF4-FFF2-40B4-BE49-F238E27FC236}">
                <a16:creationId xmlns:a16="http://schemas.microsoft.com/office/drawing/2014/main" id="{4D93B626-2035-4437-BAB4-0ADCD330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04 / 91</a:t>
            </a:r>
          </a:p>
        </p:txBody>
      </p:sp>
      <p:sp>
        <p:nvSpPr>
          <p:cNvPr id="8" name="text-38">
            <a:extLst xmlns:a="http://schemas.openxmlformats.org/drawingml/2006/main">
              <a:ext uri="{FF2B5EF4-FFF2-40B4-BE49-F238E27FC236}">
                <a16:creationId xmlns:a16="http://schemas.microsoft.com/office/drawing/2014/main" id="{03EA010E-70C2-4294-AB4C-64987C4D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39">
            <a:extLst xmlns:a="http://schemas.openxmlformats.org/drawingml/2006/main">
              <a:ext uri="{FF2B5EF4-FFF2-40B4-BE49-F238E27FC236}">
                <a16:creationId xmlns:a16="http://schemas.microsoft.com/office/drawing/2014/main" id="{B041B31A-CE1B-45CE-8825-61F12E6F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40">
            <a:extLst xmlns:a="http://schemas.openxmlformats.org/drawingml/2006/main">
              <a:ext uri="{FF2B5EF4-FFF2-40B4-BE49-F238E27FC236}">
                <a16:creationId xmlns:a16="http://schemas.microsoft.com/office/drawing/2014/main" id="{37932B3F-1157-4985-9517-93C8D9AF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看清现状</a:t>
            </a:r>
          </a:p>
        </p:txBody>
      </p:sp>
      <p:sp>
        <p:nvSpPr>
          <p:cNvPr id="11" name="text-41">
            <a:extLst xmlns:a="http://schemas.openxmlformats.org/drawingml/2006/main">
              <a:ext uri="{FF2B5EF4-FFF2-40B4-BE49-F238E27FC236}">
                <a16:creationId xmlns:a16="http://schemas.microsoft.com/office/drawing/2014/main" id="{C1AF099B-AC48-492F-A6C8-EDDACED4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知道哪些已证实，哪些尚未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知；发现目标与资源冲突。</a:t>
            </a:r>
          </a:p>
        </p:txBody>
      </p:sp>
      <p:sp>
        <p:nvSpPr>
          <p:cNvPr id="12" name="text-42">
            <a:extLst xmlns:a="http://schemas.openxmlformats.org/drawingml/2006/main">
              <a:ext uri="{FF2B5EF4-FFF2-40B4-BE49-F238E27FC236}">
                <a16:creationId xmlns:a16="http://schemas.microsoft.com/office/drawing/2014/main" id="{38AC79A1-73FC-44B1-A365-8069AB2D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43">
            <a:extLst xmlns:a="http://schemas.openxmlformats.org/drawingml/2006/main">
              <a:ext uri="{FF2B5EF4-FFF2-40B4-BE49-F238E27FC236}">
                <a16:creationId xmlns:a16="http://schemas.microsoft.com/office/drawing/2014/main" id="{6D849ADE-76B6-4F03-9726-696D53B5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0B68F5AD-44DB-48E6-90DB-A845A4C9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形成选择</a:t>
            </a:r>
          </a:p>
        </p:txBody>
      </p:sp>
      <p:sp>
        <p:nvSpPr>
          <p:cNvPr id="15" name="text-45">
            <a:extLst xmlns:a="http://schemas.openxmlformats.org/drawingml/2006/main">
              <a:ext uri="{FF2B5EF4-FFF2-40B4-BE49-F238E27FC236}">
                <a16:creationId xmlns:a16="http://schemas.microsoft.com/office/drawing/2014/main" id="{4EAAB17C-D42E-404D-8918-229224B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生成真实备选，比较代价、风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险、可逆性与反转条件。</a:t>
            </a:r>
          </a:p>
        </p:txBody>
      </p:sp>
      <p:sp>
        <p:nvSpPr>
          <p:cNvPr id="16" name="text-46">
            <a:extLst xmlns:a="http://schemas.openxmlformats.org/drawingml/2006/main">
              <a:ext uri="{FF2B5EF4-FFF2-40B4-BE49-F238E27FC236}">
                <a16:creationId xmlns:a16="http://schemas.microsoft.com/office/drawing/2014/main" id="{9E96BDF9-FF02-4EC4-9C03-0816FC50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47">
            <a:extLst xmlns:a="http://schemas.openxmlformats.org/drawingml/2006/main">
              <a:ext uri="{FF2B5EF4-FFF2-40B4-BE49-F238E27FC236}">
                <a16:creationId xmlns:a16="http://schemas.microsoft.com/office/drawing/2014/main" id="{33368DBD-9548-4A05-ADDE-42882539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48">
            <a:extLst xmlns:a="http://schemas.openxmlformats.org/drawingml/2006/main">
              <a:ext uri="{FF2B5EF4-FFF2-40B4-BE49-F238E27FC236}">
                <a16:creationId xmlns:a16="http://schemas.microsoft.com/office/drawing/2014/main" id="{9C88C1DE-28C1-41E9-939F-4242C35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推动修正</a:t>
            </a:r>
          </a:p>
        </p:txBody>
      </p:sp>
      <p:sp>
        <p:nvSpPr>
          <p:cNvPr id="19" name="text-49">
            <a:extLst xmlns:a="http://schemas.openxmlformats.org/drawingml/2006/main">
              <a:ext uri="{FF2B5EF4-FFF2-40B4-BE49-F238E27FC236}">
                <a16:creationId xmlns:a16="http://schemas.microsoft.com/office/drawing/2014/main" id="{12E7E804-9CF6-436D-A77B-70FA0F68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在授权内行动，观察结果，再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更新方案和相关判断。</a:t>
            </a:r>
          </a:p>
        </p:txBody>
      </p:sp>
    </p:spTree>
    <p:extLst>
      <p:ext uri="{BB962C8B-B14F-4D97-AF65-F5344CB8AC3E}">
        <p14:creationId xmlns:p14="http://schemas.microsoft.com/office/powerpoint/2010/main" val="391292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50">
            <a:extLst xmlns:a="http://schemas.openxmlformats.org/drawingml/2006/main">
              <a:ext uri="{FF2B5EF4-FFF2-40B4-BE49-F238E27FC236}">
                <a16:creationId xmlns:a16="http://schemas.microsoft.com/office/drawing/2014/main" id="{A6435D86-5152-4C67-B7C8-118994B3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 设计基础</a:t>
            </a:r>
          </a:p>
        </p:txBody>
      </p:sp>
      <p:sp>
        <p:nvSpPr>
          <p:cNvPr id="2" name="slide-title-51">
            <a:extLst xmlns:a="http://schemas.openxmlformats.org/drawingml/2006/main">
              <a:ext uri="{FF2B5EF4-FFF2-40B4-BE49-F238E27FC236}">
                <a16:creationId xmlns:a16="http://schemas.microsoft.com/office/drawing/2014/main" id="{2F82C6A8-FCC0-4BC8-A077-6ABDA08D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三类理论提供不同的启发</a:t>
            </a:r>
          </a:p>
        </p:txBody>
      </p:sp>
      <p:sp>
        <p:nvSpPr>
          <p:cNvPr id="3" name="claim-52">
            <a:extLst xmlns:a="http://schemas.openxmlformats.org/drawingml/2006/main">
              <a:ext uri="{FF2B5EF4-FFF2-40B4-BE49-F238E27FC236}">
                <a16:creationId xmlns:a16="http://schemas.microsoft.com/office/drawing/2014/main" id="{F981D4D2-5EE4-4279-B66A-FCB77654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原理论、现代控制知识与本项目设计需要分开表述。</a:t>
            </a:r>
          </a:p>
        </p:txBody>
      </p:sp>
      <p:sp>
        <p:nvSpPr>
          <p:cNvPr id="4" name="box-53">
            <a:extLst xmlns:a="http://schemas.openxmlformats.org/drawingml/2006/main">
              <a:ext uri="{FF2B5EF4-FFF2-40B4-BE49-F238E27FC236}">
                <a16:creationId xmlns:a16="http://schemas.microsoft.com/office/drawing/2014/main" id="{FB803ED5-0F11-4EC9-94C6-CA9FB24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4">
            <a:extLst xmlns:a="http://schemas.openxmlformats.org/drawingml/2006/main">
              <a:ext uri="{FF2B5EF4-FFF2-40B4-BE49-F238E27FC236}">
                <a16:creationId xmlns:a16="http://schemas.microsoft.com/office/drawing/2014/main" id="{AF298390-754A-459D-930B-F8351647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5">
            <a:extLst xmlns:a="http://schemas.openxmlformats.org/drawingml/2006/main">
              <a:ext uri="{FF2B5EF4-FFF2-40B4-BE49-F238E27FC236}">
                <a16:creationId xmlns:a16="http://schemas.microsoft.com/office/drawing/2014/main" id="{8F19AC51-8327-43B3-9807-8EA2A181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6">
            <a:extLst xmlns:a="http://schemas.openxmlformats.org/drawingml/2006/main">
              <a:ext uri="{FF2B5EF4-FFF2-40B4-BE49-F238E27FC236}">
                <a16:creationId xmlns:a16="http://schemas.microsoft.com/office/drawing/2014/main" id="{C6C82C7E-84E1-4357-A2F0-CE6877D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05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10329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来源方向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借鉴什么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本系统中的应用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9986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工程控制与现代控制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状态、观测、干预与反馈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看清测量误差、效果延迟和调整幅度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986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系统工程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整体目标、资源、接口与验证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检查各领域组合是否满足共同约束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986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综合集成方法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结合具体资料、人的判断和计算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用证据与实际结果持续修正认识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285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7">
            <a:extLst xmlns:a="http://schemas.openxmlformats.org/drawingml/2006/main">
              <a:ext uri="{FF2B5EF4-FFF2-40B4-BE49-F238E27FC236}">
                <a16:creationId xmlns:a16="http://schemas.microsoft.com/office/drawing/2014/main" id="{6D5F7B24-4B1E-4AC7-BB23-18A0E231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 设计基础</a:t>
            </a:r>
          </a:p>
        </p:txBody>
      </p:sp>
      <p:sp>
        <p:nvSpPr>
          <p:cNvPr id="2" name="slide-title-58">
            <a:extLst xmlns:a="http://schemas.openxmlformats.org/drawingml/2006/main">
              <a:ext uri="{FF2B5EF4-FFF2-40B4-BE49-F238E27FC236}">
                <a16:creationId xmlns:a16="http://schemas.microsoft.com/office/drawing/2014/main" id="{A3B34BF1-4C6F-4D0D-8615-BED391B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整体设计必须管理接口</a:t>
            </a:r>
          </a:p>
        </p:txBody>
      </p:sp>
      <p:sp>
        <p:nvSpPr>
          <p:cNvPr id="3" name="claim-59">
            <a:extLst xmlns:a="http://schemas.openxmlformats.org/drawingml/2006/main">
              <a:ext uri="{FF2B5EF4-FFF2-40B4-BE49-F238E27FC236}">
                <a16:creationId xmlns:a16="http://schemas.microsoft.com/office/drawing/2014/main" id="{2F648D8F-AC36-4AB1-A8C9-8907EE2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领域之间的影响，需要有责任、条件和反馈记录。</a:t>
            </a:r>
          </a:p>
        </p:txBody>
      </p:sp>
      <p:sp>
        <p:nvSpPr>
          <p:cNvPr id="4" name="box-60">
            <a:extLst xmlns:a="http://schemas.openxmlformats.org/drawingml/2006/main">
              <a:ext uri="{FF2B5EF4-FFF2-40B4-BE49-F238E27FC236}">
                <a16:creationId xmlns:a16="http://schemas.microsoft.com/office/drawing/2014/main" id="{1B2B38E0-79E6-41F6-B055-1FA947A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61">
            <a:extLst xmlns:a="http://schemas.openxmlformats.org/drawingml/2006/main">
              <a:ext uri="{FF2B5EF4-FFF2-40B4-BE49-F238E27FC236}">
                <a16:creationId xmlns:a16="http://schemas.microsoft.com/office/drawing/2014/main" id="{21979D07-96F7-49F2-87AA-080A6CB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62">
            <a:extLst xmlns:a="http://schemas.openxmlformats.org/drawingml/2006/main">
              <a:ext uri="{FF2B5EF4-FFF2-40B4-BE49-F238E27FC236}">
                <a16:creationId xmlns:a16="http://schemas.microsoft.com/office/drawing/2014/main" id="{7A61A9BE-A86E-4172-BD84-EE5BEEE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63">
            <a:extLst xmlns:a="http://schemas.openxmlformats.org/drawingml/2006/main">
              <a:ext uri="{FF2B5EF4-FFF2-40B4-BE49-F238E27FC236}">
                <a16:creationId xmlns:a16="http://schemas.microsoft.com/office/drawing/2014/main" id="{7B28A1F3-F410-4A69-A08D-09E67B3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06 / 91</a:t>
            </a:r>
          </a:p>
        </p:txBody>
      </p:sp>
      <p:sp>
        <p:nvSpPr>
          <p:cNvPr id="8" name="subhead-64">
            <a:extLst xmlns:a="http://schemas.openxmlformats.org/drawingml/2006/main">
              <a:ext uri="{FF2B5EF4-FFF2-40B4-BE49-F238E27FC236}">
                <a16:creationId xmlns:a16="http://schemas.microsoft.com/office/drawing/2014/main" id="{72E1638B-5D67-4484-ADAA-2839FAE7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分工</a:t>
            </a:r>
          </a:p>
        </p:txBody>
      </p:sp>
      <p:sp>
        <p:nvSpPr>
          <p:cNvPr id="9" name="text-65">
            <a:extLst xmlns:a="http://schemas.openxmlformats.org/drawingml/2006/main">
              <a:ext uri="{FF2B5EF4-FFF2-40B4-BE49-F238E27FC236}">
                <a16:creationId xmlns:a16="http://schemas.microsoft.com/office/drawing/2014/main" id="{12E0AC6A-C14C-4F2F-83DA-A36D3F0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每个领域维护一类生活结果，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每件行动只有一个主责。</a:t>
            </a:r>
          </a:p>
        </p:txBody>
      </p:sp>
      <p:sp>
        <p:nvSpPr>
          <p:cNvPr id="10" name="subhead-66">
            <a:extLst xmlns:a="http://schemas.openxmlformats.org/drawingml/2006/main">
              <a:ext uri="{FF2B5EF4-FFF2-40B4-BE49-F238E27FC236}">
                <a16:creationId xmlns:a16="http://schemas.microsoft.com/office/drawing/2014/main" id="{670409CB-8365-41FE-A2FA-6512F09E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接口</a:t>
            </a:r>
          </a:p>
        </p:txBody>
      </p:sp>
      <p:sp>
        <p:nvSpPr>
          <p:cNvPr id="11" name="text-67">
            <a:extLst xmlns:a="http://schemas.openxmlformats.org/drawingml/2006/main">
              <a:ext uri="{FF2B5EF4-FFF2-40B4-BE49-F238E27FC236}">
                <a16:creationId xmlns:a16="http://schemas.microsoft.com/office/drawing/2014/main" id="{17D0C86B-DE56-40A6-98DC-1FBC057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记录它影响谁、需要什么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资源、何时产生效果。</a:t>
            </a:r>
          </a:p>
        </p:txBody>
      </p:sp>
      <p:sp>
        <p:nvSpPr>
          <p:cNvPr id="12" name="subhead-68">
            <a:extLst xmlns:a="http://schemas.openxmlformats.org/drawingml/2006/main">
              <a:ext uri="{FF2B5EF4-FFF2-40B4-BE49-F238E27FC236}">
                <a16:creationId xmlns:a16="http://schemas.microsoft.com/office/drawing/2014/main" id="{0B76FEBA-B3B3-4A10-BDE6-E7E9398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整体检查</a:t>
            </a:r>
          </a:p>
        </p:txBody>
      </p:sp>
      <p:sp>
        <p:nvSpPr>
          <p:cNvPr id="13" name="text-69">
            <a:extLst xmlns:a="http://schemas.openxmlformats.org/drawingml/2006/main">
              <a:ext uri="{FF2B5EF4-FFF2-40B4-BE49-F238E27FC236}">
                <a16:creationId xmlns:a16="http://schemas.microsoft.com/office/drawing/2014/main" id="{8AD8C852-9A0E-4677-AE08-C8D7F40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局部收益不能自动抵消另一领域的底线损害。</a:t>
            </a:r>
          </a:p>
        </p:txBody>
      </p:sp>
      <p:sp>
        <p:nvSpPr>
          <p:cNvPr id="14" name="subhead-70">
            <a:extLst xmlns:a="http://schemas.openxmlformats.org/drawingml/2006/main">
              <a:ext uri="{FF2B5EF4-FFF2-40B4-BE49-F238E27FC236}">
                <a16:creationId xmlns:a16="http://schemas.microsoft.com/office/drawing/2014/main" id="{10556433-046B-4A0D-906F-12B73725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验证目的</a:t>
            </a:r>
          </a:p>
        </p:txBody>
      </p:sp>
      <p:sp>
        <p:nvSpPr>
          <p:cNvPr id="15" name="text-71">
            <a:extLst xmlns:a="http://schemas.openxmlformats.org/drawingml/2006/main">
              <a:ext uri="{FF2B5EF4-FFF2-40B4-BE49-F238E27FC236}">
                <a16:creationId xmlns:a16="http://schemas.microsoft.com/office/drawing/2014/main" id="{D27784EE-CD58-4F5D-9036-12071669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同时问“任务是否完成”和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“是否帮助了原目标”。</a:t>
            </a:r>
          </a:p>
        </p:txBody>
      </p:sp>
    </p:spTree>
    <p:extLst>
      <p:ext uri="{BB962C8B-B14F-4D97-AF65-F5344CB8AC3E}">
        <p14:creationId xmlns:p14="http://schemas.microsoft.com/office/powerpoint/2010/main" val="1823836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72">
            <a:extLst xmlns:a="http://schemas.openxmlformats.org/drawingml/2006/main">
              <a:ext uri="{FF2B5EF4-FFF2-40B4-BE49-F238E27FC236}">
                <a16:creationId xmlns:a16="http://schemas.microsoft.com/office/drawing/2014/main" id="{A2673B1F-7EA0-4864-B34F-427D3907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 设计基础</a:t>
            </a:r>
          </a:p>
        </p:txBody>
      </p:sp>
      <p:sp>
        <p:nvSpPr>
          <p:cNvPr id="2" name="slide-title-73">
            <a:extLst xmlns:a="http://schemas.openxmlformats.org/drawingml/2006/main">
              <a:ext uri="{FF2B5EF4-FFF2-40B4-BE49-F238E27FC236}">
                <a16:creationId xmlns:a16="http://schemas.microsoft.com/office/drawing/2014/main" id="{0F9CB0E6-E178-4EA4-B34D-9FA6CDB5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观测指标只是状态的线索</a:t>
            </a:r>
          </a:p>
        </p:txBody>
      </p:sp>
      <p:sp>
        <p:nvSpPr>
          <p:cNvPr id="3" name="claim-74">
            <a:extLst xmlns:a="http://schemas.openxmlformats.org/drawingml/2006/main">
              <a:ext uri="{FF2B5EF4-FFF2-40B4-BE49-F238E27FC236}">
                <a16:creationId xmlns:a16="http://schemas.microsoft.com/office/drawing/2014/main" id="{5F018CAA-82A1-4118-B29F-EA6A7742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系统必须保存“看到了什么”与“由此推断什么”的区别。</a:t>
            </a:r>
          </a:p>
        </p:txBody>
      </p:sp>
      <p:sp>
        <p:nvSpPr>
          <p:cNvPr id="4" name="box-75">
            <a:extLst xmlns:a="http://schemas.openxmlformats.org/drawingml/2006/main">
              <a:ext uri="{FF2B5EF4-FFF2-40B4-BE49-F238E27FC236}">
                <a16:creationId xmlns:a16="http://schemas.microsoft.com/office/drawing/2014/main" id="{008936DF-3A1F-473B-81A1-CAF684E1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76">
            <a:extLst xmlns:a="http://schemas.openxmlformats.org/drawingml/2006/main">
              <a:ext uri="{FF2B5EF4-FFF2-40B4-BE49-F238E27FC236}">
                <a16:creationId xmlns:a16="http://schemas.microsoft.com/office/drawing/2014/main" id="{FDCDE33F-DB1D-4405-AF89-B5F9F9BF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77">
            <a:extLst xmlns:a="http://schemas.openxmlformats.org/drawingml/2006/main">
              <a:ext uri="{FF2B5EF4-FFF2-40B4-BE49-F238E27FC236}">
                <a16:creationId xmlns:a16="http://schemas.microsoft.com/office/drawing/2014/main" id="{0D582E2E-0739-4B0F-8E17-CE75353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78">
            <a:extLst xmlns:a="http://schemas.openxmlformats.org/drawingml/2006/main">
              <a:ext uri="{FF2B5EF4-FFF2-40B4-BE49-F238E27FC236}">
                <a16:creationId xmlns:a16="http://schemas.microsoft.com/office/drawing/2014/main" id="{41ACAF08-C0F2-4C7E-9F5B-FC17B28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07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8332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真实关切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可观察线索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需要防止的误判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7989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学习能力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练习、作品、独立完成情况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学习时长增加就等于能力增长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7989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工作进展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交付物、验收、实际完成记录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日历上有计划就等于任务完成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7989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关系体验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自愿沟通、履约情况、本人感受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消息数量代表关系质量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7989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负荷与恢复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本人描述、作息和相关记录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单一数字代表全部状态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565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79">
            <a:extLst xmlns:a="http://schemas.openxmlformats.org/drawingml/2006/main">
              <a:ext uri="{FF2B5EF4-FFF2-40B4-BE49-F238E27FC236}">
                <a16:creationId xmlns:a16="http://schemas.microsoft.com/office/drawing/2014/main" id="{6F13966D-2623-4063-AF1F-3AE36F5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 设计基础</a:t>
            </a:r>
          </a:p>
        </p:txBody>
      </p:sp>
      <p:sp>
        <p:nvSpPr>
          <p:cNvPr id="2" name="slide-title-80">
            <a:extLst xmlns:a="http://schemas.openxmlformats.org/drawingml/2006/main">
              <a:ext uri="{FF2B5EF4-FFF2-40B4-BE49-F238E27FC236}">
                <a16:creationId xmlns:a16="http://schemas.microsoft.com/office/drawing/2014/main" id="{3AEEB746-1EA6-4CA9-8786-BE3DDBF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反馈需要等待结果显现</a:t>
            </a:r>
          </a:p>
        </p:txBody>
      </p:sp>
      <p:sp>
        <p:nvSpPr>
          <p:cNvPr id="3" name="claim-81">
            <a:extLst xmlns:a="http://schemas.openxmlformats.org/drawingml/2006/main">
              <a:ext uri="{FF2B5EF4-FFF2-40B4-BE49-F238E27FC236}">
                <a16:creationId xmlns:a16="http://schemas.microsoft.com/office/drawing/2014/main" id="{A0EC1858-BBC0-4DED-BCAE-DD95BBE6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记录可以频繁，策略调整要考虑反馈延迟。</a:t>
            </a:r>
          </a:p>
        </p:txBody>
      </p:sp>
      <p:sp>
        <p:nvSpPr>
          <p:cNvPr id="4" name="box-82">
            <a:extLst xmlns:a="http://schemas.openxmlformats.org/drawingml/2006/main">
              <a:ext uri="{FF2B5EF4-FFF2-40B4-BE49-F238E27FC236}">
                <a16:creationId xmlns:a16="http://schemas.microsoft.com/office/drawing/2014/main" id="{EC92C556-9D23-4B99-92E7-D7851C6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3">
            <a:extLst xmlns:a="http://schemas.openxmlformats.org/drawingml/2006/main">
              <a:ext uri="{FF2B5EF4-FFF2-40B4-BE49-F238E27FC236}">
                <a16:creationId xmlns:a16="http://schemas.microsoft.com/office/drawing/2014/main" id="{87542B1A-7922-4EBC-9ADC-66B149F3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4">
            <a:extLst xmlns:a="http://schemas.openxmlformats.org/drawingml/2006/main">
              <a:ext uri="{FF2B5EF4-FFF2-40B4-BE49-F238E27FC236}">
                <a16:creationId xmlns:a16="http://schemas.microsoft.com/office/drawing/2014/main" id="{2433E50E-5F16-425E-84FA-A3A78F2A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85">
            <a:extLst xmlns:a="http://schemas.openxmlformats.org/drawingml/2006/main">
              <a:ext uri="{FF2B5EF4-FFF2-40B4-BE49-F238E27FC236}">
                <a16:creationId xmlns:a16="http://schemas.microsoft.com/office/drawing/2014/main" id="{1E846776-A65B-4729-9C15-9B45DE3A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08 / 91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F7534A19-87A6-4621-8FB4-99AB59B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87">
            <a:extLst xmlns:a="http://schemas.openxmlformats.org/drawingml/2006/main">
              <a:ext uri="{FF2B5EF4-FFF2-40B4-BE49-F238E27FC236}">
                <a16:creationId xmlns:a16="http://schemas.microsoft.com/office/drawing/2014/main" id="{1D38F529-DFF9-4611-BE68-B72A643D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9F13824B-7207-4530-8E70-68AB5C22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先写预期</a:t>
            </a:r>
          </a:p>
        </p:txBody>
      </p:sp>
      <p:sp>
        <p:nvSpPr>
          <p:cNvPr id="11" name="text-89">
            <a:extLst xmlns:a="http://schemas.openxmlformats.org/drawingml/2006/main">
              <a:ext uri="{FF2B5EF4-FFF2-40B4-BE49-F238E27FC236}">
                <a16:creationId xmlns:a16="http://schemas.microsoft.com/office/drawing/2014/main" id="{73706B76-05C9-447C-BA84-F7D176C2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行动希望改变什么？何时可能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看到结果？用什么观察？</a:t>
            </a:r>
          </a:p>
        </p:txBody>
      </p:sp>
      <p:sp>
        <p:nvSpPr>
          <p:cNvPr id="12" name="text-90">
            <a:extLst xmlns:a="http://schemas.openxmlformats.org/drawingml/2006/main">
              <a:ext uri="{FF2B5EF4-FFF2-40B4-BE49-F238E27FC236}">
                <a16:creationId xmlns:a16="http://schemas.microsoft.com/office/drawing/2014/main" id="{7F11E5FE-065A-442F-928F-29F71FF6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91">
            <a:extLst xmlns:a="http://schemas.openxmlformats.org/drawingml/2006/main">
              <a:ext uri="{FF2B5EF4-FFF2-40B4-BE49-F238E27FC236}">
                <a16:creationId xmlns:a16="http://schemas.microsoft.com/office/drawing/2014/main" id="{74F75374-559B-46CA-8503-7A24E0F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92">
            <a:extLst xmlns:a="http://schemas.openxmlformats.org/drawingml/2006/main">
              <a:ext uri="{FF2B5EF4-FFF2-40B4-BE49-F238E27FC236}">
                <a16:creationId xmlns:a16="http://schemas.microsoft.com/office/drawing/2014/main" id="{424176CA-89DB-432B-A8BD-5C845880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区分原因</a:t>
            </a:r>
          </a:p>
        </p:txBody>
      </p:sp>
      <p:sp>
        <p:nvSpPr>
          <p:cNvPr id="15" name="text-93">
            <a:extLst xmlns:a="http://schemas.openxmlformats.org/drawingml/2006/main">
              <a:ext uri="{FF2B5EF4-FFF2-40B4-BE49-F238E27FC236}">
                <a16:creationId xmlns:a16="http://schemas.microsoft.com/office/drawing/2014/main" id="{396A05FF-A65E-4565-9552-29B2032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偏差可能来自测量、执行、机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制假设或外部环境。</a:t>
            </a:r>
          </a:p>
        </p:txBody>
      </p:sp>
      <p:sp>
        <p:nvSpPr>
          <p:cNvPr id="16" name="text-94">
            <a:extLst xmlns:a="http://schemas.openxmlformats.org/drawingml/2006/main">
              <a:ext uri="{FF2B5EF4-FFF2-40B4-BE49-F238E27FC236}">
                <a16:creationId xmlns:a16="http://schemas.microsoft.com/office/drawing/2014/main" id="{92B886C4-BAEB-4524-B8F4-1BD7E8A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95">
            <a:extLst xmlns:a="http://schemas.openxmlformats.org/drawingml/2006/main">
              <a:ext uri="{FF2B5EF4-FFF2-40B4-BE49-F238E27FC236}">
                <a16:creationId xmlns:a16="http://schemas.microsoft.com/office/drawing/2014/main" id="{6D7AE0F4-22B0-437C-8D55-478E99E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96">
            <a:extLst xmlns:a="http://schemas.openxmlformats.org/drawingml/2006/main">
              <a:ext uri="{FF2B5EF4-FFF2-40B4-BE49-F238E27FC236}">
                <a16:creationId xmlns:a16="http://schemas.microsoft.com/office/drawing/2014/main" id="{5AC80F07-2185-42C7-A373-95039CF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适度调整</a:t>
            </a:r>
          </a:p>
        </p:txBody>
      </p:sp>
      <p:sp>
        <p:nvSpPr>
          <p:cNvPr id="19" name="text-97">
            <a:extLst xmlns:a="http://schemas.openxmlformats.org/drawingml/2006/main">
              <a:ext uri="{FF2B5EF4-FFF2-40B4-BE49-F238E27FC236}">
                <a16:creationId xmlns:a16="http://schemas.microsoft.com/office/drawing/2014/main" id="{DCE3C9E0-A606-4E56-BECA-B55B2C18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先检查条件再改动；尚未成熟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的结果不直接算失败。</a:t>
            </a:r>
          </a:p>
        </p:txBody>
      </p:sp>
    </p:spTree>
    <p:extLst>
      <p:ext uri="{BB962C8B-B14F-4D97-AF65-F5344CB8AC3E}">
        <p14:creationId xmlns:p14="http://schemas.microsoft.com/office/powerpoint/2010/main" val="1807432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98">
            <a:extLst xmlns:a="http://schemas.openxmlformats.org/drawingml/2006/main">
              <a:ext uri="{FF2B5EF4-FFF2-40B4-BE49-F238E27FC236}">
                <a16:creationId xmlns:a16="http://schemas.microsoft.com/office/drawing/2014/main" id="{00034C71-EA5D-4701-BC83-8DC10CC1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99">
            <a:extLst xmlns:a="http://schemas.openxmlformats.org/drawingml/2006/main">
              <a:ext uri="{FF2B5EF4-FFF2-40B4-BE49-F238E27FC236}">
                <a16:creationId xmlns:a16="http://schemas.microsoft.com/office/drawing/2014/main" id="{5BE2F391-DB4F-4F73-9F11-9BA8249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一套架构承载四种不同职责</a:t>
            </a:r>
          </a:p>
        </p:txBody>
      </p:sp>
      <p:sp>
        <p:nvSpPr>
          <p:cNvPr id="3" name="claim-100">
            <a:extLst xmlns:a="http://schemas.openxmlformats.org/drawingml/2006/main">
              <a:ext uri="{FF2B5EF4-FFF2-40B4-BE49-F238E27FC236}">
                <a16:creationId xmlns:a16="http://schemas.microsoft.com/office/drawing/2014/main" id="{640A56B8-78B0-4B45-ABAF-74E477B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用户定方向，总控做协调，领域维护结果，能力模块承担具体方法。</a:t>
            </a:r>
          </a:p>
        </p:txBody>
      </p:sp>
      <p:sp>
        <p:nvSpPr>
          <p:cNvPr id="4" name="box-101">
            <a:extLst xmlns:a="http://schemas.openxmlformats.org/drawingml/2006/main">
              <a:ext uri="{FF2B5EF4-FFF2-40B4-BE49-F238E27FC236}">
                <a16:creationId xmlns:a16="http://schemas.microsoft.com/office/drawing/2014/main" id="{51932884-E798-41E8-AFF1-15B84CA4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2">
            <a:extLst xmlns:a="http://schemas.openxmlformats.org/drawingml/2006/main">
              <a:ext uri="{FF2B5EF4-FFF2-40B4-BE49-F238E27FC236}">
                <a16:creationId xmlns:a16="http://schemas.microsoft.com/office/drawing/2014/main" id="{241D463B-A9B3-4D97-8FF9-A5A4034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3">
            <a:extLst xmlns:a="http://schemas.openxmlformats.org/drawingml/2006/main">
              <a:ext uri="{FF2B5EF4-FFF2-40B4-BE49-F238E27FC236}">
                <a16:creationId xmlns:a16="http://schemas.microsoft.com/office/drawing/2014/main" id="{8F039907-89AA-4148-A083-D04B3F3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4">
            <a:extLst xmlns:a="http://schemas.openxmlformats.org/drawingml/2006/main">
              <a:ext uri="{FF2B5EF4-FFF2-40B4-BE49-F238E27FC236}">
                <a16:creationId xmlns:a16="http://schemas.microsoft.com/office/drawing/2014/main" id="{EDCB4F6D-3D72-41C1-B525-B16CAE0A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09 / 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CA2FE-EB5C-46F3-9745-08B2FC4F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14300" cy="390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B84A2-3F35-4B95-B128-9209201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57663"/>
            <a:ext cx="571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83185-38A4-43FB-9B53-3F07B83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57663"/>
            <a:ext cx="571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416D-98C3-456E-9B26-49570B89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00600"/>
            <a:ext cx="114300" cy="390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B4D90-740B-4266-AF75-41CF65C7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00600"/>
            <a:ext cx="114300" cy="390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3" name="box-105">
            <a:extLst xmlns:a="http://schemas.openxmlformats.org/drawingml/2006/main">
              <a:ext uri="{FF2B5EF4-FFF2-40B4-BE49-F238E27FC236}">
                <a16:creationId xmlns:a16="http://schemas.microsoft.com/office/drawing/2014/main" id="{E5C939A1-8023-48CD-9926-FA6B884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14550"/>
            <a:ext cx="4495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14" name="text-106">
            <a:extLst xmlns:a="http://schemas.openxmlformats.org/drawingml/2006/main">
              <a:ext uri="{FF2B5EF4-FFF2-40B4-BE49-F238E27FC236}">
                <a16:creationId xmlns:a16="http://schemas.microsoft.com/office/drawing/2014/main" id="{7E9414F3-0A7F-4979-8ADD-3901B9D2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66950"/>
            <a:ext cx="41719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用户价值与目标</a:t>
            </a:r>
          </a:p>
        </p:txBody>
      </p:sp>
      <p:sp>
        <p:nvSpPr>
          <p:cNvPr id="15" name="text-107">
            <a:extLst xmlns:a="http://schemas.openxmlformats.org/drawingml/2006/main">
              <a:ext uri="{FF2B5EF4-FFF2-40B4-BE49-F238E27FC236}">
                <a16:creationId xmlns:a16="http://schemas.microsoft.com/office/drawing/2014/main" id="{B187471C-77B5-4531-8E61-6E06BEFB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14625"/>
            <a:ext cx="41719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底线、承诺与取舍</a:t>
            </a:r>
          </a:p>
        </p:txBody>
      </p:sp>
      <p:sp>
        <p:nvSpPr>
          <p:cNvPr id="16" name="box-108">
            <a:extLst xmlns:a="http://schemas.openxmlformats.org/drawingml/2006/main">
              <a:ext uri="{FF2B5EF4-FFF2-40B4-BE49-F238E27FC236}">
                <a16:creationId xmlns:a16="http://schemas.microsoft.com/office/drawing/2014/main" id="{96D15239-411E-476B-8AFB-7B4BFF59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76650"/>
            <a:ext cx="44958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17" name="text-109">
            <a:extLst xmlns:a="http://schemas.openxmlformats.org/drawingml/2006/main">
              <a:ext uri="{FF2B5EF4-FFF2-40B4-BE49-F238E27FC236}">
                <a16:creationId xmlns:a16="http://schemas.microsoft.com/office/drawing/2014/main" id="{4FEF0873-2C2D-4C5F-A4DF-7E62153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29050"/>
            <a:ext cx="41719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人生总控</a:t>
            </a:r>
          </a:p>
        </p:txBody>
      </p:sp>
      <p:sp>
        <p:nvSpPr>
          <p:cNvPr id="18" name="text-110">
            <a:extLst xmlns:a="http://schemas.openxmlformats.org/drawingml/2006/main">
              <a:ext uri="{FF2B5EF4-FFF2-40B4-BE49-F238E27FC236}">
                <a16:creationId xmlns:a16="http://schemas.microsoft.com/office/drawing/2014/main" id="{33AA77E8-6703-4447-93EE-626A69E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76725"/>
            <a:ext cx="41719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协调资源、阶段与版本</a:t>
            </a:r>
          </a:p>
        </p:txBody>
      </p:sp>
      <p:sp>
        <p:nvSpPr>
          <p:cNvPr id="19" name="box-111">
            <a:extLst xmlns:a="http://schemas.openxmlformats.org/drawingml/2006/main">
              <a:ext uri="{FF2B5EF4-FFF2-40B4-BE49-F238E27FC236}">
                <a16:creationId xmlns:a16="http://schemas.microsoft.com/office/drawing/2014/main" id="{C3F53CDD-EBCD-41DB-B4B3-9FB20DFA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571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20" name="text-112">
            <a:extLst xmlns:a="http://schemas.openxmlformats.org/drawingml/2006/main">
              <a:ext uri="{FF2B5EF4-FFF2-40B4-BE49-F238E27FC236}">
                <a16:creationId xmlns:a16="http://schemas.microsoft.com/office/drawing/2014/main" id="{0D628247-4AEE-4B26-AF8A-F8F7A0F9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29050"/>
            <a:ext cx="22479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23个能力模块</a:t>
            </a:r>
          </a:p>
        </p:txBody>
      </p:sp>
      <p:sp>
        <p:nvSpPr>
          <p:cNvPr id="21" name="text-113">
            <a:extLst xmlns:a="http://schemas.openxmlformats.org/drawingml/2006/main">
              <a:ext uri="{FF2B5EF4-FFF2-40B4-BE49-F238E27FC236}">
                <a16:creationId xmlns:a16="http://schemas.microsoft.com/office/drawing/2014/main" id="{CE163709-7F69-4A95-898E-E98C264D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76725"/>
            <a:ext cx="22479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提供知识、方法与工具</a:t>
            </a:r>
          </a:p>
        </p:txBody>
      </p:sp>
      <p:sp>
        <p:nvSpPr>
          <p:cNvPr id="22" name="box-114">
            <a:extLst xmlns:a="http://schemas.openxmlformats.org/drawingml/2006/main">
              <a:ext uri="{FF2B5EF4-FFF2-40B4-BE49-F238E27FC236}">
                <a16:creationId xmlns:a16="http://schemas.microsoft.com/office/drawing/2014/main" id="{9F5774BF-10AE-48C4-BEEE-B15EA253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571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34474F44-159E-40DC-B26F-AE7AEB2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29050"/>
            <a:ext cx="22479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R01复核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2086CEBB-6072-4FB3-A3D0-4F03B62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76725"/>
            <a:ext cx="22479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查证据、反例与遗漏</a:t>
            </a:r>
          </a:p>
        </p:txBody>
      </p:sp>
      <p:sp>
        <p:nvSpPr>
          <p:cNvPr id="25" name="box-117">
            <a:extLst xmlns:a="http://schemas.openxmlformats.org/drawingml/2006/main">
              <a:ext uri="{FF2B5EF4-FFF2-40B4-BE49-F238E27FC236}">
                <a16:creationId xmlns:a16="http://schemas.microsoft.com/office/drawing/2014/main" id="{66777892-DF05-4831-9C59-71821CE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38750"/>
            <a:ext cx="44958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36B807D5-3F5A-4DBB-9B08-B82B406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391150"/>
            <a:ext cx="41719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9个人生领域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2AC67D74-44B0-40FD-A3D5-E1C45384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838825"/>
            <a:ext cx="41719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行动与结果反馈</a:t>
            </a:r>
          </a:p>
        </p:txBody>
      </p:sp>
    </p:spTree>
    <p:extLst>
      <p:ext uri="{BB962C8B-B14F-4D97-AF65-F5344CB8AC3E}">
        <p14:creationId xmlns:p14="http://schemas.microsoft.com/office/powerpoint/2010/main" val="477616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20">
            <a:extLst xmlns:a="http://schemas.openxmlformats.org/drawingml/2006/main">
              <a:ext uri="{FF2B5EF4-FFF2-40B4-BE49-F238E27FC236}">
                <a16:creationId xmlns:a16="http://schemas.microsoft.com/office/drawing/2014/main" id="{1120DD21-B662-407F-8990-17B02AEE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121">
            <a:extLst xmlns:a="http://schemas.openxmlformats.org/drawingml/2006/main">
              <a:ext uri="{FF2B5EF4-FFF2-40B4-BE49-F238E27FC236}">
                <a16:creationId xmlns:a16="http://schemas.microsoft.com/office/drawing/2014/main" id="{59E94CB9-CBF5-483D-B1FD-2B8943D7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领域、能力、阶段不能混为一谈</a:t>
            </a:r>
          </a:p>
        </p:txBody>
      </p:sp>
      <p:sp>
        <p:nvSpPr>
          <p:cNvPr id="3" name="claim-122">
            <a:extLst xmlns:a="http://schemas.openxmlformats.org/drawingml/2006/main">
              <a:ext uri="{FF2B5EF4-FFF2-40B4-BE49-F238E27FC236}">
                <a16:creationId xmlns:a16="http://schemas.microsoft.com/office/drawing/2014/main" id="{99F52A12-1C00-4DD4-9380-87A651B6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三个编号体系分别回答：管什么、用什么、做到哪一步。</a:t>
            </a:r>
          </a:p>
        </p:txBody>
      </p:sp>
      <p:sp>
        <p:nvSpPr>
          <p:cNvPr id="4" name="box-123">
            <a:extLst xmlns:a="http://schemas.openxmlformats.org/drawingml/2006/main">
              <a:ext uri="{FF2B5EF4-FFF2-40B4-BE49-F238E27FC236}">
                <a16:creationId xmlns:a16="http://schemas.microsoft.com/office/drawing/2014/main" id="{980EA62E-FA10-4FAB-B172-1E929D42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4">
            <a:extLst xmlns:a="http://schemas.openxmlformats.org/drawingml/2006/main">
              <a:ext uri="{FF2B5EF4-FFF2-40B4-BE49-F238E27FC236}">
                <a16:creationId xmlns:a16="http://schemas.microsoft.com/office/drawing/2014/main" id="{9F4E2E3A-D0F1-4F97-8755-31B9E40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5">
            <a:extLst xmlns:a="http://schemas.openxmlformats.org/drawingml/2006/main">
              <a:ext uri="{FF2B5EF4-FFF2-40B4-BE49-F238E27FC236}">
                <a16:creationId xmlns:a16="http://schemas.microsoft.com/office/drawing/2014/main" id="{35D8D85A-216A-498E-9FB6-C345B6E0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6">
            <a:extLst xmlns:a="http://schemas.openxmlformats.org/drawingml/2006/main">
              <a:ext uri="{FF2B5EF4-FFF2-40B4-BE49-F238E27FC236}">
                <a16:creationId xmlns:a16="http://schemas.microsoft.com/office/drawing/2014/main" id="{A90A36D7-6A7A-4B8E-9D06-90833D46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10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对象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数量与编号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职责与交付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人生领域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9个：D01—D09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维护健康、关系、职业等生活结果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共享能力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23个：M01—M23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用知识、方法和工具产出分析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决策阶段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8个：S1—S8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规定当前必须完成的产物与检查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总控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主协调者承担8项职能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协调目标、版本、资源、执行与反馈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复核角色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R01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检查证据、反例、遗漏与跨域后果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25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27">
            <a:extLst xmlns:a="http://schemas.openxmlformats.org/drawingml/2006/main">
              <a:ext uri="{FF2B5EF4-FFF2-40B4-BE49-F238E27FC236}">
                <a16:creationId xmlns:a16="http://schemas.microsoft.com/office/drawing/2014/main" id="{91E04D83-BECC-47A3-9C47-6AC193F5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128">
            <a:extLst xmlns:a="http://schemas.openxmlformats.org/drawingml/2006/main">
              <a:ext uri="{FF2B5EF4-FFF2-40B4-BE49-F238E27FC236}">
                <a16:creationId xmlns:a16="http://schemas.microsoft.com/office/drawing/2014/main" id="{253DA5C2-9DCA-431D-8295-4C98D426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用户价值位于总控之上</a:t>
            </a:r>
          </a:p>
        </p:txBody>
      </p:sp>
      <p:sp>
        <p:nvSpPr>
          <p:cNvPr id="3" name="box-129">
            <a:extLst xmlns:a="http://schemas.openxmlformats.org/drawingml/2006/main">
              <a:ext uri="{FF2B5EF4-FFF2-40B4-BE49-F238E27FC236}">
                <a16:creationId xmlns:a16="http://schemas.microsoft.com/office/drawing/2014/main" id="{0D0C8655-2C8C-4897-BAC9-72A3925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30">
            <a:extLst xmlns:a="http://schemas.openxmlformats.org/drawingml/2006/main">
              <a:ext uri="{FF2B5EF4-FFF2-40B4-BE49-F238E27FC236}">
                <a16:creationId xmlns:a16="http://schemas.microsoft.com/office/drawing/2014/main" id="{E13F8A1A-5F74-4881-ABB9-8073363E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31">
            <a:extLst xmlns:a="http://schemas.openxmlformats.org/drawingml/2006/main">
              <a:ext uri="{FF2B5EF4-FFF2-40B4-BE49-F238E27FC236}">
                <a16:creationId xmlns:a16="http://schemas.microsoft.com/office/drawing/2014/main" id="{DD8D7017-A10D-4F87-9F05-133DC66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32">
            <a:extLst xmlns:a="http://schemas.openxmlformats.org/drawingml/2006/main">
              <a:ext uri="{FF2B5EF4-FFF2-40B4-BE49-F238E27FC236}">
                <a16:creationId xmlns:a16="http://schemas.microsoft.com/office/drawing/2014/main" id="{62ADBCA5-31F2-4212-8710-0C4E27AE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11 / 91</a:t>
            </a:r>
          </a:p>
        </p:txBody>
      </p:sp>
      <p:sp>
        <p:nvSpPr>
          <p:cNvPr id="7" name="subhead-133">
            <a:extLst xmlns:a="http://schemas.openxmlformats.org/drawingml/2006/main">
              <a:ext uri="{FF2B5EF4-FFF2-40B4-BE49-F238E27FC236}">
                <a16:creationId xmlns:a16="http://schemas.microsoft.com/office/drawing/2014/main" id="{8BCE9AAA-081B-4614-8530-638EDBFB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方向与目标</a:t>
            </a:r>
          </a:p>
        </p:txBody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58EFDE46-1B8E-4F5D-A787-414E4E5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当前希望改善什么，期限是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什么，哪些成果有意义。</a:t>
            </a:r>
          </a:p>
        </p:txBody>
      </p:sp>
      <p:sp>
        <p:nvSpPr>
          <p:cNvPr id="9" name="subhead-135">
            <a:extLst xmlns:a="http://schemas.openxmlformats.org/drawingml/2006/main">
              <a:ext uri="{FF2B5EF4-FFF2-40B4-BE49-F238E27FC236}">
                <a16:creationId xmlns:a16="http://schemas.microsoft.com/office/drawing/2014/main" id="{3745B13E-3FC4-4E94-8A2A-215244D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底线与承诺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8A13AC88-D3C3-4E4F-A138-CE6FB8B9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不能牺牲的条件、已答应的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事情和允许探索的范围。</a:t>
            </a:r>
          </a:p>
        </p:txBody>
      </p:sp>
      <p:sp>
        <p:nvSpPr>
          <p:cNvPr id="11" name="subhead-137">
            <a:extLst xmlns:a="http://schemas.openxmlformats.org/drawingml/2006/main">
              <a:ext uri="{FF2B5EF4-FFF2-40B4-BE49-F238E27FC236}">
                <a16:creationId xmlns:a16="http://schemas.microsoft.com/office/drawing/2014/main" id="{69D6741A-E74C-4270-9950-AB8D468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保留真实取舍</a:t>
            </a:r>
          </a:p>
        </p:txBody>
      </p:sp>
      <p:sp>
        <p:nvSpPr>
          <p:cNvPr id="12" name="text-138">
            <a:extLst xmlns:a="http://schemas.openxmlformats.org/drawingml/2006/main">
              <a:ext uri="{FF2B5EF4-FFF2-40B4-BE49-F238E27FC236}">
                <a16:creationId xmlns:a16="http://schemas.microsoft.com/office/drawing/2014/main" id="{09FBD3E8-39E7-4507-9AB7-A46E5D26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收入、关系、体验等目标不自动折成单一总分。</a:t>
            </a:r>
          </a:p>
        </p:txBody>
      </p:sp>
      <p:sp>
        <p:nvSpPr>
          <p:cNvPr id="13" name="subhead-139">
            <a:extLst xmlns:a="http://schemas.openxmlformats.org/drawingml/2006/main">
              <a:ext uri="{FF2B5EF4-FFF2-40B4-BE49-F238E27FC236}">
                <a16:creationId xmlns:a16="http://schemas.microsoft.com/office/drawing/2014/main" id="{CCA355DA-5BB2-468A-81A2-AF4DA5EB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目标变更</a:t>
            </a:r>
          </a:p>
        </p:txBody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1CFA0A7D-792A-4C7A-9A4A-1115458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系统可以提出反思；改变方向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仍以用户实际选择为准。</a:t>
            </a:r>
          </a:p>
        </p:txBody>
      </p:sp>
    </p:spTree>
    <p:extLst>
      <p:ext uri="{BB962C8B-B14F-4D97-AF65-F5344CB8AC3E}">
        <p14:creationId xmlns:p14="http://schemas.microsoft.com/office/powerpoint/2010/main" val="1982291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41">
            <a:extLst xmlns:a="http://schemas.openxmlformats.org/drawingml/2006/main">
              <a:ext uri="{FF2B5EF4-FFF2-40B4-BE49-F238E27FC236}">
                <a16:creationId xmlns:a16="http://schemas.microsoft.com/office/drawing/2014/main" id="{937DD464-6F75-43EC-BC5C-0B0DCEF6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142">
            <a:extLst xmlns:a="http://schemas.openxmlformats.org/drawingml/2006/main">
              <a:ext uri="{FF2B5EF4-FFF2-40B4-BE49-F238E27FC236}">
                <a16:creationId xmlns:a16="http://schemas.microsoft.com/office/drawing/2014/main" id="{57FAEF42-19C9-4779-98F0-29C691A9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总控先维护目标与状态</a:t>
            </a:r>
          </a:p>
        </p:txBody>
      </p:sp>
      <p:sp>
        <p:nvSpPr>
          <p:cNvPr id="3" name="claim-143">
            <a:extLst xmlns:a="http://schemas.openxmlformats.org/drawingml/2006/main">
              <a:ext uri="{FF2B5EF4-FFF2-40B4-BE49-F238E27FC236}">
                <a16:creationId xmlns:a16="http://schemas.microsoft.com/office/drawing/2014/main" id="{5BF65763-B860-4570-9C6D-5C6CC9F5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职能1—2：先确定评价基准，再建立当前事实快照。</a:t>
            </a:r>
          </a:p>
        </p:txBody>
      </p:sp>
      <p:sp>
        <p:nvSpPr>
          <p:cNvPr id="4" name="box-144">
            <a:extLst xmlns:a="http://schemas.openxmlformats.org/drawingml/2006/main">
              <a:ext uri="{FF2B5EF4-FFF2-40B4-BE49-F238E27FC236}">
                <a16:creationId xmlns:a16="http://schemas.microsoft.com/office/drawing/2014/main" id="{7F52163B-EC14-432C-BDBD-0430CA67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45">
            <a:extLst xmlns:a="http://schemas.openxmlformats.org/drawingml/2006/main">
              <a:ext uri="{FF2B5EF4-FFF2-40B4-BE49-F238E27FC236}">
                <a16:creationId xmlns:a16="http://schemas.microsoft.com/office/drawing/2014/main" id="{729F83AF-322E-4F00-A103-C3E09582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46">
            <a:extLst xmlns:a="http://schemas.openxmlformats.org/drawingml/2006/main">
              <a:ext uri="{FF2B5EF4-FFF2-40B4-BE49-F238E27FC236}">
                <a16:creationId xmlns:a16="http://schemas.microsoft.com/office/drawing/2014/main" id="{5BF2D2B3-50A7-435C-810C-C260FA9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47">
            <a:extLst xmlns:a="http://schemas.openxmlformats.org/drawingml/2006/main">
              <a:ext uri="{FF2B5EF4-FFF2-40B4-BE49-F238E27FC236}">
                <a16:creationId xmlns:a16="http://schemas.microsoft.com/office/drawing/2014/main" id="{4FEA5099-4D45-4D0C-B8D5-BF29E7D8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12 / 91</a:t>
            </a:r>
          </a:p>
        </p:txBody>
      </p:sp>
      <p:sp>
        <p:nvSpPr>
          <p:cNvPr id="8" name="subhead-148">
            <a:extLst xmlns:a="http://schemas.openxmlformats.org/drawingml/2006/main">
              <a:ext uri="{FF2B5EF4-FFF2-40B4-BE49-F238E27FC236}">
                <a16:creationId xmlns:a16="http://schemas.microsoft.com/office/drawing/2014/main" id="{66F326AB-A808-4E45-A699-7550EA1C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1 目标与约束维护</a:t>
            </a:r>
          </a:p>
        </p:txBody>
      </p:sp>
      <p:sp>
        <p:nvSpPr>
          <p:cNvPr id="9" name="text-149">
            <a:extLst xmlns:a="http://schemas.openxmlformats.org/drawingml/2006/main">
              <a:ext uri="{FF2B5EF4-FFF2-40B4-BE49-F238E27FC236}">
                <a16:creationId xmlns:a16="http://schemas.microsoft.com/office/drawing/2014/main" id="{504E912E-E5D5-4FAF-B4AF-4290CA7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输入用户目标、期限、底线和承诺；输出有版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本的约束清单。</a:t>
            </a:r>
          </a:p>
        </p:txBody>
      </p:sp>
      <p:sp>
        <p:nvSpPr>
          <p:cNvPr id="10" name="subhead-150">
            <a:extLst xmlns:a="http://schemas.openxmlformats.org/drawingml/2006/main">
              <a:ext uri="{FF2B5EF4-FFF2-40B4-BE49-F238E27FC236}">
                <a16:creationId xmlns:a16="http://schemas.microsoft.com/office/drawing/2014/main" id="{8FFD8607-8384-4DAD-B41A-04EF1202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关键检查</a:t>
            </a:r>
          </a:p>
        </p:txBody>
      </p:sp>
      <p:sp>
        <p:nvSpPr>
          <p:cNvPr id="11" name="text-151">
            <a:extLst xmlns:a="http://schemas.openxmlformats.org/drawingml/2006/main">
              <a:ext uri="{FF2B5EF4-FFF2-40B4-BE49-F238E27FC236}">
                <a16:creationId xmlns:a16="http://schemas.microsoft.com/office/drawing/2014/main" id="{E76E4EA5-E54E-4CF3-90C1-3BC8EDF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区分愿望、可验收目标和已经承诺的事项。</a:t>
            </a:r>
          </a:p>
        </p:txBody>
      </p:sp>
      <p:sp>
        <p:nvSpPr>
          <p:cNvPr id="12" name="subhead-152">
            <a:extLst xmlns:a="http://schemas.openxmlformats.org/drawingml/2006/main">
              <a:ext uri="{FF2B5EF4-FFF2-40B4-BE49-F238E27FC236}">
                <a16:creationId xmlns:a16="http://schemas.microsoft.com/office/drawing/2014/main" id="{1E9132C7-7A01-43C3-A2A1-F093EF2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2 观察与状态判断</a:t>
            </a:r>
          </a:p>
        </p:txBody>
      </p:sp>
      <p:sp>
        <p:nvSpPr>
          <p:cNvPr id="13" name="text-153">
            <a:extLst xmlns:a="http://schemas.openxmlformats.org/drawingml/2006/main">
              <a:ext uri="{FF2B5EF4-FFF2-40B4-BE49-F238E27FC236}">
                <a16:creationId xmlns:a16="http://schemas.microsoft.com/office/drawing/2014/main" id="{B935A872-85CB-4AA4-8382-A87B6773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汇总来源、时间、主观描述与指标；输出全局快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照和未知项。</a:t>
            </a:r>
          </a:p>
        </p:txBody>
      </p:sp>
      <p:sp>
        <p:nvSpPr>
          <p:cNvPr id="14" name="subhead-154">
            <a:extLst xmlns:a="http://schemas.openxmlformats.org/drawingml/2006/main">
              <a:ext uri="{FF2B5EF4-FFF2-40B4-BE49-F238E27FC236}">
                <a16:creationId xmlns:a16="http://schemas.microsoft.com/office/drawing/2014/main" id="{559F69A5-04C7-4ED9-9A09-66274247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关键检查</a:t>
            </a:r>
          </a:p>
        </p:txBody>
      </p:sp>
      <p:sp>
        <p:nvSpPr>
          <p:cNvPr id="15" name="text-155">
            <a:extLst xmlns:a="http://schemas.openxmlformats.org/drawingml/2006/main">
              <a:ext uri="{FF2B5EF4-FFF2-40B4-BE49-F238E27FC236}">
                <a16:creationId xmlns:a16="http://schemas.microsoft.com/office/drawing/2014/main" id="{A637E361-14B3-4962-85A7-959A53A6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过期资料、矛盾记录与自动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抽取结果不能直接覆盖事实。</a:t>
            </a:r>
          </a:p>
        </p:txBody>
      </p:sp>
    </p:spTree>
    <p:extLst>
      <p:ext uri="{BB962C8B-B14F-4D97-AF65-F5344CB8AC3E}">
        <p14:creationId xmlns:p14="http://schemas.microsoft.com/office/powerpoint/2010/main" val="1712650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56">
            <a:extLst xmlns:a="http://schemas.openxmlformats.org/drawingml/2006/main">
              <a:ext uri="{FF2B5EF4-FFF2-40B4-BE49-F238E27FC236}">
                <a16:creationId xmlns:a16="http://schemas.microsoft.com/office/drawing/2014/main" id="{FEFC29C2-5A4F-4FE8-98EC-F5A45DCD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157">
            <a:extLst xmlns:a="http://schemas.openxmlformats.org/drawingml/2006/main">
              <a:ext uri="{FF2B5EF4-FFF2-40B4-BE49-F238E27FC236}">
                <a16:creationId xmlns:a16="http://schemas.microsoft.com/office/drawing/2014/main" id="{FFFA00FB-5508-4F5C-9B3F-B81CEC0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总控检查影响与资源组合</a:t>
            </a:r>
          </a:p>
        </p:txBody>
      </p:sp>
      <p:sp>
        <p:nvSpPr>
          <p:cNvPr id="3" name="claim-158">
            <a:extLst xmlns:a="http://schemas.openxmlformats.org/drawingml/2006/main">
              <a:ext uri="{FF2B5EF4-FFF2-40B4-BE49-F238E27FC236}">
                <a16:creationId xmlns:a16="http://schemas.microsoft.com/office/drawing/2014/main" id="{26A98EC4-A3ED-4EB0-9F4F-C53B8FD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职能3—4：知道一个行动影响哪里，以及组合能否成立。</a:t>
            </a:r>
          </a:p>
        </p:txBody>
      </p:sp>
      <p:sp>
        <p:nvSpPr>
          <p:cNvPr id="4" name="box-159">
            <a:extLst xmlns:a="http://schemas.openxmlformats.org/drawingml/2006/main">
              <a:ext uri="{FF2B5EF4-FFF2-40B4-BE49-F238E27FC236}">
                <a16:creationId xmlns:a16="http://schemas.microsoft.com/office/drawing/2014/main" id="{4F4B87FD-BE5E-46BD-AA87-0A3F56E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60">
            <a:extLst xmlns:a="http://schemas.openxmlformats.org/drawingml/2006/main">
              <a:ext uri="{FF2B5EF4-FFF2-40B4-BE49-F238E27FC236}">
                <a16:creationId xmlns:a16="http://schemas.microsoft.com/office/drawing/2014/main" id="{81AE5D01-F2B8-4FCE-B278-EE04E07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61">
            <a:extLst xmlns:a="http://schemas.openxmlformats.org/drawingml/2006/main">
              <a:ext uri="{FF2B5EF4-FFF2-40B4-BE49-F238E27FC236}">
                <a16:creationId xmlns:a16="http://schemas.microsoft.com/office/drawing/2014/main" id="{77BF4B9D-F3C5-4B3B-AD11-A88B6C36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62">
            <a:extLst xmlns:a="http://schemas.openxmlformats.org/drawingml/2006/main">
              <a:ext uri="{FF2B5EF4-FFF2-40B4-BE49-F238E27FC236}">
                <a16:creationId xmlns:a16="http://schemas.microsoft.com/office/drawing/2014/main" id="{B734F648-ED54-469D-B10A-F88726B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13 / 91</a:t>
            </a:r>
          </a:p>
        </p:txBody>
      </p:sp>
      <p:sp>
        <p:nvSpPr>
          <p:cNvPr id="8" name="subhead-163">
            <a:extLst xmlns:a="http://schemas.openxmlformats.org/drawingml/2006/main">
              <a:ext uri="{FF2B5EF4-FFF2-40B4-BE49-F238E27FC236}">
                <a16:creationId xmlns:a16="http://schemas.microsoft.com/office/drawing/2014/main" id="{66E9CA37-A5BC-495E-BEBA-34927EEE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3 跨领域影响分析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201453EC-B18F-4355-A7F7-6C3C47E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记录受影响领域、作用方向、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前置依赖和效果延迟。</a:t>
            </a:r>
          </a:p>
        </p:txBody>
      </p:sp>
      <p:sp>
        <p:nvSpPr>
          <p:cNvPr id="10" name="subhead-165">
            <a:extLst xmlns:a="http://schemas.openxmlformats.org/drawingml/2006/main">
              <a:ext uri="{FF2B5EF4-FFF2-40B4-BE49-F238E27FC236}">
                <a16:creationId xmlns:a16="http://schemas.microsoft.com/office/drawing/2014/main" id="{C99D4258-E3A4-4EF3-940D-6884CC89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输出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5849A9F9-28B7-4EDE-AF3A-F3EEB61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跨域影响清单、备选情景，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以及可能推翻判断的条件。</a:t>
            </a:r>
          </a:p>
        </p:txBody>
      </p:sp>
      <p:sp>
        <p:nvSpPr>
          <p:cNvPr id="12" name="subhead-167">
            <a:extLst xmlns:a="http://schemas.openxmlformats.org/drawingml/2006/main">
              <a:ext uri="{FF2B5EF4-FFF2-40B4-BE49-F238E27FC236}">
                <a16:creationId xmlns:a16="http://schemas.microsoft.com/office/drawing/2014/main" id="{F0778673-2872-4BF2-BB38-24218BB3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4 资源与优先级协调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8CA1EBC3-91A7-442F-9473-C3B3F81C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同一周期内汇总固定责任、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唯一行动需求与保留量。</a:t>
            </a:r>
          </a:p>
        </p:txBody>
      </p:sp>
      <p:sp>
        <p:nvSpPr>
          <p:cNvPr id="14" name="subhead-169">
            <a:extLst xmlns:a="http://schemas.openxmlformats.org/drawingml/2006/main">
              <a:ext uri="{FF2B5EF4-FFF2-40B4-BE49-F238E27FC236}">
                <a16:creationId xmlns:a16="http://schemas.microsoft.com/office/drawing/2014/main" id="{F7D8DEFC-941F-4E33-BBC0-9E08CF16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输出</a:t>
            </a:r>
          </a:p>
        </p:txBody>
      </p:sp>
      <p:sp>
        <p:nvSpPr>
          <p:cNvPr id="15" name="text-170">
            <a:extLst xmlns:a="http://schemas.openxmlformats.org/drawingml/2006/main">
              <a:ext uri="{FF2B5EF4-FFF2-40B4-BE49-F238E27FC236}">
                <a16:creationId xmlns:a16="http://schemas.microsoft.com/office/drawing/2014/main" id="{3806AF1E-B42C-45F6-BBD0-4B04D00C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可行组合、明确冲突，以及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缩减、替换或延期方案。</a:t>
            </a:r>
          </a:p>
        </p:txBody>
      </p:sp>
    </p:spTree>
    <p:extLst>
      <p:ext uri="{BB962C8B-B14F-4D97-AF65-F5344CB8AC3E}">
        <p14:creationId xmlns:p14="http://schemas.microsoft.com/office/powerpoint/2010/main" val="11240721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71">
            <a:extLst xmlns:a="http://schemas.openxmlformats.org/drawingml/2006/main">
              <a:ext uri="{FF2B5EF4-FFF2-40B4-BE49-F238E27FC236}">
                <a16:creationId xmlns:a16="http://schemas.microsoft.com/office/drawing/2014/main" id="{482FF85B-8599-4B1B-BC87-AE24BC27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172">
            <a:extLst xmlns:a="http://schemas.openxmlformats.org/drawingml/2006/main">
              <a:ext uri="{FF2B5EF4-FFF2-40B4-BE49-F238E27FC236}">
                <a16:creationId xmlns:a16="http://schemas.microsoft.com/office/drawing/2014/main" id="{7C1E073B-DEE2-428E-9A6C-EE084A6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总控编排决策并协调执行</a:t>
            </a:r>
          </a:p>
        </p:txBody>
      </p:sp>
      <p:sp>
        <p:nvSpPr>
          <p:cNvPr id="3" name="claim-173">
            <a:extLst xmlns:a="http://schemas.openxmlformats.org/drawingml/2006/main">
              <a:ext uri="{FF2B5EF4-FFF2-40B4-BE49-F238E27FC236}">
                <a16:creationId xmlns:a16="http://schemas.microsoft.com/office/drawing/2014/main" id="{1B9E4A27-DBCF-4448-8558-21C7C616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职能5—6：选择需要的工作深度，并把真实选择转成行动。</a:t>
            </a:r>
          </a:p>
        </p:txBody>
      </p:sp>
      <p:sp>
        <p:nvSpPr>
          <p:cNvPr id="4" name="box-174">
            <a:extLst xmlns:a="http://schemas.openxmlformats.org/drawingml/2006/main">
              <a:ext uri="{FF2B5EF4-FFF2-40B4-BE49-F238E27FC236}">
                <a16:creationId xmlns:a16="http://schemas.microsoft.com/office/drawing/2014/main" id="{35640B73-ABEC-4CC4-8409-FE2E868E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75">
            <a:extLst xmlns:a="http://schemas.openxmlformats.org/drawingml/2006/main">
              <a:ext uri="{FF2B5EF4-FFF2-40B4-BE49-F238E27FC236}">
                <a16:creationId xmlns:a16="http://schemas.microsoft.com/office/drawing/2014/main" id="{6E0FFE95-1F1D-4D71-84AF-728D0F7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76">
            <a:extLst xmlns:a="http://schemas.openxmlformats.org/drawingml/2006/main">
              <a:ext uri="{FF2B5EF4-FFF2-40B4-BE49-F238E27FC236}">
                <a16:creationId xmlns:a16="http://schemas.microsoft.com/office/drawing/2014/main" id="{11AFD899-DD8B-44F3-AE9B-3FE674F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77">
            <a:extLst xmlns:a="http://schemas.openxmlformats.org/drawingml/2006/main">
              <a:ext uri="{FF2B5EF4-FFF2-40B4-BE49-F238E27FC236}">
                <a16:creationId xmlns:a16="http://schemas.microsoft.com/office/drawing/2014/main" id="{2F2A3A15-44F0-46A8-A4D7-D98803A4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14 / 91</a:t>
            </a:r>
          </a:p>
        </p:txBody>
      </p:sp>
      <p:sp>
        <p:nvSpPr>
          <p:cNvPr id="8" name="subhead-178">
            <a:extLst xmlns:a="http://schemas.openxmlformats.org/drawingml/2006/main">
              <a:ext uri="{FF2B5EF4-FFF2-40B4-BE49-F238E27FC236}">
                <a16:creationId xmlns:a16="http://schemas.microsoft.com/office/drawing/2014/main" id="{857AF42A-CE60-4ACA-9A17-12BBCC0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5 决策编排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AFE2AEF3-B407-419E-9645-BD26179B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定位问题阶段，选择相关D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领域与M模块，推进S1—S8。</a:t>
            </a:r>
          </a:p>
        </p:txBody>
      </p:sp>
      <p:sp>
        <p:nvSpPr>
          <p:cNvPr id="10" name="subhead-180">
            <a:extLst xmlns:a="http://schemas.openxmlformats.org/drawingml/2006/main">
              <a:ext uri="{FF2B5EF4-FFF2-40B4-BE49-F238E27FC236}">
                <a16:creationId xmlns:a16="http://schemas.microsoft.com/office/drawing/2014/main" id="{63C40EFF-A3B4-4D44-9FC8-403F03E2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输出</a:t>
            </a:r>
          </a:p>
        </p:txBody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584B9E28-B4EA-4218-8E08-3E831A42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当前版本的证据、方案、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比较、复核与条件建议。</a:t>
            </a:r>
          </a:p>
        </p:txBody>
      </p:sp>
      <p:sp>
        <p:nvSpPr>
          <p:cNvPr id="12" name="subhead-182">
            <a:extLst xmlns:a="http://schemas.openxmlformats.org/drawingml/2006/main">
              <a:ext uri="{FF2B5EF4-FFF2-40B4-BE49-F238E27FC236}">
                <a16:creationId xmlns:a16="http://schemas.microsoft.com/office/drawing/2014/main" id="{E1C700B0-5BBB-4661-8C8A-7A06BD81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6 授权与执行协调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D90DEBE0-0321-499A-8D1A-B49C9BB8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核对已有授权、依赖、责任、资源上限与验收。</a:t>
            </a:r>
          </a:p>
        </p:txBody>
      </p:sp>
      <p:sp>
        <p:nvSpPr>
          <p:cNvPr id="14" name="subhead-184">
            <a:extLst xmlns:a="http://schemas.openxmlformats.org/drawingml/2006/main">
              <a:ext uri="{FF2B5EF4-FFF2-40B4-BE49-F238E27FC236}">
                <a16:creationId xmlns:a16="http://schemas.microsoft.com/office/drawing/2014/main" id="{33C628FD-DB4A-41B4-B936-D74DB3D7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输出</a:t>
            </a:r>
          </a:p>
        </p:txBody>
      </p:sp>
      <p:sp>
        <p:nvSpPr>
          <p:cNvPr id="15" name="text-185">
            <a:extLst xmlns:a="http://schemas.openxmlformats.org/drawingml/2006/main">
              <a:ext uri="{FF2B5EF4-FFF2-40B4-BE49-F238E27FC236}">
                <a16:creationId xmlns:a16="http://schemas.microsoft.com/office/drawing/2014/main" id="{BD07873F-5E63-43FB-8D15-A1FDAC5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具体任务和真实执行状态；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未执行的内容保持未执行。</a:t>
            </a:r>
          </a:p>
        </p:txBody>
      </p:sp>
    </p:spTree>
    <p:extLst>
      <p:ext uri="{BB962C8B-B14F-4D97-AF65-F5344CB8AC3E}">
        <p14:creationId xmlns:p14="http://schemas.microsoft.com/office/powerpoint/2010/main" val="11724330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86">
            <a:extLst xmlns:a="http://schemas.openxmlformats.org/drawingml/2006/main">
              <a:ext uri="{FF2B5EF4-FFF2-40B4-BE49-F238E27FC236}">
                <a16:creationId xmlns:a16="http://schemas.microsoft.com/office/drawing/2014/main" id="{096C7C19-CF65-4A9E-BB53-83C9B5C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187">
            <a:extLst xmlns:a="http://schemas.openxmlformats.org/drawingml/2006/main">
              <a:ext uri="{FF2B5EF4-FFF2-40B4-BE49-F238E27FC236}">
                <a16:creationId xmlns:a16="http://schemas.microsoft.com/office/drawing/2014/main" id="{07BA0BBA-86A5-4A03-A74D-04CB1615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总控保留反馈与可追溯记录</a:t>
            </a:r>
          </a:p>
        </p:txBody>
      </p:sp>
      <p:sp>
        <p:nvSpPr>
          <p:cNvPr id="3" name="claim-188">
            <a:extLst xmlns:a="http://schemas.openxmlformats.org/drawingml/2006/main">
              <a:ext uri="{FF2B5EF4-FFF2-40B4-BE49-F238E27FC236}">
                <a16:creationId xmlns:a16="http://schemas.microsoft.com/office/drawing/2014/main" id="{4E1645C4-8DE9-47CC-A1C9-14D25459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职能7—8：修正判断的同时，让修正原因可检查。</a:t>
            </a:r>
          </a:p>
        </p:txBody>
      </p:sp>
      <p:sp>
        <p:nvSpPr>
          <p:cNvPr id="4" name="box-189">
            <a:extLst xmlns:a="http://schemas.openxmlformats.org/drawingml/2006/main">
              <a:ext uri="{FF2B5EF4-FFF2-40B4-BE49-F238E27FC236}">
                <a16:creationId xmlns:a16="http://schemas.microsoft.com/office/drawing/2014/main" id="{2CA1607D-DEFE-4D92-B71E-2534279D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90">
            <a:extLst xmlns:a="http://schemas.openxmlformats.org/drawingml/2006/main">
              <a:ext uri="{FF2B5EF4-FFF2-40B4-BE49-F238E27FC236}">
                <a16:creationId xmlns:a16="http://schemas.microsoft.com/office/drawing/2014/main" id="{D2B2875C-831D-48E2-9243-FF3FCA3A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91">
            <a:extLst xmlns:a="http://schemas.openxmlformats.org/drawingml/2006/main">
              <a:ext uri="{FF2B5EF4-FFF2-40B4-BE49-F238E27FC236}">
                <a16:creationId xmlns:a16="http://schemas.microsoft.com/office/drawing/2014/main" id="{3B306A52-B1EA-4B2E-89E4-7F346CD0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92">
            <a:extLst xmlns:a="http://schemas.openxmlformats.org/drawingml/2006/main">
              <a:ext uri="{FF2B5EF4-FFF2-40B4-BE49-F238E27FC236}">
                <a16:creationId xmlns:a16="http://schemas.microsoft.com/office/drawing/2014/main" id="{8F7B52C2-D1D4-4366-ABDD-323D3A8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15 / 91</a:t>
            </a:r>
          </a:p>
        </p:txBody>
      </p:sp>
      <p:sp>
        <p:nvSpPr>
          <p:cNvPr id="8" name="subhead-193">
            <a:extLst xmlns:a="http://schemas.openxmlformats.org/drawingml/2006/main">
              <a:ext uri="{FF2B5EF4-FFF2-40B4-BE49-F238E27FC236}">
                <a16:creationId xmlns:a16="http://schemas.microsoft.com/office/drawing/2014/main" id="{CDB20277-1947-48E1-9BEB-6B9600FF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7 分层反馈与适应</a:t>
            </a:r>
          </a:p>
        </p:txBody>
      </p:sp>
      <p:sp>
        <p:nvSpPr>
          <p:cNvPr id="9" name="text-194">
            <a:extLst xmlns:a="http://schemas.openxmlformats.org/drawingml/2006/main">
              <a:ext uri="{FF2B5EF4-FFF2-40B4-BE49-F238E27FC236}">
                <a16:creationId xmlns:a16="http://schemas.microsoft.com/office/drawing/2014/main" id="{6429B270-1C8B-4B22-96B8-B67ED74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按结果成熟程度评估，决定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继续、调整、暂停或停止。</a:t>
            </a:r>
          </a:p>
        </p:txBody>
      </p:sp>
      <p:sp>
        <p:nvSpPr>
          <p:cNvPr id="10" name="subhead-195">
            <a:extLst xmlns:a="http://schemas.openxmlformats.org/drawingml/2006/main">
              <a:ext uri="{FF2B5EF4-FFF2-40B4-BE49-F238E27FC236}">
                <a16:creationId xmlns:a16="http://schemas.microsoft.com/office/drawing/2014/main" id="{D2F0D975-9866-4B3C-AEF1-E8C589AF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输出</a:t>
            </a:r>
          </a:p>
        </p:txBody>
      </p:sp>
      <p:sp>
        <p:nvSpPr>
          <p:cNvPr id="11" name="text-196">
            <a:extLst xmlns:a="http://schemas.openxmlformats.org/drawingml/2006/main">
              <a:ext uri="{FF2B5EF4-FFF2-40B4-BE49-F238E27FC236}">
                <a16:creationId xmlns:a16="http://schemas.microsoft.com/office/drawing/2014/main" id="{A5723FB0-6BB9-4D59-A868-82999D1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新结果、差异解释、下一步与观察窗口。</a:t>
            </a:r>
          </a:p>
        </p:txBody>
      </p:sp>
      <p:sp>
        <p:nvSpPr>
          <p:cNvPr id="12" name="subhead-197">
            <a:extLst xmlns:a="http://schemas.openxmlformats.org/drawingml/2006/main">
              <a:ext uri="{FF2B5EF4-FFF2-40B4-BE49-F238E27FC236}">
                <a16:creationId xmlns:a16="http://schemas.microsoft.com/office/drawing/2014/main" id="{E7F9EE3C-19D0-4524-9ECA-5C977408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8 证据、复核与版本</a:t>
            </a:r>
          </a:p>
        </p:txBody>
      </p:sp>
      <p:sp>
        <p:nvSpPr>
          <p:cNvPr id="13" name="text-198">
            <a:extLst xmlns:a="http://schemas.openxmlformats.org/drawingml/2006/main">
              <a:ext uri="{FF2B5EF4-FFF2-40B4-BE49-F238E27FC236}">
                <a16:creationId xmlns:a16="http://schemas.microsoft.com/office/drawing/2014/main" id="{E71A054A-65FA-4CB7-8BD0-00E813C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保存出处、原预测、变更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关系与本版本复核记录。</a:t>
            </a:r>
          </a:p>
        </p:txBody>
      </p:sp>
      <p:sp>
        <p:nvSpPr>
          <p:cNvPr id="14" name="subhead-199">
            <a:extLst xmlns:a="http://schemas.openxmlformats.org/drawingml/2006/main">
              <a:ext uri="{FF2B5EF4-FFF2-40B4-BE49-F238E27FC236}">
                <a16:creationId xmlns:a16="http://schemas.microsoft.com/office/drawing/2014/main" id="{065982E2-AE9F-4AA0-BB75-AB17E356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输出</a:t>
            </a:r>
          </a:p>
        </p:txBody>
      </p:sp>
      <p:sp>
        <p:nvSpPr>
          <p:cNvPr id="15" name="text-200">
            <a:extLst xmlns:a="http://schemas.openxmlformats.org/drawingml/2006/main">
              <a:ext uri="{FF2B5EF4-FFF2-40B4-BE49-F238E27FC236}">
                <a16:creationId xmlns:a16="http://schemas.microsoft.com/office/drawing/2014/main" id="{8E58D8DD-4A01-4E93-9897-5DD0C72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可追溯历史与失效提示，避免沿用过期结论。</a:t>
            </a:r>
          </a:p>
        </p:txBody>
      </p:sp>
    </p:spTree>
    <p:extLst>
      <p:ext uri="{BB962C8B-B14F-4D97-AF65-F5344CB8AC3E}">
        <p14:creationId xmlns:p14="http://schemas.microsoft.com/office/powerpoint/2010/main" val="19839541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01">
            <a:extLst xmlns:a="http://schemas.openxmlformats.org/drawingml/2006/main">
              <a:ext uri="{FF2B5EF4-FFF2-40B4-BE49-F238E27FC236}">
                <a16:creationId xmlns:a16="http://schemas.microsoft.com/office/drawing/2014/main" id="{678F952B-CFFF-485B-88A3-4321C97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202">
            <a:extLst xmlns:a="http://schemas.openxmlformats.org/drawingml/2006/main">
              <a:ext uri="{FF2B5EF4-FFF2-40B4-BE49-F238E27FC236}">
                <a16:creationId xmlns:a16="http://schemas.microsoft.com/office/drawing/2014/main" id="{B81695F9-F8E0-49DF-B254-399B83A5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共同资源账先做可行性检查</a:t>
            </a:r>
          </a:p>
        </p:txBody>
      </p:sp>
      <p:sp>
        <p:nvSpPr>
          <p:cNvPr id="3" name="claim-203">
            <a:extLst xmlns:a="http://schemas.openxmlformats.org/drawingml/2006/main">
              <a:ext uri="{FF2B5EF4-FFF2-40B4-BE49-F238E27FC236}">
                <a16:creationId xmlns:a16="http://schemas.microsoft.com/office/drawing/2014/main" id="{7B36ADAE-8F49-459E-8492-8613BEA3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核算同一周期、同一单位内的同一种资源。</a:t>
            </a:r>
          </a:p>
        </p:txBody>
      </p:sp>
      <p:sp>
        <p:nvSpPr>
          <p:cNvPr id="4" name="box-204">
            <a:extLst xmlns:a="http://schemas.openxmlformats.org/drawingml/2006/main">
              <a:ext uri="{FF2B5EF4-FFF2-40B4-BE49-F238E27FC236}">
                <a16:creationId xmlns:a16="http://schemas.microsoft.com/office/drawing/2014/main" id="{C98D0562-596E-4B15-BF44-8FDFA9C6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05">
            <a:extLst xmlns:a="http://schemas.openxmlformats.org/drawingml/2006/main">
              <a:ext uri="{FF2B5EF4-FFF2-40B4-BE49-F238E27FC236}">
                <a16:creationId xmlns:a16="http://schemas.microsoft.com/office/drawing/2014/main" id="{28394BE4-AC9B-4E1A-B24C-E2ABA5CF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06">
            <a:extLst xmlns:a="http://schemas.openxmlformats.org/drawingml/2006/main">
              <a:ext uri="{FF2B5EF4-FFF2-40B4-BE49-F238E27FC236}">
                <a16:creationId xmlns:a16="http://schemas.microsoft.com/office/drawing/2014/main" id="{3B8E2649-48F2-464D-B5C9-0908906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07">
            <a:extLst xmlns:a="http://schemas.openxmlformats.org/drawingml/2006/main">
              <a:ext uri="{FF2B5EF4-FFF2-40B4-BE49-F238E27FC236}">
                <a16:creationId xmlns:a16="http://schemas.microsoft.com/office/drawing/2014/main" id="{166D38DA-D242-492E-B6AD-07EAE2E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16 / 91</a:t>
            </a:r>
          </a:p>
        </p:txBody>
      </p:sp>
      <p:sp>
        <p:nvSpPr>
          <p:cNvPr id="8" name="text-208">
            <a:extLst xmlns:a="http://schemas.openxmlformats.org/drawingml/2006/main">
              <a:ext uri="{FF2B5EF4-FFF2-40B4-BE49-F238E27FC236}">
                <a16:creationId xmlns:a16="http://schemas.microsoft.com/office/drawing/2014/main" id="{4FE54CAA-BF3D-462A-AAD9-5C27B775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8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8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固定责任 ＋ 唯一行动需求 ＋ 保留量 ≤ 可用总量</a:t>
            </a:r>
          </a:p>
        </p:txBody>
      </p:sp>
      <p:sp>
        <p:nvSpPr>
          <p:cNvPr id="9" name="text-209">
            <a:extLst xmlns:a="http://schemas.openxmlformats.org/drawingml/2006/main">
              <a:ext uri="{FF2B5EF4-FFF2-40B4-BE49-F238E27FC236}">
                <a16:creationId xmlns:a16="http://schemas.microsoft.com/office/drawing/2014/main" id="{E3B88A90-F161-45F6-A0BB-0CA16251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714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去重</a:t>
            </a:r>
          </a:p>
        </p:txBody>
      </p:sp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05F7E0E2-B926-46A1-B60A-942C50F0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893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同一任务只使用一个全局行动ID；其他领域引用其影响。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EBA268A5-5478-4C14-ABEA-44AE189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714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区分备选</a:t>
            </a:r>
          </a:p>
        </p:txBody>
      </p:sp>
      <p:sp>
        <p:nvSpPr>
          <p:cNvPr id="12" name="text-212">
            <a:extLst xmlns:a="http://schemas.openxmlformats.org/drawingml/2006/main">
              <a:ext uri="{FF2B5EF4-FFF2-40B4-BE49-F238E27FC236}">
                <a16:creationId xmlns:a16="http://schemas.microsoft.com/office/drawing/2014/main" id="{817F1077-12D4-4079-94F9-1669F6D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57675"/>
            <a:ext cx="893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互斥的方案分别核算，不能同时计入一个计划。</a:t>
            </a:r>
          </a:p>
        </p:txBody>
      </p:sp>
      <p:sp>
        <p:nvSpPr>
          <p:cNvPr id="13" name="text-213">
            <a:extLst xmlns:a="http://schemas.openxmlformats.org/drawingml/2006/main">
              <a:ext uri="{FF2B5EF4-FFF2-40B4-BE49-F238E27FC236}">
                <a16:creationId xmlns:a16="http://schemas.microsoft.com/office/drawing/2014/main" id="{8BD78E27-3B0B-486B-B352-1B734E43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714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保留未知</a:t>
            </a:r>
          </a:p>
        </p:txBody>
      </p:sp>
      <p:sp>
        <p:nvSpPr>
          <p:cNvPr id="14" name="text-214">
            <a:extLst xmlns:a="http://schemas.openxmlformats.org/drawingml/2006/main">
              <a:ext uri="{FF2B5EF4-FFF2-40B4-BE49-F238E27FC236}">
                <a16:creationId xmlns:a16="http://schemas.microsoft.com/office/drawing/2014/main" id="{56ACC70F-32BA-4C2C-BD8B-2D31A292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93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缺少预算或需求时标未知，不能假定为零。</a:t>
            </a:r>
          </a:p>
        </p:txBody>
      </p:sp>
    </p:spTree>
    <p:extLst>
      <p:ext uri="{BB962C8B-B14F-4D97-AF65-F5344CB8AC3E}">
        <p14:creationId xmlns:p14="http://schemas.microsoft.com/office/powerpoint/2010/main" val="1704558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15">
            <a:extLst xmlns:a="http://schemas.openxmlformats.org/drawingml/2006/main">
              <a:ext uri="{FF2B5EF4-FFF2-40B4-BE49-F238E27FC236}">
                <a16:creationId xmlns:a16="http://schemas.microsoft.com/office/drawing/2014/main" id="{3FC9528B-EE65-4D12-B5CF-67945E8B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216">
            <a:extLst xmlns:a="http://schemas.openxmlformats.org/drawingml/2006/main">
              <a:ext uri="{FF2B5EF4-FFF2-40B4-BE49-F238E27FC236}">
                <a16:creationId xmlns:a16="http://schemas.microsoft.com/office/drawing/2014/main" id="{46511684-32F4-4B76-845D-71EA582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共享价值不意味着重复投入</a:t>
            </a:r>
          </a:p>
        </p:txBody>
      </p:sp>
      <p:sp>
        <p:nvSpPr>
          <p:cNvPr id="3" name="claim-217">
            <a:extLst xmlns:a="http://schemas.openxmlformats.org/drawingml/2006/main">
              <a:ext uri="{FF2B5EF4-FFF2-40B4-BE49-F238E27FC236}">
                <a16:creationId xmlns:a16="http://schemas.microsoft.com/office/drawing/2014/main" id="{472F75BC-51DA-4B01-8380-30467FA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合成示例：一份作品同时支持学习和求职。</a:t>
            </a:r>
          </a:p>
        </p:txBody>
      </p:sp>
      <p:sp>
        <p:nvSpPr>
          <p:cNvPr id="4" name="box-218">
            <a:extLst xmlns:a="http://schemas.openxmlformats.org/drawingml/2006/main">
              <a:ext uri="{FF2B5EF4-FFF2-40B4-BE49-F238E27FC236}">
                <a16:creationId xmlns:a16="http://schemas.microsoft.com/office/drawing/2014/main" id="{235EEEEA-4EC1-4CBD-BA7D-3033AE4B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19">
            <a:extLst xmlns:a="http://schemas.openxmlformats.org/drawingml/2006/main">
              <a:ext uri="{FF2B5EF4-FFF2-40B4-BE49-F238E27FC236}">
                <a16:creationId xmlns:a16="http://schemas.microsoft.com/office/drawing/2014/main" id="{B6E75960-B0F1-471F-B94A-F83B44A4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20">
            <a:extLst xmlns:a="http://schemas.openxmlformats.org/drawingml/2006/main">
              <a:ext uri="{FF2B5EF4-FFF2-40B4-BE49-F238E27FC236}">
                <a16:creationId xmlns:a16="http://schemas.microsoft.com/office/drawing/2014/main" id="{75E60CA2-3011-4740-85F9-A4489D8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21">
            <a:extLst xmlns:a="http://schemas.openxmlformats.org/drawingml/2006/main">
              <a:ext uri="{FF2B5EF4-FFF2-40B4-BE49-F238E27FC236}">
                <a16:creationId xmlns:a16="http://schemas.microsoft.com/office/drawing/2014/main" id="{73EEE20F-7405-4BF0-B79D-A4284E75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17 / 91</a:t>
            </a:r>
          </a:p>
        </p:txBody>
      </p:sp>
      <p:sp>
        <p:nvSpPr>
          <p:cNvPr id="8" name="subhead-222">
            <a:extLst xmlns:a="http://schemas.openxmlformats.org/drawingml/2006/main">
              <a:ext uri="{FF2B5EF4-FFF2-40B4-BE49-F238E27FC236}">
                <a16:creationId xmlns:a16="http://schemas.microsoft.com/office/drawing/2014/main" id="{C6770F18-2C09-403F-B338-C115DC5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实际行动</a:t>
            </a:r>
          </a:p>
        </p:txBody>
      </p:sp>
      <p:sp>
        <p:nvSpPr>
          <p:cNvPr id="9" name="text-223">
            <a:extLst xmlns:a="http://schemas.openxmlformats.org/drawingml/2006/main">
              <a:ext uri="{FF2B5EF4-FFF2-40B4-BE49-F238E27FC236}">
                <a16:creationId xmlns:a16="http://schemas.microsoft.com/office/drawing/2014/main" id="{D5E0D673-9B0E-4BD6-B62A-EA0C2F28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用2小时完成一份展示作品；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主责领域为D05学习。</a:t>
            </a:r>
          </a:p>
        </p:txBody>
      </p:sp>
      <p:sp>
        <p:nvSpPr>
          <p:cNvPr id="10" name="subhead-224">
            <a:extLst xmlns:a="http://schemas.openxmlformats.org/drawingml/2006/main">
              <a:ext uri="{FF2B5EF4-FFF2-40B4-BE49-F238E27FC236}">
                <a16:creationId xmlns:a16="http://schemas.microsoft.com/office/drawing/2014/main" id="{3BE21097-5F19-4C87-90A1-3C286D8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跨域价值</a:t>
            </a:r>
          </a:p>
        </p:txBody>
      </p:sp>
      <p:sp>
        <p:nvSpPr>
          <p:cNvPr id="11" name="text-225">
            <a:extLst xmlns:a="http://schemas.openxmlformats.org/drawingml/2006/main">
              <a:ext uri="{FF2B5EF4-FFF2-40B4-BE49-F238E27FC236}">
                <a16:creationId xmlns:a16="http://schemas.microsoft.com/office/drawing/2014/main" id="{486A049E-7F6C-488E-807C-A5FF9E9C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D04职业可以引用作品用于求职或展示能力。</a:t>
            </a:r>
          </a:p>
        </p:txBody>
      </p:sp>
      <p:sp>
        <p:nvSpPr>
          <p:cNvPr id="12" name="subhead-226">
            <a:extLst xmlns:a="http://schemas.openxmlformats.org/drawingml/2006/main">
              <a:ext uri="{FF2B5EF4-FFF2-40B4-BE49-F238E27FC236}">
                <a16:creationId xmlns:a16="http://schemas.microsoft.com/office/drawing/2014/main" id="{01D0BAA0-23E5-4D49-9604-43058CD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正确记录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D2DEC2A8-4F05-4C8E-BF9F-18328AB9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全局行动A001：投入2小时；关联D05与D04。</a:t>
            </a:r>
          </a:p>
        </p:txBody>
      </p:sp>
      <p:sp>
        <p:nvSpPr>
          <p:cNvPr id="14" name="subhead-228">
            <a:extLst xmlns:a="http://schemas.openxmlformats.org/drawingml/2006/main">
              <a:ext uri="{FF2B5EF4-FFF2-40B4-BE49-F238E27FC236}">
                <a16:creationId xmlns:a16="http://schemas.microsoft.com/office/drawing/2014/main" id="{B876473A-87EC-40DE-B91A-B68DF750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需要避免</a:t>
            </a:r>
          </a:p>
        </p:txBody>
      </p:sp>
      <p:sp>
        <p:nvSpPr>
          <p:cNvPr id="15" name="text-229">
            <a:extLst xmlns:a="http://schemas.openxmlformats.org/drawingml/2006/main">
              <a:ext uri="{FF2B5EF4-FFF2-40B4-BE49-F238E27FC236}">
                <a16:creationId xmlns:a16="http://schemas.microsoft.com/office/drawing/2014/main" id="{F2B1C25E-877F-403B-8C8D-847B651F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把同一投入记成学习2小时加求职2小时；把复用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当成两次独立成果。</a:t>
            </a:r>
          </a:p>
        </p:txBody>
      </p:sp>
    </p:spTree>
    <p:extLst>
      <p:ext uri="{BB962C8B-B14F-4D97-AF65-F5344CB8AC3E}">
        <p14:creationId xmlns:p14="http://schemas.microsoft.com/office/powerpoint/2010/main" val="20871519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230">
            <a:extLst xmlns:a="http://schemas.openxmlformats.org/drawingml/2006/main">
              <a:ext uri="{FF2B5EF4-FFF2-40B4-BE49-F238E27FC236}">
                <a16:creationId xmlns:a16="http://schemas.microsoft.com/office/drawing/2014/main" id="{C3AB5C63-B806-4EC8-B484-592FFED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 总控架构</a:t>
            </a:r>
          </a:p>
        </p:txBody>
      </p:sp>
      <p:sp>
        <p:nvSpPr>
          <p:cNvPr id="2" name="slide-title-231">
            <a:extLst xmlns:a="http://schemas.openxmlformats.org/drawingml/2006/main">
              <a:ext uri="{FF2B5EF4-FFF2-40B4-BE49-F238E27FC236}">
                <a16:creationId xmlns:a16="http://schemas.microsoft.com/office/drawing/2014/main" id="{FA158A8F-E400-4BFC-AA59-71948EED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跨领域事项需要统一接口</a:t>
            </a:r>
          </a:p>
        </p:txBody>
      </p:sp>
      <p:sp>
        <p:nvSpPr>
          <p:cNvPr id="3" name="claim-232">
            <a:extLst xmlns:a="http://schemas.openxmlformats.org/drawingml/2006/main">
              <a:ext uri="{FF2B5EF4-FFF2-40B4-BE49-F238E27FC236}">
                <a16:creationId xmlns:a16="http://schemas.microsoft.com/office/drawing/2014/main" id="{02D5D100-4F45-4AE1-9C7A-2D5662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一张行动记录连接主责、影响、资源和反馈。</a:t>
            </a:r>
          </a:p>
        </p:txBody>
      </p:sp>
      <p:sp>
        <p:nvSpPr>
          <p:cNvPr id="4" name="box-233">
            <a:extLst xmlns:a="http://schemas.openxmlformats.org/drawingml/2006/main">
              <a:ext uri="{FF2B5EF4-FFF2-40B4-BE49-F238E27FC236}">
                <a16:creationId xmlns:a16="http://schemas.microsoft.com/office/drawing/2014/main" id="{55A8284D-268C-42C5-B9F5-26CB1C6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34">
            <a:extLst xmlns:a="http://schemas.openxmlformats.org/drawingml/2006/main">
              <a:ext uri="{FF2B5EF4-FFF2-40B4-BE49-F238E27FC236}">
                <a16:creationId xmlns:a16="http://schemas.microsoft.com/office/drawing/2014/main" id="{6D93B7B6-B34E-4A52-99A8-43E595B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35">
            <a:extLst xmlns:a="http://schemas.openxmlformats.org/drawingml/2006/main">
              <a:ext uri="{FF2B5EF4-FFF2-40B4-BE49-F238E27FC236}">
                <a16:creationId xmlns:a16="http://schemas.microsoft.com/office/drawing/2014/main" id="{388DD3B4-7E45-4AC8-BC88-A12E7548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36">
            <a:extLst xmlns:a="http://schemas.openxmlformats.org/drawingml/2006/main">
              <a:ext uri="{FF2B5EF4-FFF2-40B4-BE49-F238E27FC236}">
                <a16:creationId xmlns:a16="http://schemas.microsoft.com/office/drawing/2014/main" id="{C8ABE271-6E9B-4D59-8DD5-1D007ABF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18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字段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需要记录的内容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身份与责任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唯一行动ID、主责领域、负责人、相关目标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资源与依赖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时间、资金、已有义务、前置任务与协作条件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跨域影响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受影响领域、预期作用、证据或假设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观察与停止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预期结果、观察窗口、验收和停止条件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状态与版本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当前决定版本、选择与授权、实际执行记录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0228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237">
            <a:extLst xmlns:a="http://schemas.openxmlformats.org/drawingml/2006/main">
              <a:ext uri="{FF2B5EF4-FFF2-40B4-BE49-F238E27FC236}">
                <a16:creationId xmlns:a16="http://schemas.microsoft.com/office/drawing/2014/main" id="{073C30EF-AF48-47BC-BD4F-F22CCE26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238">
            <a:extLst xmlns:a="http://schemas.openxmlformats.org/drawingml/2006/main">
              <a:ext uri="{FF2B5EF4-FFF2-40B4-BE49-F238E27FC236}">
                <a16:creationId xmlns:a16="http://schemas.microsoft.com/office/drawing/2014/main" id="{E43F05D7-6688-4D21-812E-0368334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九个领域按生活结果划分</a:t>
            </a:r>
          </a:p>
        </p:txBody>
      </p:sp>
      <p:sp>
        <p:nvSpPr>
          <p:cNvPr id="3" name="claim-239">
            <a:extLst xmlns:a="http://schemas.openxmlformats.org/drawingml/2006/main">
              <a:ext uri="{FF2B5EF4-FFF2-40B4-BE49-F238E27FC236}">
                <a16:creationId xmlns:a16="http://schemas.microsoft.com/office/drawing/2014/main" id="{F84E4593-B428-435E-8A8C-1C20D30A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按当前需要启用；没有数据的领域保留“未了解”。</a:t>
            </a:r>
          </a:p>
        </p:txBody>
      </p:sp>
      <p:sp>
        <p:nvSpPr>
          <p:cNvPr id="4" name="box-240">
            <a:extLst xmlns:a="http://schemas.openxmlformats.org/drawingml/2006/main">
              <a:ext uri="{FF2B5EF4-FFF2-40B4-BE49-F238E27FC236}">
                <a16:creationId xmlns:a16="http://schemas.microsoft.com/office/drawing/2014/main" id="{2B541B67-41CE-4A43-93A4-73E0016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41">
            <a:extLst xmlns:a="http://schemas.openxmlformats.org/drawingml/2006/main">
              <a:ext uri="{FF2B5EF4-FFF2-40B4-BE49-F238E27FC236}">
                <a16:creationId xmlns:a16="http://schemas.microsoft.com/office/drawing/2014/main" id="{ABD532FC-A49F-4262-A2C8-FD8845A0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42">
            <a:extLst xmlns:a="http://schemas.openxmlformats.org/drawingml/2006/main">
              <a:ext uri="{FF2B5EF4-FFF2-40B4-BE49-F238E27FC236}">
                <a16:creationId xmlns:a16="http://schemas.microsoft.com/office/drawing/2014/main" id="{86C83499-F227-439F-9C24-A356B361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43">
            <a:extLst xmlns:a="http://schemas.openxmlformats.org/drawingml/2006/main">
              <a:ext uri="{FF2B5EF4-FFF2-40B4-BE49-F238E27FC236}">
                <a16:creationId xmlns:a16="http://schemas.microsoft.com/office/drawing/2014/main" id="{F7805BB9-970F-45D1-94C8-2AB98914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19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3028950"/>
                <a:gridCol w="2457450"/>
                <a:gridCol w="3028950"/>
              </a:tblGrid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领域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主要维护的结果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领域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主要维护的结果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D01 身体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功能、恢复与照护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D02 心理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感受、应对与心理功能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D03 关系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家庭、承诺与相互照护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D04 职业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有用交付、工作与价值创造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D05 学习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技能、理解与能力迁移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D06 财务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支付能力、资产与保障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D07 日常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居住、交通与基础设施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D08 社群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公共参与与生态责任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D09 体验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休闲、审美与自由时间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/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/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8233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44">
            <a:extLst xmlns:a="http://schemas.openxmlformats.org/drawingml/2006/main">
              <a:ext uri="{FF2B5EF4-FFF2-40B4-BE49-F238E27FC236}">
                <a16:creationId xmlns:a16="http://schemas.microsoft.com/office/drawing/2014/main" id="{6311A560-97A3-40FC-B710-807A846E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245">
            <a:extLst xmlns:a="http://schemas.openxmlformats.org/drawingml/2006/main">
              <a:ext uri="{FF2B5EF4-FFF2-40B4-BE49-F238E27FC236}">
                <a16:creationId xmlns:a16="http://schemas.microsoft.com/office/drawing/2014/main" id="{9D254EEE-3FBF-4AC1-AD6C-F93F8F7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 身体健康与恢复</a:t>
            </a:r>
          </a:p>
        </p:txBody>
      </p:sp>
      <p:sp>
        <p:nvSpPr>
          <p:cNvPr id="3" name="claim-246">
            <a:extLst xmlns:a="http://schemas.openxmlformats.org/drawingml/2006/main">
              <a:ext uri="{FF2B5EF4-FFF2-40B4-BE49-F238E27FC236}">
                <a16:creationId xmlns:a16="http://schemas.microsoft.com/office/drawing/2014/main" id="{C62F031D-A470-481D-866D-9EFE0AE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先维护身体功能，再安排可持续负荷。</a:t>
            </a:r>
          </a:p>
        </p:txBody>
      </p:sp>
      <p:sp>
        <p:nvSpPr>
          <p:cNvPr id="4" name="box-247">
            <a:extLst xmlns:a="http://schemas.openxmlformats.org/drawingml/2006/main">
              <a:ext uri="{FF2B5EF4-FFF2-40B4-BE49-F238E27FC236}">
                <a16:creationId xmlns:a16="http://schemas.microsoft.com/office/drawing/2014/main" id="{31D4341F-A8AA-45F2-A76B-650271C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48">
            <a:extLst xmlns:a="http://schemas.openxmlformats.org/drawingml/2006/main">
              <a:ext uri="{FF2B5EF4-FFF2-40B4-BE49-F238E27FC236}">
                <a16:creationId xmlns:a16="http://schemas.microsoft.com/office/drawing/2014/main" id="{B3ECE115-0A0A-496E-86C5-874B3FE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49">
            <a:extLst xmlns:a="http://schemas.openxmlformats.org/drawingml/2006/main">
              <a:ext uri="{FF2B5EF4-FFF2-40B4-BE49-F238E27FC236}">
                <a16:creationId xmlns:a16="http://schemas.microsoft.com/office/drawing/2014/main" id="{FBD20CD2-4550-4DD7-AE42-B44DE0BB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50">
            <a:extLst xmlns:a="http://schemas.openxmlformats.org/drawingml/2006/main">
              <a:ext uri="{FF2B5EF4-FFF2-40B4-BE49-F238E27FC236}">
                <a16:creationId xmlns:a16="http://schemas.microsoft.com/office/drawing/2014/main" id="{1E7EE433-0D50-4B61-96FC-609BD7E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20 / 91</a:t>
            </a:r>
          </a:p>
        </p:txBody>
      </p:sp>
      <p:sp>
        <p:nvSpPr>
          <p:cNvPr id="8" name="subhead-251">
            <a:extLst xmlns:a="http://schemas.openxmlformats.org/drawingml/2006/main">
              <a:ext uri="{FF2B5EF4-FFF2-40B4-BE49-F238E27FC236}">
                <a16:creationId xmlns:a16="http://schemas.microsoft.com/office/drawing/2014/main" id="{3E578CDC-9C5B-42B1-AD4D-75262614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288BD4DD-8601-42D5-9B5C-23A6DD2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日常身体功能、恢复体验和照护连续性。</a:t>
            </a:r>
          </a:p>
        </p:txBody>
      </p:sp>
      <p:sp>
        <p:nvSpPr>
          <p:cNvPr id="10" name="subhead-253">
            <a:extLst xmlns:a="http://schemas.openxmlformats.org/drawingml/2006/main">
              <a:ext uri="{FF2B5EF4-FFF2-40B4-BE49-F238E27FC236}">
                <a16:creationId xmlns:a16="http://schemas.microsoft.com/office/drawing/2014/main" id="{88C79188-3E7F-4CE1-92C2-FE376F78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254">
            <a:extLst xmlns:a="http://schemas.openxmlformats.org/drawingml/2006/main">
              <a:ext uri="{FF2B5EF4-FFF2-40B4-BE49-F238E27FC236}">
                <a16:creationId xmlns:a16="http://schemas.microsoft.com/office/drawing/2014/main" id="{7E9AE4ED-6F8F-4B17-BA29-209E89DF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本人感受、活动受限与作息记录；医疗资料须有来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源；缺失保留未知。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调整作息和活动；安排就医支持与恢复时间。</a:t>
            </a:r>
          </a:p>
        </p:txBody>
      </p:sp>
      <p:sp>
        <p:nvSpPr>
          <p:cNvPr id="12" name="subhead-255">
            <a:extLst xmlns:a="http://schemas.openxmlformats.org/drawingml/2006/main">
              <a:ext uri="{FF2B5EF4-FFF2-40B4-BE49-F238E27FC236}">
                <a16:creationId xmlns:a16="http://schemas.microsoft.com/office/drawing/2014/main" id="{628518AF-56D3-47F9-8136-0186A65A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256">
            <a:extLst xmlns:a="http://schemas.openxmlformats.org/drawingml/2006/main">
              <a:ext uri="{FF2B5EF4-FFF2-40B4-BE49-F238E27FC236}">
                <a16:creationId xmlns:a16="http://schemas.microsoft.com/office/drawing/2014/main" id="{B6D3F4C8-8F20-49A8-9872-D67267F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D03：协商照护分工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D06：核实医疗费用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D07：改善居住可达性</a:t>
            </a:r>
          </a:p>
        </p:txBody>
      </p:sp>
      <p:sp>
        <p:nvSpPr>
          <p:cNvPr id="14" name="subhead-257">
            <a:extLst xmlns:a="http://schemas.openxmlformats.org/drawingml/2006/main">
              <a:ext uri="{FF2B5EF4-FFF2-40B4-BE49-F238E27FC236}">
                <a16:creationId xmlns:a16="http://schemas.microsoft.com/office/drawing/2014/main" id="{5CA29DA9-8739-4322-BFB1-0CA496D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258">
            <a:extLst xmlns:a="http://schemas.openxmlformats.org/drawingml/2006/main">
              <a:ext uri="{FF2B5EF4-FFF2-40B4-BE49-F238E27FC236}">
                <a16:creationId xmlns:a16="http://schemas.microsoft.com/office/drawing/2014/main" id="{586342ED-64F3-487E-91C3-CC026010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M21：判断健康信息与负荷；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M03：识别波动与测量不确定性</a:t>
            </a:r>
          </a:p>
        </p:txBody>
      </p:sp>
      <p:sp>
        <p:nvSpPr>
          <p:cNvPr id="16" name="box-259">
            <a:extLst xmlns:a="http://schemas.openxmlformats.org/drawingml/2006/main">
              <a:ext uri="{FF2B5EF4-FFF2-40B4-BE49-F238E27FC236}">
                <a16:creationId xmlns:a16="http://schemas.microsoft.com/office/drawing/2014/main" id="{C04D9C6F-9DAC-4E81-9F16-CA1E479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260">
            <a:extLst xmlns:a="http://schemas.openxmlformats.org/drawingml/2006/main">
              <a:ext uri="{FF2B5EF4-FFF2-40B4-BE49-F238E27FC236}">
                <a16:creationId xmlns:a16="http://schemas.microsoft.com/office/drawing/2014/main" id="{156C7CA4-DB85-4CFA-A666-ABA59E6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261">
            <a:extLst xmlns:a="http://schemas.openxmlformats.org/drawingml/2006/main">
              <a:ext uri="{FF2B5EF4-FFF2-40B4-BE49-F238E27FC236}">
                <a16:creationId xmlns:a16="http://schemas.microsoft.com/office/drawing/2014/main" id="{7B220F53-373C-4ABC-861F-4262E703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合成：项目临时加量时，先核对既定恢复安排，再比较缩减或延期。</a:t>
            </a:r>
          </a:p>
        </p:txBody>
      </p:sp>
      <p:sp>
        <p:nvSpPr>
          <p:cNvPr id="19" name="text-262">
            <a:extLst xmlns:a="http://schemas.openxmlformats.org/drawingml/2006/main">
              <a:ext uri="{FF2B5EF4-FFF2-40B4-BE49-F238E27FC236}">
                <a16:creationId xmlns:a16="http://schemas.microsoft.com/office/drawing/2014/main" id="{648A6091-66F1-4AC9-B088-2F97278D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263">
            <a:extLst xmlns:a="http://schemas.openxmlformats.org/drawingml/2006/main">
              <a:ext uri="{FF2B5EF4-FFF2-40B4-BE49-F238E27FC236}">
                <a16:creationId xmlns:a16="http://schemas.microsoft.com/office/drawing/2014/main" id="{B5D039D1-8C68-45D3-9679-F364F69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指标不是诊断；不凭聊天开处方，健康底线不能被收入抵消。</a:t>
            </a:r>
          </a:p>
        </p:txBody>
      </p:sp>
    </p:spTree>
    <p:extLst>
      <p:ext uri="{BB962C8B-B14F-4D97-AF65-F5344CB8AC3E}">
        <p14:creationId xmlns:p14="http://schemas.microsoft.com/office/powerpoint/2010/main" val="5399416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64">
            <a:extLst xmlns:a="http://schemas.openxmlformats.org/drawingml/2006/main">
              <a:ext uri="{FF2B5EF4-FFF2-40B4-BE49-F238E27FC236}">
                <a16:creationId xmlns:a16="http://schemas.microsoft.com/office/drawing/2014/main" id="{C065582C-8FDE-4E46-914C-6BD99D3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265">
            <a:extLst xmlns:a="http://schemas.openxmlformats.org/drawingml/2006/main">
              <a:ext uri="{FF2B5EF4-FFF2-40B4-BE49-F238E27FC236}">
                <a16:creationId xmlns:a16="http://schemas.microsoft.com/office/drawing/2014/main" id="{623ED8D9-7CFC-4127-AC14-C2AEEAD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D02 心理状态与自我调节</a:t>
            </a:r>
          </a:p>
        </p:txBody>
      </p:sp>
      <p:sp>
        <p:nvSpPr>
          <p:cNvPr id="3" name="claim-266">
            <a:extLst xmlns:a="http://schemas.openxmlformats.org/drawingml/2006/main">
              <a:ext uri="{FF2B5EF4-FFF2-40B4-BE49-F238E27FC236}">
                <a16:creationId xmlns:a16="http://schemas.microsoft.com/office/drawing/2014/main" id="{E5396FB9-F4DC-483B-89B4-1219BFCD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理解体验与环境，支持用户恢复应对能力。</a:t>
            </a:r>
          </a:p>
        </p:txBody>
      </p:sp>
      <p:sp>
        <p:nvSpPr>
          <p:cNvPr id="4" name="box-267">
            <a:extLst xmlns:a="http://schemas.openxmlformats.org/drawingml/2006/main">
              <a:ext uri="{FF2B5EF4-FFF2-40B4-BE49-F238E27FC236}">
                <a16:creationId xmlns:a16="http://schemas.microsoft.com/office/drawing/2014/main" id="{409A11A4-2A62-446F-99DE-F81397C1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68">
            <a:extLst xmlns:a="http://schemas.openxmlformats.org/drawingml/2006/main">
              <a:ext uri="{FF2B5EF4-FFF2-40B4-BE49-F238E27FC236}">
                <a16:creationId xmlns:a16="http://schemas.microsoft.com/office/drawing/2014/main" id="{4BC364DF-A957-41BD-8A29-86AFF5E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69">
            <a:extLst xmlns:a="http://schemas.openxmlformats.org/drawingml/2006/main">
              <a:ext uri="{FF2B5EF4-FFF2-40B4-BE49-F238E27FC236}">
                <a16:creationId xmlns:a16="http://schemas.microsoft.com/office/drawing/2014/main" id="{47EA4CF2-CC32-47F6-A1A4-61C21C7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70">
            <a:extLst xmlns:a="http://schemas.openxmlformats.org/drawingml/2006/main">
              <a:ext uri="{FF2B5EF4-FFF2-40B4-BE49-F238E27FC236}">
                <a16:creationId xmlns:a16="http://schemas.microsoft.com/office/drawing/2014/main" id="{9E874927-6F64-4A5A-9032-9FCFCD1B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21 / 91</a:t>
            </a:r>
          </a:p>
        </p:txBody>
      </p:sp>
      <p:sp>
        <p:nvSpPr>
          <p:cNvPr id="8" name="subhead-271">
            <a:extLst xmlns:a="http://schemas.openxmlformats.org/drawingml/2006/main">
              <a:ext uri="{FF2B5EF4-FFF2-40B4-BE49-F238E27FC236}">
                <a16:creationId xmlns:a16="http://schemas.microsoft.com/office/drawing/2014/main" id="{A0C77E54-9B59-415E-983D-D865303C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272">
            <a:extLst xmlns:a="http://schemas.openxmlformats.org/drawingml/2006/main">
              <a:ext uri="{FF2B5EF4-FFF2-40B4-BE49-F238E27FC236}">
                <a16:creationId xmlns:a16="http://schemas.microsoft.com/office/drawing/2014/main" id="{B3306D8E-0AEF-4D7E-B693-BB712EC4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主观感受、心理功能和应对能力。</a:t>
            </a:r>
          </a:p>
        </p:txBody>
      </p:sp>
      <p:sp>
        <p:nvSpPr>
          <p:cNvPr id="10" name="subhead-273">
            <a:extLst xmlns:a="http://schemas.openxmlformats.org/drawingml/2006/main">
              <a:ext uri="{FF2B5EF4-FFF2-40B4-BE49-F238E27FC236}">
                <a16:creationId xmlns:a16="http://schemas.microsoft.com/office/drawing/2014/main" id="{5043E19E-F3A5-48E2-8D42-75A4DCA9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274">
            <a:extLst xmlns:a="http://schemas.openxmlformats.org/drawingml/2006/main">
              <a:ext uri="{FF2B5EF4-FFF2-40B4-BE49-F238E27FC236}">
                <a16:creationId xmlns:a16="http://schemas.microsoft.com/office/drawing/2014/main" id="{FF231956-9EAE-4743-A6CF-14289418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用户叙述、负荷与日常功能变化；需要与困扰可用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文字，不强迫量表。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表达需要并调整环境负荷；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练习调节或寻求合适支持。</a:t>
            </a:r>
          </a:p>
        </p:txBody>
      </p:sp>
      <p:sp>
        <p:nvSpPr>
          <p:cNvPr id="12" name="subhead-275">
            <a:extLst xmlns:a="http://schemas.openxmlformats.org/drawingml/2006/main">
              <a:ext uri="{FF2B5EF4-FFF2-40B4-BE49-F238E27FC236}">
                <a16:creationId xmlns:a16="http://schemas.microsoft.com/office/drawing/2014/main" id="{3AEDF076-AAC8-469F-8586-5BA7CD42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276">
            <a:extLst xmlns:a="http://schemas.openxmlformats.org/drawingml/2006/main">
              <a:ext uri="{FF2B5EF4-FFF2-40B4-BE49-F238E27FC236}">
                <a16:creationId xmlns:a16="http://schemas.microsoft.com/office/drawing/2014/main" id="{AFAF6C0E-3B98-4047-999E-CF6DA6F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D01：身体状态可能影响体验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D03：关系支持与冲突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D04：工作条件和压力来源</a:t>
            </a:r>
          </a:p>
        </p:txBody>
      </p:sp>
      <p:sp>
        <p:nvSpPr>
          <p:cNvPr id="14" name="subhead-277">
            <a:extLst xmlns:a="http://schemas.openxmlformats.org/drawingml/2006/main">
              <a:ext uri="{FF2B5EF4-FFF2-40B4-BE49-F238E27FC236}">
                <a16:creationId xmlns:a16="http://schemas.microsoft.com/office/drawing/2014/main" id="{D60E5608-4D70-47D2-8317-D67EA2F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278">
            <a:extLst xmlns:a="http://schemas.openxmlformats.org/drawingml/2006/main">
              <a:ext uri="{FF2B5EF4-FFF2-40B4-BE49-F238E27FC236}">
                <a16:creationId xmlns:a16="http://schemas.microsoft.com/office/drawing/2014/main" id="{5D2EE0B0-7FE7-45C6-896C-0DF49814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M10：理解行为机制；M21：核查健康边界；M23：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澄清价值与意义</a:t>
            </a:r>
          </a:p>
        </p:txBody>
      </p:sp>
      <p:sp>
        <p:nvSpPr>
          <p:cNvPr id="16" name="box-279">
            <a:extLst xmlns:a="http://schemas.openxmlformats.org/drawingml/2006/main">
              <a:ext uri="{FF2B5EF4-FFF2-40B4-BE49-F238E27FC236}">
                <a16:creationId xmlns:a16="http://schemas.microsoft.com/office/drawing/2014/main" id="{C9BF4074-1865-4039-9A0F-2D8674A3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280">
            <a:extLst xmlns:a="http://schemas.openxmlformats.org/drawingml/2006/main">
              <a:ext uri="{FF2B5EF4-FFF2-40B4-BE49-F238E27FC236}">
                <a16:creationId xmlns:a16="http://schemas.microsoft.com/office/drawing/2014/main" id="{84B36116-EAFC-4AFD-BA0F-94D2CE2A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281">
            <a:extLst xmlns:a="http://schemas.openxmlformats.org/drawingml/2006/main">
              <a:ext uri="{FF2B5EF4-FFF2-40B4-BE49-F238E27FC236}">
                <a16:creationId xmlns:a16="http://schemas.microsoft.com/office/drawing/2014/main" id="{7C026D6F-CA57-4C5B-9948-4357B6DB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合成：反复疲惫先核对工作负荷和恢复条件，再选择减量或支持。</a:t>
            </a:r>
          </a:p>
        </p:txBody>
      </p:sp>
      <p:sp>
        <p:nvSpPr>
          <p:cNvPr id="19" name="text-282">
            <a:extLst xmlns:a="http://schemas.openxmlformats.org/drawingml/2006/main">
              <a:ext uri="{FF2B5EF4-FFF2-40B4-BE49-F238E27FC236}">
                <a16:creationId xmlns:a16="http://schemas.microsoft.com/office/drawing/2014/main" id="{53EC59A3-4779-47F3-9676-F080320A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283">
            <a:extLst xmlns:a="http://schemas.openxmlformats.org/drawingml/2006/main">
              <a:ext uri="{FF2B5EF4-FFF2-40B4-BE49-F238E27FC236}">
                <a16:creationId xmlns:a16="http://schemas.microsoft.com/office/drawing/2014/main" id="{16577148-68BE-4800-8F32-B5A3AA2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不做聊天诊断；不把环境问题一律归咎性格，也不强算情绪总分。</a:t>
            </a:r>
          </a:p>
        </p:txBody>
      </p:sp>
    </p:spTree>
    <p:extLst>
      <p:ext uri="{BB962C8B-B14F-4D97-AF65-F5344CB8AC3E}">
        <p14:creationId xmlns:p14="http://schemas.microsoft.com/office/powerpoint/2010/main" val="7051084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84">
            <a:extLst xmlns:a="http://schemas.openxmlformats.org/drawingml/2006/main">
              <a:ext uri="{FF2B5EF4-FFF2-40B4-BE49-F238E27FC236}">
                <a16:creationId xmlns:a16="http://schemas.microsoft.com/office/drawing/2014/main" id="{C3F57EBC-F86B-4615-ABCA-8B1C0A0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285">
            <a:extLst xmlns:a="http://schemas.openxmlformats.org/drawingml/2006/main">
              <a:ext uri="{FF2B5EF4-FFF2-40B4-BE49-F238E27FC236}">
                <a16:creationId xmlns:a16="http://schemas.microsoft.com/office/drawing/2014/main" id="{6DE83FF1-9005-49E9-869E-EB478DE7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D03 关系、家庭与照护</a:t>
            </a:r>
          </a:p>
        </p:txBody>
      </p:sp>
      <p:sp>
        <p:nvSpPr>
          <p:cNvPr id="3" name="claim-286">
            <a:extLst xmlns:a="http://schemas.openxmlformats.org/drawingml/2006/main">
              <a:ext uri="{FF2B5EF4-FFF2-40B4-BE49-F238E27FC236}">
                <a16:creationId xmlns:a16="http://schemas.microsoft.com/office/drawing/2014/main" id="{8854200F-57BD-4BAD-B29F-2DCFD1F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维护自愿关系与共同承诺，补上实际照护缺口。</a:t>
            </a:r>
          </a:p>
        </p:txBody>
      </p:sp>
      <p:sp>
        <p:nvSpPr>
          <p:cNvPr id="4" name="box-287">
            <a:extLst xmlns:a="http://schemas.openxmlformats.org/drawingml/2006/main">
              <a:ext uri="{FF2B5EF4-FFF2-40B4-BE49-F238E27FC236}">
                <a16:creationId xmlns:a16="http://schemas.microsoft.com/office/drawing/2014/main" id="{A6C0E21E-7785-4D62-824E-4757B00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288">
            <a:extLst xmlns:a="http://schemas.openxmlformats.org/drawingml/2006/main">
              <a:ext uri="{FF2B5EF4-FFF2-40B4-BE49-F238E27FC236}">
                <a16:creationId xmlns:a16="http://schemas.microsoft.com/office/drawing/2014/main" id="{8971CF08-34E3-4F93-9A50-0F0C3F1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289">
            <a:extLst xmlns:a="http://schemas.openxmlformats.org/drawingml/2006/main">
              <a:ext uri="{FF2B5EF4-FFF2-40B4-BE49-F238E27FC236}">
                <a16:creationId xmlns:a16="http://schemas.microsoft.com/office/drawing/2014/main" id="{3ED03D43-D223-46ED-94A6-B0A9D55A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290">
            <a:extLst xmlns:a="http://schemas.openxmlformats.org/drawingml/2006/main">
              <a:ext uri="{FF2B5EF4-FFF2-40B4-BE49-F238E27FC236}">
                <a16:creationId xmlns:a16="http://schemas.microsoft.com/office/drawing/2014/main" id="{6C2601FA-DB4E-4504-A7EC-4BD4B523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22 / 91</a:t>
            </a:r>
          </a:p>
        </p:txBody>
      </p:sp>
      <p:sp>
        <p:nvSpPr>
          <p:cNvPr id="8" name="subhead-291">
            <a:extLst xmlns:a="http://schemas.openxmlformats.org/drawingml/2006/main">
              <a:ext uri="{FF2B5EF4-FFF2-40B4-BE49-F238E27FC236}">
                <a16:creationId xmlns:a16="http://schemas.microsoft.com/office/drawing/2014/main" id="{7BDC7D53-4B8F-49ED-8F50-A641BAAE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292">
            <a:extLst xmlns:a="http://schemas.openxmlformats.org/drawingml/2006/main">
              <a:ext uri="{FF2B5EF4-FFF2-40B4-BE49-F238E27FC236}">
                <a16:creationId xmlns:a16="http://schemas.microsoft.com/office/drawing/2014/main" id="{332DAD74-B64F-4CB3-B270-737A5DBB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互相认可的承诺、陪伴和连续照护。</a:t>
            </a:r>
          </a:p>
        </p:txBody>
      </p:sp>
      <p:sp>
        <p:nvSpPr>
          <p:cNvPr id="10" name="subhead-293">
            <a:extLst xmlns:a="http://schemas.openxmlformats.org/drawingml/2006/main">
              <a:ext uri="{FF2B5EF4-FFF2-40B4-BE49-F238E27FC236}">
                <a16:creationId xmlns:a16="http://schemas.microsoft.com/office/drawing/2014/main" id="{35C6A080-B643-4C25-994A-37FAD5D0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294">
            <a:extLst xmlns:a="http://schemas.openxmlformats.org/drawingml/2006/main">
              <a:ext uri="{FF2B5EF4-FFF2-40B4-BE49-F238E27FC236}">
                <a16:creationId xmlns:a16="http://schemas.microsoft.com/office/drawing/2014/main" id="{32492334-E53D-4DF3-8F6F-EA8745A2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双方自愿反馈、已认可分工；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陪伴体验与照护缺口；未知待核。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沟通需要与协商分工；安排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陪伴、照护和替代支持。</a:t>
            </a:r>
          </a:p>
        </p:txBody>
      </p:sp>
      <p:sp>
        <p:nvSpPr>
          <p:cNvPr id="12" name="subhead-295">
            <a:extLst xmlns:a="http://schemas.openxmlformats.org/drawingml/2006/main">
              <a:ext uri="{FF2B5EF4-FFF2-40B4-BE49-F238E27FC236}">
                <a16:creationId xmlns:a16="http://schemas.microsoft.com/office/drawing/2014/main" id="{F5208736-1F2E-4A73-AD20-90DB87A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296">
            <a:extLst xmlns:a="http://schemas.openxmlformats.org/drawingml/2006/main">
              <a:ext uri="{FF2B5EF4-FFF2-40B4-BE49-F238E27FC236}">
                <a16:creationId xmlns:a16="http://schemas.microsoft.com/office/drawing/2014/main" id="{3CAB28B6-CE8F-4E50-A83A-BD657D38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D01／D02：衔接治疗与支持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D06：确认支付能力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D07：安排居住改造</a:t>
            </a:r>
          </a:p>
        </p:txBody>
      </p:sp>
      <p:sp>
        <p:nvSpPr>
          <p:cNvPr id="14" name="subhead-297">
            <a:extLst xmlns:a="http://schemas.openxmlformats.org/drawingml/2006/main">
              <a:ext uri="{FF2B5EF4-FFF2-40B4-BE49-F238E27FC236}">
                <a16:creationId xmlns:a16="http://schemas.microsoft.com/office/drawing/2014/main" id="{33EF18C9-8935-49A0-97CA-73CEE36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298">
            <a:extLst xmlns:a="http://schemas.openxmlformats.org/drawingml/2006/main">
              <a:ext uri="{FF2B5EF4-FFF2-40B4-BE49-F238E27FC236}">
                <a16:creationId xmlns:a16="http://schemas.microsoft.com/office/drawing/2014/main" id="{76A5A32B-7C79-430E-9F3F-B4A0170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M07：合作与相互回应；M10：理解冲突；M17：协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商表达；M20：核查义务</a:t>
            </a:r>
          </a:p>
        </p:txBody>
      </p:sp>
      <p:sp>
        <p:nvSpPr>
          <p:cNvPr id="16" name="box-299">
            <a:extLst xmlns:a="http://schemas.openxmlformats.org/drawingml/2006/main">
              <a:ext uri="{FF2B5EF4-FFF2-40B4-BE49-F238E27FC236}">
                <a16:creationId xmlns:a16="http://schemas.microsoft.com/office/drawing/2014/main" id="{45BC1D93-A3F3-47A2-A319-5DFF6DDD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300">
            <a:extLst xmlns:a="http://schemas.openxmlformats.org/drawingml/2006/main">
              <a:ext uri="{FF2B5EF4-FFF2-40B4-BE49-F238E27FC236}">
                <a16:creationId xmlns:a16="http://schemas.microsoft.com/office/drawing/2014/main" id="{5B53BAA4-0852-4C51-B4CB-9868EFA3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301">
            <a:extLst xmlns:a="http://schemas.openxmlformats.org/drawingml/2006/main">
              <a:ext uri="{FF2B5EF4-FFF2-40B4-BE49-F238E27FC236}">
                <a16:creationId xmlns:a16="http://schemas.microsoft.com/office/drawing/2014/main" id="{D32E3C41-F960-4885-ADC2-C3B313F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合成：一次陪诊由D03主责，交通与费用引用同一行动，只记一次。</a:t>
            </a:r>
          </a:p>
        </p:txBody>
      </p:sp>
      <p:sp>
        <p:nvSpPr>
          <p:cNvPr id="19" name="text-302">
            <a:extLst xmlns:a="http://schemas.openxmlformats.org/drawingml/2006/main">
              <a:ext uri="{FF2B5EF4-FFF2-40B4-BE49-F238E27FC236}">
                <a16:creationId xmlns:a16="http://schemas.microsoft.com/office/drawing/2014/main" id="{DB971A12-68F0-45A4-BB97-702E416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303">
            <a:extLst xmlns:a="http://schemas.openxmlformats.org/drawingml/2006/main">
              <a:ext uri="{FF2B5EF4-FFF2-40B4-BE49-F238E27FC236}">
                <a16:creationId xmlns:a16="http://schemas.microsoft.com/office/drawing/2014/main" id="{E134586A-3CA1-4541-853F-214B84D0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他人的回应由本人决定；消息数量不能代表关系质量，不默认采集亲友资料。</a:t>
            </a:r>
          </a:p>
        </p:txBody>
      </p:sp>
    </p:spTree>
    <p:extLst>
      <p:ext uri="{BB962C8B-B14F-4D97-AF65-F5344CB8AC3E}">
        <p14:creationId xmlns:p14="http://schemas.microsoft.com/office/powerpoint/2010/main" val="10736797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04">
            <a:extLst xmlns:a="http://schemas.openxmlformats.org/drawingml/2006/main">
              <a:ext uri="{FF2B5EF4-FFF2-40B4-BE49-F238E27FC236}">
                <a16:creationId xmlns:a16="http://schemas.microsoft.com/office/drawing/2014/main" id="{CB969F35-96C9-418C-A274-72EFBBFF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305">
            <a:extLst xmlns:a="http://schemas.openxmlformats.org/drawingml/2006/main">
              <a:ext uri="{FF2B5EF4-FFF2-40B4-BE49-F238E27FC236}">
                <a16:creationId xmlns:a16="http://schemas.microsoft.com/office/drawing/2014/main" id="{481452F7-7E60-4F13-8BEB-6EA89185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 职业、劳动与价值创造</a:t>
            </a:r>
          </a:p>
        </p:txBody>
      </p:sp>
      <p:sp>
        <p:nvSpPr>
          <p:cNvPr id="3" name="claim-306">
            <a:extLst xmlns:a="http://schemas.openxmlformats.org/drawingml/2006/main">
              <a:ext uri="{FF2B5EF4-FFF2-40B4-BE49-F238E27FC236}">
                <a16:creationId xmlns:a16="http://schemas.microsoft.com/office/drawing/2014/main" id="{66E390B2-D309-41C4-AE85-48F7792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让交付有用、条件可接受、发展可持续。</a:t>
            </a:r>
          </a:p>
        </p:txBody>
      </p:sp>
      <p:sp>
        <p:nvSpPr>
          <p:cNvPr id="4" name="box-307">
            <a:extLst xmlns:a="http://schemas.openxmlformats.org/drawingml/2006/main">
              <a:ext uri="{FF2B5EF4-FFF2-40B4-BE49-F238E27FC236}">
                <a16:creationId xmlns:a16="http://schemas.microsoft.com/office/drawing/2014/main" id="{354E96BD-F5AB-424C-93F6-FFDEB04E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308">
            <a:extLst xmlns:a="http://schemas.openxmlformats.org/drawingml/2006/main">
              <a:ext uri="{FF2B5EF4-FFF2-40B4-BE49-F238E27FC236}">
                <a16:creationId xmlns:a16="http://schemas.microsoft.com/office/drawing/2014/main" id="{18338054-EBA7-4509-B20F-C24907F7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309">
            <a:extLst xmlns:a="http://schemas.openxmlformats.org/drawingml/2006/main">
              <a:ext uri="{FF2B5EF4-FFF2-40B4-BE49-F238E27FC236}">
                <a16:creationId xmlns:a16="http://schemas.microsoft.com/office/drawing/2014/main" id="{F1B73FE1-6CFF-441B-8DBC-1EFA94A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310">
            <a:extLst xmlns:a="http://schemas.openxmlformats.org/drawingml/2006/main">
              <a:ext uri="{FF2B5EF4-FFF2-40B4-BE49-F238E27FC236}">
                <a16:creationId xmlns:a16="http://schemas.microsoft.com/office/drawing/2014/main" id="{FF70F119-11EC-40C9-AF41-731F8437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23 / 91</a:t>
            </a:r>
          </a:p>
        </p:txBody>
      </p:sp>
      <p:sp>
        <p:nvSpPr>
          <p:cNvPr id="8" name="subhead-311">
            <a:extLst xmlns:a="http://schemas.openxmlformats.org/drawingml/2006/main">
              <a:ext uri="{FF2B5EF4-FFF2-40B4-BE49-F238E27FC236}">
                <a16:creationId xmlns:a16="http://schemas.microsoft.com/office/drawing/2014/main" id="{ED4C9D77-39FB-4ACC-894D-64086CBA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312">
            <a:extLst xmlns:a="http://schemas.openxmlformats.org/drawingml/2006/main">
              <a:ext uri="{FF2B5EF4-FFF2-40B4-BE49-F238E27FC236}">
                <a16:creationId xmlns:a16="http://schemas.microsoft.com/office/drawing/2014/main" id="{C39CB16C-734B-444B-A4EF-1831E604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交付质量、工作条件、角色适配与持续性。</a:t>
            </a:r>
          </a:p>
        </p:txBody>
      </p:sp>
      <p:sp>
        <p:nvSpPr>
          <p:cNvPr id="10" name="subhead-313">
            <a:extLst xmlns:a="http://schemas.openxmlformats.org/drawingml/2006/main">
              <a:ext uri="{FF2B5EF4-FFF2-40B4-BE49-F238E27FC236}">
                <a16:creationId xmlns:a16="http://schemas.microsoft.com/office/drawing/2014/main" id="{4A6665CE-DFB1-4F25-AA3C-6795A2D5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314">
            <a:extLst xmlns:a="http://schemas.openxmlformats.org/drawingml/2006/main">
              <a:ext uri="{FF2B5EF4-FFF2-40B4-BE49-F238E27FC236}">
                <a16:creationId xmlns:a16="http://schemas.microsoft.com/office/drawing/2014/main" id="{2FFBC736-33AE-4201-ACFF-EB36C756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实际成果与使用反馈；劳动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条件、负荷与角色体验。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比较岗位、项目和合作；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改进产品服务与执行流程。</a:t>
            </a:r>
          </a:p>
        </p:txBody>
      </p:sp>
      <p:sp>
        <p:nvSpPr>
          <p:cNvPr id="12" name="subhead-315">
            <a:extLst xmlns:a="http://schemas.openxmlformats.org/drawingml/2006/main">
              <a:ext uri="{FF2B5EF4-FFF2-40B4-BE49-F238E27FC236}">
                <a16:creationId xmlns:a16="http://schemas.microsoft.com/office/drawing/2014/main" id="{F7BBBA07-191C-4B5F-A9C9-5EF66234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316">
            <a:extLst xmlns:a="http://schemas.openxmlformats.org/drawingml/2006/main">
              <a:ext uri="{FF2B5EF4-FFF2-40B4-BE49-F238E27FC236}">
                <a16:creationId xmlns:a16="http://schemas.microsoft.com/office/drawing/2014/main" id="{7B2BC8B5-C991-412C-8A7C-AB892080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D05：形成并迁移能力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D06：记录实际收支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D08：区分公共志愿责任</a:t>
            </a:r>
          </a:p>
        </p:txBody>
      </p:sp>
      <p:sp>
        <p:nvSpPr>
          <p:cNvPr id="14" name="subhead-317">
            <a:extLst xmlns:a="http://schemas.openxmlformats.org/drawingml/2006/main">
              <a:ext uri="{FF2B5EF4-FFF2-40B4-BE49-F238E27FC236}">
                <a16:creationId xmlns:a16="http://schemas.microsoft.com/office/drawing/2014/main" id="{3F2E808E-11DB-4F56-BB3C-06EE009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318">
            <a:extLst xmlns:a="http://schemas.openxmlformats.org/drawingml/2006/main">
              <a:ext uri="{FF2B5EF4-FFF2-40B4-BE49-F238E27FC236}">
                <a16:creationId xmlns:a16="http://schemas.microsoft.com/office/drawing/2014/main" id="{422C0591-8962-48F0-A70A-7D5CE66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M08：经济条件；M09：劳动与分配；M11：组织机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制；M17：谈判；M18：交付；M20：合同</a:t>
            </a:r>
          </a:p>
        </p:txBody>
      </p:sp>
      <p:sp>
        <p:nvSpPr>
          <p:cNvPr id="16" name="box-319">
            <a:extLst xmlns:a="http://schemas.openxmlformats.org/drawingml/2006/main">
              <a:ext uri="{FF2B5EF4-FFF2-40B4-BE49-F238E27FC236}">
                <a16:creationId xmlns:a16="http://schemas.microsoft.com/office/drawing/2014/main" id="{A6CC2D69-F059-4150-ACC6-45903B6C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320">
            <a:extLst xmlns:a="http://schemas.openxmlformats.org/drawingml/2006/main">
              <a:ext uri="{FF2B5EF4-FFF2-40B4-BE49-F238E27FC236}">
                <a16:creationId xmlns:a16="http://schemas.microsoft.com/office/drawing/2014/main" id="{74F622F2-F41E-40D4-AB47-690CB1EA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321">
            <a:extLst xmlns:a="http://schemas.openxmlformats.org/drawingml/2006/main">
              <a:ext uri="{FF2B5EF4-FFF2-40B4-BE49-F238E27FC236}">
                <a16:creationId xmlns:a16="http://schemas.microsoft.com/office/drawing/2014/main" id="{448BD979-7BFF-4F2E-8EC7-5D0A37C7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合成：新项目挤占学习时，比较缩小交付范围、延期与不承接。</a:t>
            </a:r>
          </a:p>
        </p:txBody>
      </p:sp>
      <p:sp>
        <p:nvSpPr>
          <p:cNvPr id="19" name="text-322">
            <a:extLst xmlns:a="http://schemas.openxmlformats.org/drawingml/2006/main">
              <a:ext uri="{FF2B5EF4-FFF2-40B4-BE49-F238E27FC236}">
                <a16:creationId xmlns:a16="http://schemas.microsoft.com/office/drawing/2014/main" id="{56876F7B-8CF6-45A3-9370-136B5187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323">
            <a:extLst xmlns:a="http://schemas.openxmlformats.org/drawingml/2006/main">
              <a:ext uri="{FF2B5EF4-FFF2-40B4-BE49-F238E27FC236}">
                <a16:creationId xmlns:a16="http://schemas.microsoft.com/office/drawing/2014/main" id="{9D7D1AD5-E56E-40F2-A162-48C1E04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不预设创业优于就业；营业额、利润、个人收入与资产增长分别核算。</a:t>
            </a:r>
          </a:p>
        </p:txBody>
      </p:sp>
    </p:spTree>
    <p:extLst>
      <p:ext uri="{BB962C8B-B14F-4D97-AF65-F5344CB8AC3E}">
        <p14:creationId xmlns:p14="http://schemas.microsoft.com/office/powerpoint/2010/main" val="6104105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24">
            <a:extLst xmlns:a="http://schemas.openxmlformats.org/drawingml/2006/main">
              <a:ext uri="{FF2B5EF4-FFF2-40B4-BE49-F238E27FC236}">
                <a16:creationId xmlns:a16="http://schemas.microsoft.com/office/drawing/2014/main" id="{D4820A6F-1339-4978-823D-C5DA101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325">
            <a:extLst xmlns:a="http://schemas.openxmlformats.org/drawingml/2006/main">
              <a:ext uri="{FF2B5EF4-FFF2-40B4-BE49-F238E27FC236}">
                <a16:creationId xmlns:a16="http://schemas.microsoft.com/office/drawing/2014/main" id="{7D895EA3-1E09-4122-8479-EB82F8CC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D05 学习、能力与探索</a:t>
            </a:r>
          </a:p>
        </p:txBody>
      </p:sp>
      <p:sp>
        <p:nvSpPr>
          <p:cNvPr id="3" name="claim-326">
            <a:extLst xmlns:a="http://schemas.openxmlformats.org/drawingml/2006/main">
              <a:ext uri="{FF2B5EF4-FFF2-40B4-BE49-F238E27FC236}">
                <a16:creationId xmlns:a16="http://schemas.microsoft.com/office/drawing/2014/main" id="{3AE828B7-AE59-44DD-BE1C-CCE23BBD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用独立完成与迁移表现检验学习。</a:t>
            </a:r>
          </a:p>
        </p:txBody>
      </p:sp>
      <p:sp>
        <p:nvSpPr>
          <p:cNvPr id="4" name="box-327">
            <a:extLst xmlns:a="http://schemas.openxmlformats.org/drawingml/2006/main">
              <a:ext uri="{FF2B5EF4-FFF2-40B4-BE49-F238E27FC236}">
                <a16:creationId xmlns:a16="http://schemas.microsoft.com/office/drawing/2014/main" id="{584E666B-A79F-4CD1-9865-AC9CA417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328">
            <a:extLst xmlns:a="http://schemas.openxmlformats.org/drawingml/2006/main">
              <a:ext uri="{FF2B5EF4-FFF2-40B4-BE49-F238E27FC236}">
                <a16:creationId xmlns:a16="http://schemas.microsoft.com/office/drawing/2014/main" id="{20FE5B63-AC9B-4769-877B-7E4718BE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329">
            <a:extLst xmlns:a="http://schemas.openxmlformats.org/drawingml/2006/main">
              <a:ext uri="{FF2B5EF4-FFF2-40B4-BE49-F238E27FC236}">
                <a16:creationId xmlns:a16="http://schemas.microsoft.com/office/drawing/2014/main" id="{2FCDAF2E-8AD0-4867-9BA6-2F994A03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330">
            <a:extLst xmlns:a="http://schemas.openxmlformats.org/drawingml/2006/main">
              <a:ext uri="{FF2B5EF4-FFF2-40B4-BE49-F238E27FC236}">
                <a16:creationId xmlns:a16="http://schemas.microsoft.com/office/drawing/2014/main" id="{56E9FB4C-E009-4019-A6B7-B5015396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24 / 91</a:t>
            </a:r>
          </a:p>
        </p:txBody>
      </p:sp>
      <p:sp>
        <p:nvSpPr>
          <p:cNvPr id="8" name="subhead-331">
            <a:extLst xmlns:a="http://schemas.openxmlformats.org/drawingml/2006/main">
              <a:ext uri="{FF2B5EF4-FFF2-40B4-BE49-F238E27FC236}">
                <a16:creationId xmlns:a16="http://schemas.microsoft.com/office/drawing/2014/main" id="{9B16AB1D-4FD7-4D7D-8CA6-D2D1D54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332">
            <a:extLst xmlns:a="http://schemas.openxmlformats.org/drawingml/2006/main">
              <a:ext uri="{FF2B5EF4-FFF2-40B4-BE49-F238E27FC236}">
                <a16:creationId xmlns:a16="http://schemas.microsoft.com/office/drawing/2014/main" id="{8F801DAB-A0B3-47B7-92D5-4C7209E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能独立完成任务，并保持与迁移能力。</a:t>
            </a:r>
          </a:p>
        </p:txBody>
      </p:sp>
      <p:sp>
        <p:nvSpPr>
          <p:cNvPr id="10" name="subhead-333">
            <a:extLst xmlns:a="http://schemas.openxmlformats.org/drawingml/2006/main">
              <a:ext uri="{FF2B5EF4-FFF2-40B4-BE49-F238E27FC236}">
                <a16:creationId xmlns:a16="http://schemas.microsoft.com/office/drawing/2014/main" id="{D940B79E-96B5-4F4F-A8A8-787E5B4B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334">
            <a:extLst xmlns:a="http://schemas.openxmlformats.org/drawingml/2006/main">
              <a:ext uri="{FF2B5EF4-FFF2-40B4-BE49-F238E27FC236}">
                <a16:creationId xmlns:a16="http://schemas.microsoft.com/office/drawing/2014/main" id="{D2D354DB-5912-4E18-B539-B4C03FB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练习、作品和实际任务表现；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延迟回访、迁移表现；缺失待核。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学习检索、练习和小实验；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形成作品并获取具体反馈。</a:t>
            </a:r>
          </a:p>
        </p:txBody>
      </p:sp>
      <p:sp>
        <p:nvSpPr>
          <p:cNvPr id="12" name="subhead-335">
            <a:extLst xmlns:a="http://schemas.openxmlformats.org/drawingml/2006/main">
              <a:ext uri="{FF2B5EF4-FFF2-40B4-BE49-F238E27FC236}">
                <a16:creationId xmlns:a16="http://schemas.microsoft.com/office/drawing/2014/main" id="{B9BDB668-DFE2-4868-ADBA-F201A07F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336">
            <a:extLst xmlns:a="http://schemas.openxmlformats.org/drawingml/2006/main">
              <a:ext uri="{FF2B5EF4-FFF2-40B4-BE49-F238E27FC236}">
                <a16:creationId xmlns:a16="http://schemas.microsoft.com/office/drawing/2014/main" id="{E608497C-C2C0-4318-8C0B-41A40F0D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D04：检验工作应用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D09：保留纯体验创作的价值</a:t>
            </a:r>
          </a:p>
        </p:txBody>
      </p:sp>
      <p:sp>
        <p:nvSpPr>
          <p:cNvPr id="14" name="subhead-337">
            <a:extLst xmlns:a="http://schemas.openxmlformats.org/drawingml/2006/main">
              <a:ext uri="{FF2B5EF4-FFF2-40B4-BE49-F238E27FC236}">
                <a16:creationId xmlns:a16="http://schemas.microsoft.com/office/drawing/2014/main" id="{C18CAFB8-12E3-4942-B0C0-582DCDE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40608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338">
            <a:extLst xmlns:a="http://schemas.openxmlformats.org/drawingml/2006/main">
              <a:ext uri="{FF2B5EF4-FFF2-40B4-BE49-F238E27FC236}">
                <a16:creationId xmlns:a16="http://schemas.microsoft.com/office/drawing/2014/main" id="{91F5B8BB-E322-4818-AC96-FD7F7395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32860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M01：论证；M02：数量；M03：评估；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M04：实验；M12：历史语境；M15：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数据；M16：工具；M22：原始资料</a:t>
            </a:r>
          </a:p>
        </p:txBody>
      </p:sp>
      <p:sp>
        <p:nvSpPr>
          <p:cNvPr id="16" name="box-339">
            <a:extLst xmlns:a="http://schemas.openxmlformats.org/drawingml/2006/main">
              <a:ext uri="{FF2B5EF4-FFF2-40B4-BE49-F238E27FC236}">
                <a16:creationId xmlns:a16="http://schemas.microsoft.com/office/drawing/2014/main" id="{66785ABF-5CB0-4241-A20A-91961578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340">
            <a:extLst xmlns:a="http://schemas.openxmlformats.org/drawingml/2006/main">
              <a:ext uri="{FF2B5EF4-FFF2-40B4-BE49-F238E27FC236}">
                <a16:creationId xmlns:a16="http://schemas.microsoft.com/office/drawing/2014/main" id="{6BD7B932-4271-48CF-A274-C1146DA6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341">
            <a:extLst xmlns:a="http://schemas.openxmlformats.org/drawingml/2006/main">
              <a:ext uri="{FF2B5EF4-FFF2-40B4-BE49-F238E27FC236}">
                <a16:creationId xmlns:a16="http://schemas.microsoft.com/office/drawing/2014/main" id="{98D29AB4-1EB9-4A4A-A2C6-3A16ABEE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合成：只有看课计划时，先问是否已有未记录作品，再调整练习安排。</a:t>
            </a:r>
          </a:p>
        </p:txBody>
      </p:sp>
      <p:sp>
        <p:nvSpPr>
          <p:cNvPr id="19" name="text-342">
            <a:extLst xmlns:a="http://schemas.openxmlformats.org/drawingml/2006/main">
              <a:ext uri="{FF2B5EF4-FFF2-40B4-BE49-F238E27FC236}">
                <a16:creationId xmlns:a16="http://schemas.microsoft.com/office/drawing/2014/main" id="{A9B2BB63-A9BE-425D-8107-F49DF2F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343">
            <a:extLst xmlns:a="http://schemas.openxmlformats.org/drawingml/2006/main">
              <a:ext uri="{FF2B5EF4-FFF2-40B4-BE49-F238E27FC236}">
                <a16:creationId xmlns:a16="http://schemas.microsoft.com/office/drawing/2014/main" id="{6AF44D9D-50FA-4DCB-87C6-E20D795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时长与自评分只是代理观测；同一作品跨领域受益，不重复计为独立成果。</a:t>
            </a:r>
          </a:p>
        </p:txBody>
      </p:sp>
    </p:spTree>
    <p:extLst>
      <p:ext uri="{BB962C8B-B14F-4D97-AF65-F5344CB8AC3E}">
        <p14:creationId xmlns:p14="http://schemas.microsoft.com/office/powerpoint/2010/main" val="11902575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44">
            <a:extLst xmlns:a="http://schemas.openxmlformats.org/drawingml/2006/main">
              <a:ext uri="{FF2B5EF4-FFF2-40B4-BE49-F238E27FC236}">
                <a16:creationId xmlns:a16="http://schemas.microsoft.com/office/drawing/2014/main" id="{5420DECD-FBFC-4475-9533-8081E476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345">
            <a:extLst xmlns:a="http://schemas.openxmlformats.org/drawingml/2006/main">
              <a:ext uri="{FF2B5EF4-FFF2-40B4-BE49-F238E27FC236}">
                <a16:creationId xmlns:a16="http://schemas.microsoft.com/office/drawing/2014/main" id="{70D4BCD7-9E79-452D-9DA5-F2D03456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 财务、资产与保障</a:t>
            </a:r>
          </a:p>
        </p:txBody>
      </p:sp>
      <p:sp>
        <p:nvSpPr>
          <p:cNvPr id="3" name="claim-346">
            <a:extLst xmlns:a="http://schemas.openxmlformats.org/drawingml/2006/main">
              <a:ext uri="{FF2B5EF4-FFF2-40B4-BE49-F238E27FC236}">
                <a16:creationId xmlns:a16="http://schemas.microsoft.com/office/drawing/2014/main" id="{D85268B0-DEA8-4E48-952A-EF351B72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先守住支付与义务，再比较资金安排。</a:t>
            </a:r>
          </a:p>
        </p:txBody>
      </p:sp>
      <p:sp>
        <p:nvSpPr>
          <p:cNvPr id="4" name="box-347">
            <a:extLst xmlns:a="http://schemas.openxmlformats.org/drawingml/2006/main">
              <a:ext uri="{FF2B5EF4-FFF2-40B4-BE49-F238E27FC236}">
                <a16:creationId xmlns:a16="http://schemas.microsoft.com/office/drawing/2014/main" id="{806E9A82-46A0-4667-8D2D-1A6DA766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348">
            <a:extLst xmlns:a="http://schemas.openxmlformats.org/drawingml/2006/main">
              <a:ext uri="{FF2B5EF4-FFF2-40B4-BE49-F238E27FC236}">
                <a16:creationId xmlns:a16="http://schemas.microsoft.com/office/drawing/2014/main" id="{D0811ACC-3AFD-4119-8BC1-852F2020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349">
            <a:extLst xmlns:a="http://schemas.openxmlformats.org/drawingml/2006/main">
              <a:ext uri="{FF2B5EF4-FFF2-40B4-BE49-F238E27FC236}">
                <a16:creationId xmlns:a16="http://schemas.microsoft.com/office/drawing/2014/main" id="{52485DE7-A5AC-4BA9-A2B3-39F08027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350">
            <a:extLst xmlns:a="http://schemas.openxmlformats.org/drawingml/2006/main">
              <a:ext uri="{FF2B5EF4-FFF2-40B4-BE49-F238E27FC236}">
                <a16:creationId xmlns:a16="http://schemas.microsoft.com/office/drawing/2014/main" id="{B1CCDC2D-0A71-4D15-BAFC-26C8CEF6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25 / 91</a:t>
            </a:r>
          </a:p>
        </p:txBody>
      </p:sp>
      <p:sp>
        <p:nvSpPr>
          <p:cNvPr id="8" name="subhead-351">
            <a:extLst xmlns:a="http://schemas.openxmlformats.org/drawingml/2006/main">
              <a:ext uri="{FF2B5EF4-FFF2-40B4-BE49-F238E27FC236}">
                <a16:creationId xmlns:a16="http://schemas.microsoft.com/office/drawing/2014/main" id="{72A69BF1-6AA2-4024-BA20-4305033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352">
            <a:extLst xmlns:a="http://schemas.openxmlformats.org/drawingml/2006/main">
              <a:ext uri="{FF2B5EF4-FFF2-40B4-BE49-F238E27FC236}">
                <a16:creationId xmlns:a16="http://schemas.microsoft.com/office/drawing/2014/main" id="{AD6495E1-D0F6-4509-B0BB-7880186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支付能力、流动性、债务义务和损失承受范围。</a:t>
            </a:r>
          </a:p>
        </p:txBody>
      </p:sp>
      <p:sp>
        <p:nvSpPr>
          <p:cNvPr id="10" name="subhead-353">
            <a:extLst xmlns:a="http://schemas.openxmlformats.org/drawingml/2006/main">
              <a:ext uri="{FF2B5EF4-FFF2-40B4-BE49-F238E27FC236}">
                <a16:creationId xmlns:a16="http://schemas.microsoft.com/office/drawing/2014/main" id="{B24E620F-6B08-4710-A8F8-CA7A47B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354">
            <a:extLst xmlns:a="http://schemas.openxmlformats.org/drawingml/2006/main">
              <a:ext uri="{FF2B5EF4-FFF2-40B4-BE49-F238E27FC236}">
                <a16:creationId xmlns:a16="http://schemas.microsoft.com/office/drawing/2014/main" id="{2581BD81-CDFF-4E0C-906C-2617CFA8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实际到账、支出、余额与到期义务；来源、币种、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周期清楚；未知不填零。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收支预算与保障梳理；比较资产和合同安排。</a:t>
            </a:r>
          </a:p>
        </p:txBody>
      </p:sp>
      <p:sp>
        <p:nvSpPr>
          <p:cNvPr id="12" name="subhead-355">
            <a:extLst xmlns:a="http://schemas.openxmlformats.org/drawingml/2006/main">
              <a:ext uri="{FF2B5EF4-FFF2-40B4-BE49-F238E27FC236}">
                <a16:creationId xmlns:a16="http://schemas.microsoft.com/office/drawing/2014/main" id="{7C4F0A24-90C0-4F86-ADE5-11635F5A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356">
            <a:extLst xmlns:a="http://schemas.openxmlformats.org/drawingml/2006/main">
              <a:ext uri="{FF2B5EF4-FFF2-40B4-BE49-F238E27FC236}">
                <a16:creationId xmlns:a16="http://schemas.microsoft.com/office/drawing/2014/main" id="{63C6AA7F-C896-4A77-ABBB-B720B05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D01／D03：医疗与照护费用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D04：核实劳动收入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其余领域：统一记录资金需求</a:t>
            </a:r>
          </a:p>
        </p:txBody>
      </p:sp>
      <p:sp>
        <p:nvSpPr>
          <p:cNvPr id="14" name="subhead-357">
            <a:extLst xmlns:a="http://schemas.openxmlformats.org/drawingml/2006/main">
              <a:ext uri="{FF2B5EF4-FFF2-40B4-BE49-F238E27FC236}">
                <a16:creationId xmlns:a16="http://schemas.microsoft.com/office/drawing/2014/main" id="{EBB90966-FCC9-4F7F-BDFE-31E346AE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358">
            <a:extLst xmlns:a="http://schemas.openxmlformats.org/drawingml/2006/main">
              <a:ext uri="{FF2B5EF4-FFF2-40B4-BE49-F238E27FC236}">
                <a16:creationId xmlns:a16="http://schemas.microsoft.com/office/drawing/2014/main" id="{EAD2A28D-FA2B-4271-B7E0-B132F5B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M02：数量核算；M03：风险波动；M08：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经济条件；M19：财务安排；M20：合同义务</a:t>
            </a:r>
          </a:p>
        </p:txBody>
      </p:sp>
      <p:sp>
        <p:nvSpPr>
          <p:cNvPr id="16" name="box-359">
            <a:extLst xmlns:a="http://schemas.openxmlformats.org/drawingml/2006/main">
              <a:ext uri="{FF2B5EF4-FFF2-40B4-BE49-F238E27FC236}">
                <a16:creationId xmlns:a16="http://schemas.microsoft.com/office/drawing/2014/main" id="{75FBB0E4-3227-4867-A156-538DB99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360">
            <a:extLst xmlns:a="http://schemas.openxmlformats.org/drawingml/2006/main">
              <a:ext uri="{FF2B5EF4-FFF2-40B4-BE49-F238E27FC236}">
                <a16:creationId xmlns:a16="http://schemas.microsoft.com/office/drawing/2014/main" id="{BBEADBB3-B6DB-47CB-95C0-43E7638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361">
            <a:extLst xmlns:a="http://schemas.openxmlformats.org/drawingml/2006/main">
              <a:ext uri="{FF2B5EF4-FFF2-40B4-BE49-F238E27FC236}">
                <a16:creationId xmlns:a16="http://schemas.microsoft.com/office/drawing/2014/main" id="{03170CBB-0344-4D41-8356-472ACE7A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合成：新项目预计下月付款，本周预算仍只使用已确认可支配资金。</a:t>
            </a:r>
          </a:p>
        </p:txBody>
      </p:sp>
      <p:sp>
        <p:nvSpPr>
          <p:cNvPr id="19" name="text-362">
            <a:extLst xmlns:a="http://schemas.openxmlformats.org/drawingml/2006/main">
              <a:ext uri="{FF2B5EF4-FFF2-40B4-BE49-F238E27FC236}">
                <a16:creationId xmlns:a16="http://schemas.microsoft.com/office/drawing/2014/main" id="{59B0D3C7-4161-4822-AF49-872ECCD2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363">
            <a:extLst xmlns:a="http://schemas.openxmlformats.org/drawingml/2006/main">
              <a:ext uri="{FF2B5EF4-FFF2-40B4-BE49-F238E27FC236}">
                <a16:creationId xmlns:a16="http://schemas.microsoft.com/office/drawing/2014/main" id="{283F27FE-97A7-47E4-9DEC-ACDC734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资金可行不等于值得做；预测收入不作现金，产品与法规另查当前一手来源。</a:t>
            </a:r>
          </a:p>
        </p:txBody>
      </p:sp>
    </p:spTree>
    <p:extLst>
      <p:ext uri="{BB962C8B-B14F-4D97-AF65-F5344CB8AC3E}">
        <p14:creationId xmlns:p14="http://schemas.microsoft.com/office/powerpoint/2010/main" val="8355562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64">
            <a:extLst xmlns:a="http://schemas.openxmlformats.org/drawingml/2006/main">
              <a:ext uri="{FF2B5EF4-FFF2-40B4-BE49-F238E27FC236}">
                <a16:creationId xmlns:a16="http://schemas.microsoft.com/office/drawing/2014/main" id="{556A8499-E02F-44B6-AFFE-C2E2DF99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365">
            <a:extLst xmlns:a="http://schemas.openxmlformats.org/drawingml/2006/main">
              <a:ext uri="{FF2B5EF4-FFF2-40B4-BE49-F238E27FC236}">
                <a16:creationId xmlns:a16="http://schemas.microsoft.com/office/drawing/2014/main" id="{6106B51A-595C-47FB-AA04-D89EB0E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D07 居住、日常与基础设施</a:t>
            </a:r>
          </a:p>
        </p:txBody>
      </p:sp>
      <p:sp>
        <p:nvSpPr>
          <p:cNvPr id="3" name="claim-366">
            <a:extLst xmlns:a="http://schemas.openxmlformats.org/drawingml/2006/main">
              <a:ext uri="{FF2B5EF4-FFF2-40B4-BE49-F238E27FC236}">
                <a16:creationId xmlns:a16="http://schemas.microsoft.com/office/drawing/2014/main" id="{B51B72C0-E5A6-4C07-B9B6-17A24BDF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减少生活中断，让环境、事务与资料可靠可用。</a:t>
            </a:r>
          </a:p>
        </p:txBody>
      </p:sp>
      <p:sp>
        <p:nvSpPr>
          <p:cNvPr id="4" name="box-367">
            <a:extLst xmlns:a="http://schemas.openxmlformats.org/drawingml/2006/main">
              <a:ext uri="{FF2B5EF4-FFF2-40B4-BE49-F238E27FC236}">
                <a16:creationId xmlns:a16="http://schemas.microsoft.com/office/drawing/2014/main" id="{9E46CE50-876F-4293-8930-E6C19BD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368">
            <a:extLst xmlns:a="http://schemas.openxmlformats.org/drawingml/2006/main">
              <a:ext uri="{FF2B5EF4-FFF2-40B4-BE49-F238E27FC236}">
                <a16:creationId xmlns:a16="http://schemas.microsoft.com/office/drawing/2014/main" id="{0CCC011C-60D4-424D-8F6E-7F885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369">
            <a:extLst xmlns:a="http://schemas.openxmlformats.org/drawingml/2006/main">
              <a:ext uri="{FF2B5EF4-FFF2-40B4-BE49-F238E27FC236}">
                <a16:creationId xmlns:a16="http://schemas.microsoft.com/office/drawing/2014/main" id="{DD46D412-B418-41FD-AF4B-0B026496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370">
            <a:extLst xmlns:a="http://schemas.openxmlformats.org/drawingml/2006/main">
              <a:ext uri="{FF2B5EF4-FFF2-40B4-BE49-F238E27FC236}">
                <a16:creationId xmlns:a16="http://schemas.microsoft.com/office/drawing/2014/main" id="{89C4006D-8C68-4511-820E-C4AAE57C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26 / 91</a:t>
            </a:r>
          </a:p>
        </p:txBody>
      </p:sp>
      <p:sp>
        <p:nvSpPr>
          <p:cNvPr id="8" name="subhead-371">
            <a:extLst xmlns:a="http://schemas.openxmlformats.org/drawingml/2006/main">
              <a:ext uri="{FF2B5EF4-FFF2-40B4-BE49-F238E27FC236}">
                <a16:creationId xmlns:a16="http://schemas.microsoft.com/office/drawing/2014/main" id="{1B8C4AC7-CE58-42C5-9F9B-C802679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372">
            <a:extLst xmlns:a="http://schemas.openxmlformats.org/drawingml/2006/main">
              <a:ext uri="{FF2B5EF4-FFF2-40B4-BE49-F238E27FC236}">
                <a16:creationId xmlns:a16="http://schemas.microsoft.com/office/drawing/2014/main" id="{0CE6B012-E41D-4AC0-89DD-74FB8CDE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生活可用性、事务连续性及工具可靠性。</a:t>
            </a:r>
          </a:p>
        </p:txBody>
      </p:sp>
      <p:sp>
        <p:nvSpPr>
          <p:cNvPr id="10" name="subhead-373">
            <a:extLst xmlns:a="http://schemas.openxmlformats.org/drawingml/2006/main">
              <a:ext uri="{FF2B5EF4-FFF2-40B4-BE49-F238E27FC236}">
                <a16:creationId xmlns:a16="http://schemas.microsoft.com/office/drawing/2014/main" id="{181E1CBD-64BC-4E48-80B8-D7029E3A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374">
            <a:extLst xmlns:a="http://schemas.openxmlformats.org/drawingml/2006/main">
              <a:ext uri="{FF2B5EF4-FFF2-40B4-BE49-F238E27FC236}">
                <a16:creationId xmlns:a16="http://schemas.microsoft.com/office/drawing/2014/main" id="{99543AD1-037A-4442-BBF1-18F9F1A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居住交通障碍、维护和到期事项；资料可恢复性与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实际使用困难。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安排家务、维护、搬迁与交通；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管理证照、数字资料和权限。</a:t>
            </a:r>
          </a:p>
        </p:txBody>
      </p:sp>
      <p:sp>
        <p:nvSpPr>
          <p:cNvPr id="12" name="subhead-375">
            <a:extLst xmlns:a="http://schemas.openxmlformats.org/drawingml/2006/main">
              <a:ext uri="{FF2B5EF4-FFF2-40B4-BE49-F238E27FC236}">
                <a16:creationId xmlns:a16="http://schemas.microsoft.com/office/drawing/2014/main" id="{51BDB9CF-90AE-4FD2-9359-0CC0EEB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376">
            <a:extLst xmlns:a="http://schemas.openxmlformats.org/drawingml/2006/main">
              <a:ext uri="{FF2B5EF4-FFF2-40B4-BE49-F238E27FC236}">
                <a16:creationId xmlns:a16="http://schemas.microsoft.com/office/drawing/2014/main" id="{93AF2840-725A-47F8-A2F5-B91B793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D03：照护便利与家务分工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D01：医疗和无障碍需求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D06：维护与搬迁费用</a:t>
            </a:r>
          </a:p>
        </p:txBody>
      </p:sp>
      <p:sp>
        <p:nvSpPr>
          <p:cNvPr id="14" name="subhead-377">
            <a:extLst xmlns:a="http://schemas.openxmlformats.org/drawingml/2006/main">
              <a:ext uri="{FF2B5EF4-FFF2-40B4-BE49-F238E27FC236}">
                <a16:creationId xmlns:a16="http://schemas.microsoft.com/office/drawing/2014/main" id="{44DEFC7A-2FE7-431C-9593-40730742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378">
            <a:extLst xmlns:a="http://schemas.openxmlformats.org/drawingml/2006/main">
              <a:ext uri="{FF2B5EF4-FFF2-40B4-BE49-F238E27FC236}">
                <a16:creationId xmlns:a16="http://schemas.microsoft.com/office/drawing/2014/main" id="{18D40BEC-6875-42FF-A4C9-CBFE384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M06：时段与资源；M15：数据安全；M16：适度自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动化；M18：任务连续性；M20：行政与合同</a:t>
            </a:r>
          </a:p>
        </p:txBody>
      </p:sp>
      <p:sp>
        <p:nvSpPr>
          <p:cNvPr id="16" name="box-379">
            <a:extLst xmlns:a="http://schemas.openxmlformats.org/drawingml/2006/main">
              <a:ext uri="{FF2B5EF4-FFF2-40B4-BE49-F238E27FC236}">
                <a16:creationId xmlns:a16="http://schemas.microsoft.com/office/drawing/2014/main" id="{A266B894-FD58-40B9-99A0-8BE93942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380">
            <a:extLst xmlns:a="http://schemas.openxmlformats.org/drawingml/2006/main">
              <a:ext uri="{FF2B5EF4-FFF2-40B4-BE49-F238E27FC236}">
                <a16:creationId xmlns:a16="http://schemas.microsoft.com/office/drawing/2014/main" id="{84AFE623-0F4E-4F6A-8E05-BE1C7B2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381">
            <a:extLst xmlns:a="http://schemas.openxmlformats.org/drawingml/2006/main">
              <a:ext uri="{FF2B5EF4-FFF2-40B4-BE49-F238E27FC236}">
                <a16:creationId xmlns:a16="http://schemas.microsoft.com/office/drawing/2014/main" id="{291C585A-074C-4BAC-B21C-4A5F81EF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合成：证件临近到期，先核对时区、材料与预约，再安排办理。</a:t>
            </a:r>
          </a:p>
        </p:txBody>
      </p:sp>
      <p:sp>
        <p:nvSpPr>
          <p:cNvPr id="19" name="text-382">
            <a:extLst xmlns:a="http://schemas.openxmlformats.org/drawingml/2006/main">
              <a:ext uri="{FF2B5EF4-FFF2-40B4-BE49-F238E27FC236}">
                <a16:creationId xmlns:a16="http://schemas.microsoft.com/office/drawing/2014/main" id="{5F9B6837-C50A-4EFB-9116-0E9FF3B3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383">
            <a:extLst xmlns:a="http://schemas.openxmlformats.org/drawingml/2006/main">
              <a:ext uri="{FF2B5EF4-FFF2-40B4-BE49-F238E27FC236}">
                <a16:creationId xmlns:a16="http://schemas.microsoft.com/office/drawing/2014/main" id="{31913D8F-B4B4-4DAC-87D3-C4E026FD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不默认开启定位、电脑操作或账户采集；工具与流程应减少实际维护负担。</a:t>
            </a:r>
          </a:p>
        </p:txBody>
      </p:sp>
    </p:spTree>
    <p:extLst>
      <p:ext uri="{BB962C8B-B14F-4D97-AF65-F5344CB8AC3E}">
        <p14:creationId xmlns:p14="http://schemas.microsoft.com/office/powerpoint/2010/main" val="17005834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84">
            <a:extLst xmlns:a="http://schemas.openxmlformats.org/drawingml/2006/main">
              <a:ext uri="{FF2B5EF4-FFF2-40B4-BE49-F238E27FC236}">
                <a16:creationId xmlns:a16="http://schemas.microsoft.com/office/drawing/2014/main" id="{C333B15C-D1A3-4A00-B4B4-C1F2B471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385">
            <a:extLst xmlns:a="http://schemas.openxmlformats.org/drawingml/2006/main">
              <a:ext uri="{FF2B5EF4-FFF2-40B4-BE49-F238E27FC236}">
                <a16:creationId xmlns:a16="http://schemas.microsoft.com/office/drawing/2014/main" id="{67BFE3C4-6F2E-4B73-A7C4-910FD848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D08 社群、公共参与与生态责任</a:t>
            </a:r>
          </a:p>
        </p:txBody>
      </p:sp>
      <p:sp>
        <p:nvSpPr>
          <p:cNvPr id="3" name="claim-386">
            <a:extLst xmlns:a="http://schemas.openxmlformats.org/drawingml/2006/main">
              <a:ext uri="{FF2B5EF4-FFF2-40B4-BE49-F238E27FC236}">
                <a16:creationId xmlns:a16="http://schemas.microsoft.com/office/drawing/2014/main" id="{D0A0B82E-462C-4B7C-8FD2-E51F087F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以共同承诺与实际影响衡量公共参与。</a:t>
            </a:r>
          </a:p>
        </p:txBody>
      </p:sp>
      <p:sp>
        <p:nvSpPr>
          <p:cNvPr id="4" name="box-387">
            <a:extLst xmlns:a="http://schemas.openxmlformats.org/drawingml/2006/main">
              <a:ext uri="{FF2B5EF4-FFF2-40B4-BE49-F238E27FC236}">
                <a16:creationId xmlns:a16="http://schemas.microsoft.com/office/drawing/2014/main" id="{E5EF2AD4-A771-4BA1-B3D5-09F1CD7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388">
            <a:extLst xmlns:a="http://schemas.openxmlformats.org/drawingml/2006/main">
              <a:ext uri="{FF2B5EF4-FFF2-40B4-BE49-F238E27FC236}">
                <a16:creationId xmlns:a16="http://schemas.microsoft.com/office/drawing/2014/main" id="{E6DBC30F-C5F9-4839-896D-22766C06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389">
            <a:extLst xmlns:a="http://schemas.openxmlformats.org/drawingml/2006/main">
              <a:ext uri="{FF2B5EF4-FFF2-40B4-BE49-F238E27FC236}">
                <a16:creationId xmlns:a16="http://schemas.microsoft.com/office/drawing/2014/main" id="{FE5CFBE0-ABEA-4C52-8B06-15BAE1CE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390">
            <a:extLst xmlns:a="http://schemas.openxmlformats.org/drawingml/2006/main">
              <a:ext uri="{FF2B5EF4-FFF2-40B4-BE49-F238E27FC236}">
                <a16:creationId xmlns:a16="http://schemas.microsoft.com/office/drawing/2014/main" id="{6F16A891-9568-426A-89A1-C7BD2F3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27 / 91</a:t>
            </a:r>
          </a:p>
        </p:txBody>
      </p:sp>
      <p:sp>
        <p:nvSpPr>
          <p:cNvPr id="8" name="subhead-391">
            <a:extLst xmlns:a="http://schemas.openxmlformats.org/drawingml/2006/main">
              <a:ext uri="{FF2B5EF4-FFF2-40B4-BE49-F238E27FC236}">
                <a16:creationId xmlns:a16="http://schemas.microsoft.com/office/drawing/2014/main" id="{617E1136-8DDB-4B7C-B482-90D3869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392">
            <a:extLst xmlns:a="http://schemas.openxmlformats.org/drawingml/2006/main">
              <a:ext uri="{FF2B5EF4-FFF2-40B4-BE49-F238E27FC236}">
                <a16:creationId xmlns:a16="http://schemas.microsoft.com/office/drawing/2014/main" id="{91C55A22-70F1-49A5-83CE-BDDBC50A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共同责任、公共影响和受影响者自愿反馈。</a:t>
            </a:r>
          </a:p>
        </p:txBody>
      </p:sp>
      <p:sp>
        <p:nvSpPr>
          <p:cNvPr id="10" name="subhead-393">
            <a:extLst xmlns:a="http://schemas.openxmlformats.org/drawingml/2006/main">
              <a:ext uri="{FF2B5EF4-FFF2-40B4-BE49-F238E27FC236}">
                <a16:creationId xmlns:a16="http://schemas.microsoft.com/office/drawing/2014/main" id="{B9397454-4430-4792-8442-AB75E9D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394">
            <a:extLst xmlns:a="http://schemas.openxmlformats.org/drawingml/2006/main">
              <a:ext uri="{FF2B5EF4-FFF2-40B4-BE49-F238E27FC236}">
                <a16:creationId xmlns:a16="http://schemas.microsoft.com/office/drawing/2014/main" id="{EB8D9198-2BA2-46A9-A7FD-29E88DBE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承诺落实、实际受益与外部影响；受影响者反馈；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不确定效果保留。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志愿服务、社群协作和依法参与；减少环境负担并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检查实际效果。</a:t>
            </a:r>
          </a:p>
        </p:txBody>
      </p:sp>
      <p:sp>
        <p:nvSpPr>
          <p:cNvPr id="12" name="subhead-395">
            <a:extLst xmlns:a="http://schemas.openxmlformats.org/drawingml/2006/main">
              <a:ext uri="{FF2B5EF4-FFF2-40B4-BE49-F238E27FC236}">
                <a16:creationId xmlns:a16="http://schemas.microsoft.com/office/drawing/2014/main" id="{0FFE25B1-E83A-445D-86FC-0CB0CA6B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396">
            <a:extLst xmlns:a="http://schemas.openxmlformats.org/drawingml/2006/main">
              <a:ext uri="{FF2B5EF4-FFF2-40B4-BE49-F238E27FC236}">
                <a16:creationId xmlns:a16="http://schemas.microsoft.com/office/drawing/2014/main" id="{0D202D7F-DDC5-4671-8AB5-FC69DA6E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D03：区分私人关系责任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D04：区分工作交付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D06：核对捐助与活动预算</a:t>
            </a:r>
          </a:p>
        </p:txBody>
      </p:sp>
      <p:sp>
        <p:nvSpPr>
          <p:cNvPr id="14" name="subhead-397">
            <a:extLst xmlns:a="http://schemas.openxmlformats.org/drawingml/2006/main">
              <a:ext uri="{FF2B5EF4-FFF2-40B4-BE49-F238E27FC236}">
                <a16:creationId xmlns:a16="http://schemas.microsoft.com/office/drawing/2014/main" id="{CDC80F3A-AE09-4180-909E-435259B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398">
            <a:extLst xmlns:a="http://schemas.openxmlformats.org/drawingml/2006/main">
              <a:ext uri="{FF2B5EF4-FFF2-40B4-BE49-F238E27FC236}">
                <a16:creationId xmlns:a16="http://schemas.microsoft.com/office/drawing/2014/main" id="{CA406D10-0B21-420A-8A31-7BB93327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M07：合作；M09：分配与结构；M11：制度组织；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M12：历史背景；M20：合法参与；M23：伦理取舍</a:t>
            </a:r>
          </a:p>
        </p:txBody>
      </p:sp>
      <p:sp>
        <p:nvSpPr>
          <p:cNvPr id="16" name="box-399">
            <a:extLst xmlns:a="http://schemas.openxmlformats.org/drawingml/2006/main">
              <a:ext uri="{FF2B5EF4-FFF2-40B4-BE49-F238E27FC236}">
                <a16:creationId xmlns:a16="http://schemas.microsoft.com/office/drawing/2014/main" id="{5BE5EBAF-AC3C-4279-98CE-8E2BDC7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400">
            <a:extLst xmlns:a="http://schemas.openxmlformats.org/drawingml/2006/main">
              <a:ext uri="{FF2B5EF4-FFF2-40B4-BE49-F238E27FC236}">
                <a16:creationId xmlns:a16="http://schemas.microsoft.com/office/drawing/2014/main" id="{FDA048AC-DFEC-483D-BBE8-5FFA89F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401">
            <a:extLst xmlns:a="http://schemas.openxmlformats.org/drawingml/2006/main">
              <a:ext uri="{FF2B5EF4-FFF2-40B4-BE49-F238E27FC236}">
                <a16:creationId xmlns:a16="http://schemas.microsoft.com/office/drawing/2014/main" id="{6E4DFA44-0C34-4496-92AD-C52C5AF9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合成：报名志愿活动前，先核对照护承诺、交通与组织方实际需要。</a:t>
            </a:r>
          </a:p>
        </p:txBody>
      </p:sp>
      <p:sp>
        <p:nvSpPr>
          <p:cNvPr id="19" name="text-402">
            <a:extLst xmlns:a="http://schemas.openxmlformats.org/drawingml/2006/main">
              <a:ext uri="{FF2B5EF4-FFF2-40B4-BE49-F238E27FC236}">
                <a16:creationId xmlns:a16="http://schemas.microsoft.com/office/drawing/2014/main" id="{2BFBD953-EB60-4430-A04F-5BAECDEA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403">
            <a:extLst xmlns:a="http://schemas.openxmlformats.org/drawingml/2006/main">
              <a:ext uri="{FF2B5EF4-FFF2-40B4-BE49-F238E27FC236}">
                <a16:creationId xmlns:a16="http://schemas.microsoft.com/office/drawing/2014/main" id="{64B53CD8-F123-47A3-B6E3-842FEE7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次数、曝光和声望不充分证明贡献；不假定他人价值相同或代其表达意愿。</a:t>
            </a:r>
          </a:p>
        </p:txBody>
      </p:sp>
    </p:spTree>
    <p:extLst>
      <p:ext uri="{BB962C8B-B14F-4D97-AF65-F5344CB8AC3E}">
        <p14:creationId xmlns:p14="http://schemas.microsoft.com/office/powerpoint/2010/main" val="1785438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404">
            <a:extLst xmlns:a="http://schemas.openxmlformats.org/drawingml/2006/main">
              <a:ext uri="{FF2B5EF4-FFF2-40B4-BE49-F238E27FC236}">
                <a16:creationId xmlns:a16="http://schemas.microsoft.com/office/drawing/2014/main" id="{4045391D-8CD4-4607-BA7B-B6B1506F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405">
            <a:extLst xmlns:a="http://schemas.openxmlformats.org/drawingml/2006/main">
              <a:ext uri="{FF2B5EF4-FFF2-40B4-BE49-F238E27FC236}">
                <a16:creationId xmlns:a16="http://schemas.microsoft.com/office/drawing/2014/main" id="{CE586262-0EBC-428D-9D82-6A61086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D09 休闲、审美与生命体验</a:t>
            </a:r>
          </a:p>
        </p:txBody>
      </p:sp>
      <p:sp>
        <p:nvSpPr>
          <p:cNvPr id="3" name="claim-406">
            <a:extLst xmlns:a="http://schemas.openxmlformats.org/drawingml/2006/main">
              <a:ext uri="{FF2B5EF4-FFF2-40B4-BE49-F238E27FC236}">
                <a16:creationId xmlns:a16="http://schemas.microsoft.com/office/drawing/2014/main" id="{55145FC2-9AC3-4ED8-9A82-E85092F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让玩乐、创作与自由时间保有自身价值。</a:t>
            </a:r>
          </a:p>
        </p:txBody>
      </p:sp>
      <p:sp>
        <p:nvSpPr>
          <p:cNvPr id="4" name="box-407">
            <a:extLst xmlns:a="http://schemas.openxmlformats.org/drawingml/2006/main">
              <a:ext uri="{FF2B5EF4-FFF2-40B4-BE49-F238E27FC236}">
                <a16:creationId xmlns:a16="http://schemas.microsoft.com/office/drawing/2014/main" id="{DAD95742-A33C-4893-987F-62E24375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408">
            <a:extLst xmlns:a="http://schemas.openxmlformats.org/drawingml/2006/main">
              <a:ext uri="{FF2B5EF4-FFF2-40B4-BE49-F238E27FC236}">
                <a16:creationId xmlns:a16="http://schemas.microsoft.com/office/drawing/2014/main" id="{6AEC011D-B273-4218-AB9E-D0C18818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409">
            <a:extLst xmlns:a="http://schemas.openxmlformats.org/drawingml/2006/main">
              <a:ext uri="{FF2B5EF4-FFF2-40B4-BE49-F238E27FC236}">
                <a16:creationId xmlns:a16="http://schemas.microsoft.com/office/drawing/2014/main" id="{26B8BFE3-9070-4B31-914B-103298EF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410">
            <a:extLst xmlns:a="http://schemas.openxmlformats.org/drawingml/2006/main">
              <a:ext uri="{FF2B5EF4-FFF2-40B4-BE49-F238E27FC236}">
                <a16:creationId xmlns:a16="http://schemas.microsoft.com/office/drawing/2014/main" id="{3639DA4A-62CC-4637-AC5E-DA3CD225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28 / 91</a:t>
            </a:r>
          </a:p>
        </p:txBody>
      </p:sp>
      <p:sp>
        <p:nvSpPr>
          <p:cNvPr id="8" name="subhead-411">
            <a:extLst xmlns:a="http://schemas.openxmlformats.org/drawingml/2006/main">
              <a:ext uri="{FF2B5EF4-FFF2-40B4-BE49-F238E27FC236}">
                <a16:creationId xmlns:a16="http://schemas.microsoft.com/office/drawing/2014/main" id="{AB5FF7D3-4943-49EB-8C15-DE20F1AA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维护的结果</a:t>
            </a:r>
          </a:p>
        </p:txBody>
      </p:sp>
      <p:sp>
        <p:nvSpPr>
          <p:cNvPr id="9" name="text-412">
            <a:extLst xmlns:a="http://schemas.openxmlformats.org/drawingml/2006/main">
              <a:ext uri="{FF2B5EF4-FFF2-40B4-BE49-F238E27FC236}">
                <a16:creationId xmlns:a16="http://schemas.microsoft.com/office/drawing/2014/main" id="{97209887-C286-4C47-BA8D-3A03C588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752"/>
            <a:ext cx="51435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满足感、自愿性、体验与自由空间。</a:t>
            </a:r>
          </a:p>
        </p:txBody>
      </p:sp>
      <p:sp>
        <p:nvSpPr>
          <p:cNvPr id="10" name="subhead-413">
            <a:extLst xmlns:a="http://schemas.openxmlformats.org/drawingml/2006/main">
              <a:ext uri="{FF2B5EF4-FFF2-40B4-BE49-F238E27FC236}">
                <a16:creationId xmlns:a16="http://schemas.microsoft.com/office/drawing/2014/main" id="{A620FE49-1085-45A9-9DB2-4AD5B94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8391"/>
            <a:ext cx="51435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观察与行动</a:t>
            </a:r>
          </a:p>
        </p:txBody>
      </p:sp>
      <p:sp>
        <p:nvSpPr>
          <p:cNvPr id="11" name="text-414">
            <a:extLst xmlns:a="http://schemas.openxmlformats.org/drawingml/2006/main">
              <a:ext uri="{FF2B5EF4-FFF2-40B4-BE49-F238E27FC236}">
                <a16:creationId xmlns:a16="http://schemas.microsoft.com/office/drawing/2014/main" id="{308EA02A-C0BF-424D-9724-465A8467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0643"/>
            <a:ext cx="51435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用户自愿描述体验与满足；实际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自由时间、负担及是否被迫。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艺术、游戏、旅行和自然体验；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留白、闲暇或暂停已有活动。</a:t>
            </a:r>
          </a:p>
        </p:txBody>
      </p:sp>
      <p:sp>
        <p:nvSpPr>
          <p:cNvPr id="12" name="subhead-415">
            <a:extLst xmlns:a="http://schemas.openxmlformats.org/drawingml/2006/main">
              <a:ext uri="{FF2B5EF4-FFF2-40B4-BE49-F238E27FC236}">
                <a16:creationId xmlns:a16="http://schemas.microsoft.com/office/drawing/2014/main" id="{45E0561E-37D9-4E6F-934E-C8436206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跨领域协作</a:t>
            </a:r>
          </a:p>
        </p:txBody>
      </p:sp>
      <p:sp>
        <p:nvSpPr>
          <p:cNvPr id="13" name="text-416">
            <a:extLst xmlns:a="http://schemas.openxmlformats.org/drawingml/2006/main">
              <a:ext uri="{FF2B5EF4-FFF2-40B4-BE49-F238E27FC236}">
                <a16:creationId xmlns:a16="http://schemas.microsoft.com/office/drawing/2014/main" id="{56B77D3E-481C-442D-BC7F-33E1AE01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7752"/>
            <a:ext cx="5324475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D01：识别身体恢复需要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D03：协商共同体验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D06：核对活动费用且不重复记账</a:t>
            </a:r>
          </a:p>
        </p:txBody>
      </p:sp>
      <p:sp>
        <p:nvSpPr>
          <p:cNvPr id="14" name="subhead-417">
            <a:extLst xmlns:a="http://schemas.openxmlformats.org/drawingml/2006/main">
              <a:ext uri="{FF2B5EF4-FFF2-40B4-BE49-F238E27FC236}">
                <a16:creationId xmlns:a16="http://schemas.microsoft.com/office/drawing/2014/main" id="{D45C45E6-D672-4B4C-B58A-57D5183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2261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调用能力</a:t>
            </a:r>
          </a:p>
        </p:txBody>
      </p:sp>
      <p:sp>
        <p:nvSpPr>
          <p:cNvPr id="15" name="text-418">
            <a:extLst xmlns:a="http://schemas.openxmlformats.org/drawingml/2006/main">
              <a:ext uri="{FF2B5EF4-FFF2-40B4-BE49-F238E27FC236}">
                <a16:creationId xmlns:a16="http://schemas.microsoft.com/office/drawing/2014/main" id="{3D8C43EF-71BE-4C58-9D40-1255ED8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04513"/>
            <a:ext cx="53244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M10：理解体验与行为；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M23：审美、创作与价值取舍</a:t>
            </a:r>
          </a:p>
        </p:txBody>
      </p:sp>
      <p:sp>
        <p:nvSpPr>
          <p:cNvPr id="16" name="box-419">
            <a:extLst xmlns:a="http://schemas.openxmlformats.org/drawingml/2006/main">
              <a:ext uri="{FF2B5EF4-FFF2-40B4-BE49-F238E27FC236}">
                <a16:creationId xmlns:a16="http://schemas.microsoft.com/office/drawing/2014/main" id="{F89B553B-32B9-4C8E-AF37-5508992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420">
            <a:extLst xmlns:a="http://schemas.openxmlformats.org/drawingml/2006/main">
              <a:ext uri="{FF2B5EF4-FFF2-40B4-BE49-F238E27FC236}">
                <a16:creationId xmlns:a16="http://schemas.microsoft.com/office/drawing/2014/main" id="{7EDA6912-F94C-42F0-BED2-7DBF1F2D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8" name="text-421">
            <a:extLst xmlns:a="http://schemas.openxmlformats.org/drawingml/2006/main">
              <a:ext uri="{FF2B5EF4-FFF2-40B4-BE49-F238E27FC236}">
                <a16:creationId xmlns:a16="http://schemas.microsoft.com/office/drawing/2014/main" id="{A565B3D9-CD4C-4832-B645-3AF6118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合成：项目提前完成后，可以保留空闲，也可自愿安排一次展览体验。</a:t>
            </a:r>
          </a:p>
        </p:txBody>
      </p:sp>
      <p:sp>
        <p:nvSpPr>
          <p:cNvPr id="19" name="text-422">
            <a:extLst xmlns:a="http://schemas.openxmlformats.org/drawingml/2006/main">
              <a:ext uri="{FF2B5EF4-FFF2-40B4-BE49-F238E27FC236}">
                <a16:creationId xmlns:a16="http://schemas.microsoft.com/office/drawing/2014/main" id="{AA2B77DE-D69E-4EF7-818A-E8C5972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0" name="text-423">
            <a:extLst xmlns:a="http://schemas.openxmlformats.org/drawingml/2006/main">
              <a:ext uri="{FF2B5EF4-FFF2-40B4-BE49-F238E27FC236}">
                <a16:creationId xmlns:a16="http://schemas.microsoft.com/office/drawing/2014/main" id="{EE5EC675-FFA9-48E1-BDC2-54C82FB7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体验无需证明生产率或收入回报；不强行量化幸福，不把全部空闲填成任务。</a:t>
            </a:r>
          </a:p>
        </p:txBody>
      </p:sp>
    </p:spTree>
    <p:extLst>
      <p:ext uri="{BB962C8B-B14F-4D97-AF65-F5344CB8AC3E}">
        <p14:creationId xmlns:p14="http://schemas.microsoft.com/office/powerpoint/2010/main" val="10557561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424">
            <a:extLst xmlns:a="http://schemas.openxmlformats.org/drawingml/2006/main">
              <a:ext uri="{FF2B5EF4-FFF2-40B4-BE49-F238E27FC236}">
                <a16:creationId xmlns:a16="http://schemas.microsoft.com/office/drawing/2014/main" id="{CFEB9D29-648E-4309-A5E2-F9C30A8E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 九个人生领域</a:t>
            </a:r>
          </a:p>
        </p:txBody>
      </p:sp>
      <p:sp>
        <p:nvSpPr>
          <p:cNvPr id="2" name="slide-title-425">
            <a:extLst xmlns:a="http://schemas.openxmlformats.org/drawingml/2006/main">
              <a:ext uri="{FF2B5EF4-FFF2-40B4-BE49-F238E27FC236}">
                <a16:creationId xmlns:a16="http://schemas.microsoft.com/office/drawing/2014/main" id="{941D0FAA-D0AB-4107-91EE-F82C355A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跨领域冲突由总控处理</a:t>
            </a:r>
          </a:p>
        </p:txBody>
      </p:sp>
      <p:sp>
        <p:nvSpPr>
          <p:cNvPr id="3" name="claim-426">
            <a:extLst xmlns:a="http://schemas.openxmlformats.org/drawingml/2006/main">
              <a:ext uri="{FF2B5EF4-FFF2-40B4-BE49-F238E27FC236}">
                <a16:creationId xmlns:a16="http://schemas.microsoft.com/office/drawing/2014/main" id="{381DC102-F09F-4F3F-B9F9-DD3DF8D9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合成示例：临时项目与家庭承诺占用同一晚。</a:t>
            </a:r>
          </a:p>
        </p:txBody>
      </p:sp>
      <p:sp>
        <p:nvSpPr>
          <p:cNvPr id="4" name="box-427">
            <a:extLst xmlns:a="http://schemas.openxmlformats.org/drawingml/2006/main">
              <a:ext uri="{FF2B5EF4-FFF2-40B4-BE49-F238E27FC236}">
                <a16:creationId xmlns:a16="http://schemas.microsoft.com/office/drawing/2014/main" id="{7C1DD721-F875-4233-B35B-911AE20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428">
            <a:extLst xmlns:a="http://schemas.openxmlformats.org/drawingml/2006/main">
              <a:ext uri="{FF2B5EF4-FFF2-40B4-BE49-F238E27FC236}">
                <a16:creationId xmlns:a16="http://schemas.microsoft.com/office/drawing/2014/main" id="{05C787C3-BB44-48B8-AF80-075CC13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429">
            <a:extLst xmlns:a="http://schemas.openxmlformats.org/drawingml/2006/main">
              <a:ext uri="{FF2B5EF4-FFF2-40B4-BE49-F238E27FC236}">
                <a16:creationId xmlns:a16="http://schemas.microsoft.com/office/drawing/2014/main" id="{BB1D25AD-3D57-41EA-AF27-1C5D5BCF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430">
            <a:extLst xmlns:a="http://schemas.openxmlformats.org/drawingml/2006/main">
              <a:ext uri="{FF2B5EF4-FFF2-40B4-BE49-F238E27FC236}">
                <a16:creationId xmlns:a16="http://schemas.microsoft.com/office/drawing/2014/main" id="{0495A139-4006-43E4-8027-EF3BD52A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29 / 91</a:t>
            </a:r>
          </a:p>
        </p:txBody>
      </p:sp>
      <p:sp>
        <p:nvSpPr>
          <p:cNvPr id="8" name="subhead-431">
            <a:extLst xmlns:a="http://schemas.openxmlformats.org/drawingml/2006/main">
              <a:ext uri="{FF2B5EF4-FFF2-40B4-BE49-F238E27FC236}">
                <a16:creationId xmlns:a16="http://schemas.microsoft.com/office/drawing/2014/main" id="{F5251B7D-6EF9-4014-B528-13780D9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各领域先提供事实</a:t>
            </a:r>
          </a:p>
        </p:txBody>
      </p:sp>
      <p:sp>
        <p:nvSpPr>
          <p:cNvPr id="9" name="text-432">
            <a:extLst xmlns:a="http://schemas.openxmlformats.org/drawingml/2006/main">
              <a:ext uri="{FF2B5EF4-FFF2-40B4-BE49-F238E27FC236}">
                <a16:creationId xmlns:a16="http://schemas.microsoft.com/office/drawing/2014/main" id="{E9A24405-0BDF-48B5-ADA5-2A6DE369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D04确认项目期限与可缩减范围；D03确认家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庭承诺及调整可能。</a:t>
            </a:r>
          </a:p>
        </p:txBody>
      </p:sp>
      <p:sp>
        <p:nvSpPr>
          <p:cNvPr id="10" name="subhead-433">
            <a:extLst xmlns:a="http://schemas.openxmlformats.org/drawingml/2006/main">
              <a:ext uri="{FF2B5EF4-FFF2-40B4-BE49-F238E27FC236}">
                <a16:creationId xmlns:a16="http://schemas.microsoft.com/office/drawing/2014/main" id="{6967FE09-ABEB-49A2-90DE-DEEDF772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共同资源检查</a:t>
            </a:r>
          </a:p>
        </p:txBody>
      </p:sp>
      <p:sp>
        <p:nvSpPr>
          <p:cNvPr id="11" name="text-434">
            <a:extLst xmlns:a="http://schemas.openxmlformats.org/drawingml/2006/main">
              <a:ext uri="{FF2B5EF4-FFF2-40B4-BE49-F238E27FC236}">
                <a16:creationId xmlns:a16="http://schemas.microsoft.com/office/drawing/2014/main" id="{A4BFBDC7-1AE2-4CAD-A2D3-32653BE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M06核对具体时段，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D01/D02提供已知负荷限制。</a:t>
            </a:r>
          </a:p>
        </p:txBody>
      </p:sp>
      <p:sp>
        <p:nvSpPr>
          <p:cNvPr id="12" name="subhead-435">
            <a:extLst xmlns:a="http://schemas.openxmlformats.org/drawingml/2006/main">
              <a:ext uri="{FF2B5EF4-FFF2-40B4-BE49-F238E27FC236}">
                <a16:creationId xmlns:a16="http://schemas.microsoft.com/office/drawing/2014/main" id="{9CCB884A-511E-4DE3-A2F3-3F23CBD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总控生成组合</a:t>
            </a:r>
          </a:p>
        </p:txBody>
      </p:sp>
      <p:sp>
        <p:nvSpPr>
          <p:cNvPr id="13" name="text-436">
            <a:extLst xmlns:a="http://schemas.openxmlformats.org/drawingml/2006/main">
              <a:ext uri="{FF2B5EF4-FFF2-40B4-BE49-F238E27FC236}">
                <a16:creationId xmlns:a16="http://schemas.microsoft.com/office/drawing/2014/main" id="{A186616B-4915-4E68-ACFF-54A7588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改交付范围、协商期限、换时段或不接该项目。</a:t>
            </a:r>
          </a:p>
        </p:txBody>
      </p:sp>
      <p:sp>
        <p:nvSpPr>
          <p:cNvPr id="14" name="subhead-437">
            <a:extLst xmlns:a="http://schemas.openxmlformats.org/drawingml/2006/main">
              <a:ext uri="{FF2B5EF4-FFF2-40B4-BE49-F238E27FC236}">
                <a16:creationId xmlns:a16="http://schemas.microsoft.com/office/drawing/2014/main" id="{225B9D29-57F1-4121-AC9D-78E1D7C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用户作真实取舍</a:t>
            </a:r>
          </a:p>
        </p:txBody>
      </p:sp>
      <p:sp>
        <p:nvSpPr>
          <p:cNvPr id="15" name="text-438">
            <a:extLst xmlns:a="http://schemas.openxmlformats.org/drawingml/2006/main">
              <a:ext uri="{FF2B5EF4-FFF2-40B4-BE49-F238E27FC236}">
                <a16:creationId xmlns:a16="http://schemas.microsoft.com/office/drawing/2014/main" id="{EB416465-8EC0-4804-A3A3-8622BA9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已有承诺是否变更需真实协商；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不能由某领域单方面覆盖。</a:t>
            </a:r>
          </a:p>
        </p:txBody>
      </p:sp>
    </p:spTree>
    <p:extLst>
      <p:ext uri="{BB962C8B-B14F-4D97-AF65-F5344CB8AC3E}">
        <p14:creationId xmlns:p14="http://schemas.microsoft.com/office/powerpoint/2010/main" val="5847910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439">
            <a:extLst xmlns:a="http://schemas.openxmlformats.org/drawingml/2006/main">
              <a:ext uri="{FF2B5EF4-FFF2-40B4-BE49-F238E27FC236}">
                <a16:creationId xmlns:a16="http://schemas.microsoft.com/office/drawing/2014/main" id="{B3518344-6BC1-4A08-AD50-E2801E23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440">
            <a:extLst xmlns:a="http://schemas.openxmlformats.org/drawingml/2006/main">
              <a:ext uri="{FF2B5EF4-FFF2-40B4-BE49-F238E27FC236}">
                <a16:creationId xmlns:a16="http://schemas.microsoft.com/office/drawing/2014/main" id="{085B0BDA-BAD4-4B53-B1FA-3BC5D90D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八个阶段围绕产物推进</a:t>
            </a:r>
          </a:p>
        </p:txBody>
      </p:sp>
      <p:sp>
        <p:nvSpPr>
          <p:cNvPr id="3" name="claim-441">
            <a:extLst xmlns:a="http://schemas.openxmlformats.org/drawingml/2006/main">
              <a:ext uri="{FF2B5EF4-FFF2-40B4-BE49-F238E27FC236}">
                <a16:creationId xmlns:a16="http://schemas.microsoft.com/office/drawing/2014/main" id="{D4D60E1B-3369-4989-B329-18E15B7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每一步都有交付物、检查条件和必要的回退路径。</a:t>
            </a:r>
          </a:p>
        </p:txBody>
      </p:sp>
      <p:sp>
        <p:nvSpPr>
          <p:cNvPr id="4" name="box-442">
            <a:extLst xmlns:a="http://schemas.openxmlformats.org/drawingml/2006/main">
              <a:ext uri="{FF2B5EF4-FFF2-40B4-BE49-F238E27FC236}">
                <a16:creationId xmlns:a16="http://schemas.microsoft.com/office/drawing/2014/main" id="{24CAA4A4-380F-4597-B6C9-5DEBBFF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443">
            <a:extLst xmlns:a="http://schemas.openxmlformats.org/drawingml/2006/main">
              <a:ext uri="{FF2B5EF4-FFF2-40B4-BE49-F238E27FC236}">
                <a16:creationId xmlns:a16="http://schemas.microsoft.com/office/drawing/2014/main" id="{7CBEA110-2288-406E-8BB4-6A9E0702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444">
            <a:extLst xmlns:a="http://schemas.openxmlformats.org/drawingml/2006/main">
              <a:ext uri="{FF2B5EF4-FFF2-40B4-BE49-F238E27FC236}">
                <a16:creationId xmlns:a16="http://schemas.microsoft.com/office/drawing/2014/main" id="{389336DD-A6FB-4CF9-9A64-0B1E2886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445">
            <a:extLst xmlns:a="http://schemas.openxmlformats.org/drawingml/2006/main">
              <a:ext uri="{FF2B5EF4-FFF2-40B4-BE49-F238E27FC236}">
                <a16:creationId xmlns:a16="http://schemas.microsoft.com/office/drawing/2014/main" id="{B3562D77-5BAA-4DD1-8906-02EAF685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30 / 91</a:t>
            </a:r>
          </a:p>
        </p:txBody>
      </p:sp>
      <p:sp>
        <p:nvSpPr>
          <p:cNvPr id="8" name="text-446">
            <a:extLst xmlns:a="http://schemas.openxmlformats.org/drawingml/2006/main">
              <a:ext uri="{FF2B5EF4-FFF2-40B4-BE49-F238E27FC236}">
                <a16:creationId xmlns:a16="http://schemas.microsoft.com/office/drawing/2014/main" id="{F7F6B109-29D8-4998-BC1E-EC377CD9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证据不足回S2；方案不可行回S3；目标改变回S1。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760DD-1473-4D83-96B3-B38A5E41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241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F9A1C-CEF2-4DB2-9542-90E597F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241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2E7CB-6B92-4998-B3F1-109593B1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241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A4327-37AA-48A0-8230-58F8EA64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29025"/>
            <a:ext cx="1143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FC001-E2E7-4833-88D4-0F9267C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43475"/>
            <a:ext cx="3619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B1F3-BC7B-43E4-9ED5-8B175C8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943475"/>
            <a:ext cx="3619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86DE2-FEFB-47AD-82A2-FC19112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43475"/>
            <a:ext cx="3619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6" name="box-447">
            <a:extLst xmlns:a="http://schemas.openxmlformats.org/drawingml/2006/main">
              <a:ext uri="{FF2B5EF4-FFF2-40B4-BE49-F238E27FC236}">
                <a16:creationId xmlns:a16="http://schemas.microsoft.com/office/drawing/2014/main" id="{ADCBE514-40A9-458C-8124-DCDA7FF3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17" name="text-448">
            <a:extLst xmlns:a="http://schemas.openxmlformats.org/drawingml/2006/main">
              <a:ext uri="{FF2B5EF4-FFF2-40B4-BE49-F238E27FC236}">
                <a16:creationId xmlns:a16="http://schemas.microsoft.com/office/drawing/2014/main" id="{9065D24A-3107-4B91-9D21-2C7F3DDA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336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S1 定义问题</a:t>
            </a:r>
          </a:p>
        </p:txBody>
      </p:sp>
      <p:sp>
        <p:nvSpPr>
          <p:cNvPr id="18" name="text-449">
            <a:extLst xmlns:a="http://schemas.openxmlformats.org/drawingml/2006/main">
              <a:ext uri="{FF2B5EF4-FFF2-40B4-BE49-F238E27FC236}">
                <a16:creationId xmlns:a16="http://schemas.microsoft.com/office/drawing/2014/main" id="{FE3A8DE4-5CB3-4CF0-AF54-DD1C1A4E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813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目标与边界</a:t>
            </a:r>
          </a:p>
        </p:txBody>
      </p:sp>
      <p:sp>
        <p:nvSpPr>
          <p:cNvPr id="19" name="box-450">
            <a:extLst xmlns:a="http://schemas.openxmlformats.org/drawingml/2006/main">
              <a:ext uri="{FF2B5EF4-FFF2-40B4-BE49-F238E27FC236}">
                <a16:creationId xmlns:a16="http://schemas.microsoft.com/office/drawing/2014/main" id="{4688F4EE-AF2C-47EF-8A8B-565DBB1D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20" name="text-451">
            <a:extLst xmlns:a="http://schemas.openxmlformats.org/drawingml/2006/main">
              <a:ext uri="{FF2B5EF4-FFF2-40B4-BE49-F238E27FC236}">
                <a16:creationId xmlns:a16="http://schemas.microsoft.com/office/drawing/2014/main" id="{8A83CDEE-F394-40F8-8D7C-4F90D94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336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S2 建立事实</a:t>
            </a:r>
          </a:p>
        </p:txBody>
      </p:sp>
      <p:sp>
        <p:nvSpPr>
          <p:cNvPr id="21" name="text-452">
            <a:extLst xmlns:a="http://schemas.openxmlformats.org/drawingml/2006/main">
              <a:ext uri="{FF2B5EF4-FFF2-40B4-BE49-F238E27FC236}">
                <a16:creationId xmlns:a16="http://schemas.microsoft.com/office/drawing/2014/main" id="{84AC88B1-E8FF-4A8D-8EBF-B86E0C7F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813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证据与未知</a:t>
            </a:r>
          </a:p>
        </p:txBody>
      </p:sp>
      <p:sp>
        <p:nvSpPr>
          <p:cNvPr id="22" name="box-453">
            <a:extLst xmlns:a="http://schemas.openxmlformats.org/drawingml/2006/main">
              <a:ext uri="{FF2B5EF4-FFF2-40B4-BE49-F238E27FC236}">
                <a16:creationId xmlns:a16="http://schemas.microsoft.com/office/drawing/2014/main" id="{0060279D-395A-42C2-AF2F-58EFDCC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23" name="text-454">
            <a:extLst xmlns:a="http://schemas.openxmlformats.org/drawingml/2006/main">
              <a:ext uri="{FF2B5EF4-FFF2-40B4-BE49-F238E27FC236}">
                <a16:creationId xmlns:a16="http://schemas.microsoft.com/office/drawing/2014/main" id="{EF6ADA35-683D-4385-92D6-797E5F56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336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S3 生成方案</a:t>
            </a:r>
          </a:p>
        </p:txBody>
      </p:sp>
      <p:sp>
        <p:nvSpPr>
          <p:cNvPr id="24" name="text-455">
            <a:extLst xmlns:a="http://schemas.openxmlformats.org/drawingml/2006/main">
              <a:ext uri="{FF2B5EF4-FFF2-40B4-BE49-F238E27FC236}">
                <a16:creationId xmlns:a16="http://schemas.microsoft.com/office/drawing/2014/main" id="{80598BF8-1A36-4636-8048-2B08B6C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813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真实备选</a:t>
            </a:r>
          </a:p>
        </p:txBody>
      </p:sp>
      <p:sp>
        <p:nvSpPr>
          <p:cNvPr id="25" name="box-456">
            <a:extLst xmlns:a="http://schemas.openxmlformats.org/drawingml/2006/main">
              <a:ext uri="{FF2B5EF4-FFF2-40B4-BE49-F238E27FC236}">
                <a16:creationId xmlns:a16="http://schemas.microsoft.com/office/drawing/2014/main" id="{E335279E-F7EE-464B-9C59-F990CEC3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26" name="text-457">
            <a:extLst xmlns:a="http://schemas.openxmlformats.org/drawingml/2006/main">
              <a:ext uri="{FF2B5EF4-FFF2-40B4-BE49-F238E27FC236}">
                <a16:creationId xmlns:a16="http://schemas.microsoft.com/office/drawing/2014/main" id="{33F2D03E-F4C1-4C3D-872A-47160214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336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S4 约束比较</a:t>
            </a:r>
          </a:p>
        </p:txBody>
      </p:sp>
      <p:sp>
        <p:nvSpPr>
          <p:cNvPr id="27" name="text-458">
            <a:extLst xmlns:a="http://schemas.openxmlformats.org/drawingml/2006/main">
              <a:ext uri="{FF2B5EF4-FFF2-40B4-BE49-F238E27FC236}">
                <a16:creationId xmlns:a16="http://schemas.microsoft.com/office/drawing/2014/main" id="{7A12A4EB-3B64-4220-A713-ADF970D9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813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可行组合</a:t>
            </a:r>
          </a:p>
        </p:txBody>
      </p:sp>
      <p:sp>
        <p:nvSpPr>
          <p:cNvPr id="28" name="box-459">
            <a:extLst xmlns:a="http://schemas.openxmlformats.org/drawingml/2006/main">
              <a:ext uri="{FF2B5EF4-FFF2-40B4-BE49-F238E27FC236}">
                <a16:creationId xmlns:a16="http://schemas.microsoft.com/office/drawing/2014/main" id="{024F9A07-9811-4F4D-B66F-870EB208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29" name="text-460">
            <a:extLst xmlns:a="http://schemas.openxmlformats.org/drawingml/2006/main">
              <a:ext uri="{FF2B5EF4-FFF2-40B4-BE49-F238E27FC236}">
                <a16:creationId xmlns:a16="http://schemas.microsoft.com/office/drawing/2014/main" id="{E667ECA8-DA21-4102-BF00-CDE395A3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529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S8 反馈更新</a:t>
            </a:r>
          </a:p>
        </p:txBody>
      </p:sp>
      <p:sp>
        <p:nvSpPr>
          <p:cNvPr id="30" name="text-461">
            <a:extLst xmlns:a="http://schemas.openxmlformats.org/drawingml/2006/main">
              <a:ext uri="{FF2B5EF4-FFF2-40B4-BE49-F238E27FC236}">
                <a16:creationId xmlns:a16="http://schemas.microsoft.com/office/drawing/2014/main" id="{21C0D056-78F8-479E-BDAA-DAB4C67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新结果与版本</a:t>
            </a:r>
          </a:p>
        </p:txBody>
      </p:sp>
      <p:sp>
        <p:nvSpPr>
          <p:cNvPr id="31" name="box-462">
            <a:extLst xmlns:a="http://schemas.openxmlformats.org/drawingml/2006/main">
              <a:ext uri="{FF2B5EF4-FFF2-40B4-BE49-F238E27FC236}">
                <a16:creationId xmlns:a16="http://schemas.microsoft.com/office/drawing/2014/main" id="{060C9F20-7FFF-4A45-A8E0-60A1635C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32" name="text-463">
            <a:extLst xmlns:a="http://schemas.openxmlformats.org/drawingml/2006/main">
              <a:ext uri="{FF2B5EF4-FFF2-40B4-BE49-F238E27FC236}">
                <a16:creationId xmlns:a16="http://schemas.microsoft.com/office/drawing/2014/main" id="{F9C60A8B-1729-427C-B019-A87713C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5529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S7 授权执行</a:t>
            </a:r>
          </a:p>
        </p:txBody>
      </p:sp>
      <p:sp>
        <p:nvSpPr>
          <p:cNvPr id="33" name="text-464">
            <a:extLst xmlns:a="http://schemas.openxmlformats.org/drawingml/2006/main">
              <a:ext uri="{FF2B5EF4-FFF2-40B4-BE49-F238E27FC236}">
                <a16:creationId xmlns:a16="http://schemas.microsoft.com/office/drawing/2014/main" id="{00741674-BFCE-41F6-B048-2E4AC78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006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任务与真实状态</a:t>
            </a:r>
          </a:p>
        </p:txBody>
      </p:sp>
      <p:sp>
        <p:nvSpPr>
          <p:cNvPr id="34" name="box-465">
            <a:extLst xmlns:a="http://schemas.openxmlformats.org/drawingml/2006/main">
              <a:ext uri="{FF2B5EF4-FFF2-40B4-BE49-F238E27FC236}">
                <a16:creationId xmlns:a16="http://schemas.microsoft.com/office/drawing/2014/main" id="{39BA3CEF-58BE-4FFE-B328-827A2910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35" name="text-466">
            <a:extLst xmlns:a="http://schemas.openxmlformats.org/drawingml/2006/main">
              <a:ext uri="{FF2B5EF4-FFF2-40B4-BE49-F238E27FC236}">
                <a16:creationId xmlns:a16="http://schemas.microsoft.com/office/drawing/2014/main" id="{014057B5-ABFD-4015-8A06-A85AF223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529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S6 建议取舍</a:t>
            </a:r>
          </a:p>
        </p:txBody>
      </p:sp>
      <p:sp>
        <p:nvSpPr>
          <p:cNvPr id="36" name="text-467">
            <a:extLst xmlns:a="http://schemas.openxmlformats.org/drawingml/2006/main">
              <a:ext uri="{FF2B5EF4-FFF2-40B4-BE49-F238E27FC236}">
                <a16:creationId xmlns:a16="http://schemas.microsoft.com/office/drawing/2014/main" id="{4DCB9318-83BC-4D2B-8862-70EA816C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006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条件与用户选择</a:t>
            </a:r>
          </a:p>
        </p:txBody>
      </p:sp>
      <p:sp>
        <p:nvSpPr>
          <p:cNvPr id="37" name="box-468">
            <a:extLst xmlns:a="http://schemas.openxmlformats.org/drawingml/2006/main">
              <a:ext uri="{FF2B5EF4-FFF2-40B4-BE49-F238E27FC236}">
                <a16:creationId xmlns:a16="http://schemas.microsoft.com/office/drawing/2014/main" id="{2AEF9A25-9B20-43B7-9694-DC7AEF8D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005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38" name="text-469">
            <a:extLst xmlns:a="http://schemas.openxmlformats.org/drawingml/2006/main">
              <a:ext uri="{FF2B5EF4-FFF2-40B4-BE49-F238E27FC236}">
                <a16:creationId xmlns:a16="http://schemas.microsoft.com/office/drawing/2014/main" id="{61B6B47E-353D-4717-B933-E691FBD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52950"/>
            <a:ext cx="20764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S5 反驳复核</a:t>
            </a:r>
          </a:p>
        </p:txBody>
      </p:sp>
      <p:sp>
        <p:nvSpPr>
          <p:cNvPr id="39" name="text-470">
            <a:extLst xmlns:a="http://schemas.openxmlformats.org/drawingml/2006/main">
              <a:ext uri="{FF2B5EF4-FFF2-40B4-BE49-F238E27FC236}">
                <a16:creationId xmlns:a16="http://schemas.microsoft.com/office/drawing/2014/main" id="{33BC3B7B-40F0-46E1-965A-ECB90F35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000625"/>
            <a:ext cx="2076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反例与检查</a:t>
            </a:r>
          </a:p>
        </p:txBody>
      </p:sp>
    </p:spTree>
    <p:extLst>
      <p:ext uri="{BB962C8B-B14F-4D97-AF65-F5344CB8AC3E}">
        <p14:creationId xmlns:p14="http://schemas.microsoft.com/office/powerpoint/2010/main" val="16568130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471">
            <a:extLst xmlns:a="http://schemas.openxmlformats.org/drawingml/2006/main">
              <a:ext uri="{FF2B5EF4-FFF2-40B4-BE49-F238E27FC236}">
                <a16:creationId xmlns:a16="http://schemas.microsoft.com/office/drawing/2014/main" id="{AC172EDC-2FA1-4C01-AE93-AC74986E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472">
            <a:extLst xmlns:a="http://schemas.openxmlformats.org/drawingml/2006/main">
              <a:ext uri="{FF2B5EF4-FFF2-40B4-BE49-F238E27FC236}">
                <a16:creationId xmlns:a16="http://schemas.microsoft.com/office/drawing/2014/main" id="{80CF7C8A-7317-4CE0-A42D-3250914A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S1 定义问题</a:t>
            </a:r>
          </a:p>
        </p:txBody>
      </p:sp>
      <p:sp>
        <p:nvSpPr>
          <p:cNvPr id="3" name="claim-473">
            <a:extLst xmlns:a="http://schemas.openxmlformats.org/drawingml/2006/main">
              <a:ext uri="{FF2B5EF4-FFF2-40B4-BE49-F238E27FC236}">
                <a16:creationId xmlns:a16="http://schemas.microsoft.com/office/drawing/2014/main" id="{C3C4CD33-7794-483E-BB2B-D1064A56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先说清正在决定什么</a:t>
            </a:r>
          </a:p>
        </p:txBody>
      </p:sp>
      <p:sp>
        <p:nvSpPr>
          <p:cNvPr id="4" name="box-474">
            <a:extLst xmlns:a="http://schemas.openxmlformats.org/drawingml/2006/main">
              <a:ext uri="{FF2B5EF4-FFF2-40B4-BE49-F238E27FC236}">
                <a16:creationId xmlns:a16="http://schemas.microsoft.com/office/drawing/2014/main" id="{B57216BC-FAEE-40DB-855B-345236A6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475">
            <a:extLst xmlns:a="http://schemas.openxmlformats.org/drawingml/2006/main">
              <a:ext uri="{FF2B5EF4-FFF2-40B4-BE49-F238E27FC236}">
                <a16:creationId xmlns:a16="http://schemas.microsoft.com/office/drawing/2014/main" id="{5C09D9B8-D31C-47FE-8F5B-2586901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476">
            <a:extLst xmlns:a="http://schemas.openxmlformats.org/drawingml/2006/main">
              <a:ext uri="{FF2B5EF4-FFF2-40B4-BE49-F238E27FC236}">
                <a16:creationId xmlns:a16="http://schemas.microsoft.com/office/drawing/2014/main" id="{8BEC1991-2BBC-4F21-8EDB-C60FAD7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477">
            <a:extLst xmlns:a="http://schemas.openxmlformats.org/drawingml/2006/main">
              <a:ext uri="{FF2B5EF4-FFF2-40B4-BE49-F238E27FC236}">
                <a16:creationId xmlns:a16="http://schemas.microsoft.com/office/drawing/2014/main" id="{C79B87EB-9D3B-4112-B962-FDE284D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31 / 91</a:t>
            </a:r>
          </a:p>
        </p:txBody>
      </p:sp>
      <p:sp>
        <p:nvSpPr>
          <p:cNvPr id="8" name="subhead-478">
            <a:extLst xmlns:a="http://schemas.openxmlformats.org/drawingml/2006/main">
              <a:ext uri="{FF2B5EF4-FFF2-40B4-BE49-F238E27FC236}">
                <a16:creationId xmlns:a16="http://schemas.microsoft.com/office/drawing/2014/main" id="{F204625C-0FD6-40EE-B8CB-AE951B73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479">
            <a:extLst xmlns:a="http://schemas.openxmlformats.org/drawingml/2006/main">
              <a:ext uri="{FF2B5EF4-FFF2-40B4-BE49-F238E27FC236}">
                <a16:creationId xmlns:a16="http://schemas.microsoft.com/office/drawing/2014/main" id="{13DAF2D3-23AB-4DE8-9A9E-6CFE8F51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输入：当前愿望、期限、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资源、底线与已有授权。</a:t>
            </a:r>
          </a:p>
        </p:txBody>
      </p:sp>
      <p:sp>
        <p:nvSpPr>
          <p:cNvPr id="10" name="subhead-480">
            <a:extLst xmlns:a="http://schemas.openxmlformats.org/drawingml/2006/main">
              <a:ext uri="{FF2B5EF4-FFF2-40B4-BE49-F238E27FC236}">
                <a16:creationId xmlns:a16="http://schemas.microsoft.com/office/drawing/2014/main" id="{ACEC9566-96B9-4ECE-960C-27891B0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481">
            <a:extLst xmlns:a="http://schemas.openxmlformats.org/drawingml/2006/main">
              <a:ext uri="{FF2B5EF4-FFF2-40B4-BE49-F238E27FC236}">
                <a16:creationId xmlns:a16="http://schemas.microsoft.com/office/drawing/2014/main" id="{1442601E-DAEF-4D7E-8615-094D63B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方法：区分目标、手段、硬约束和价值偏好。</a:t>
            </a:r>
          </a:p>
        </p:txBody>
      </p:sp>
      <p:sp>
        <p:nvSpPr>
          <p:cNvPr id="12" name="subhead-482">
            <a:extLst xmlns:a="http://schemas.openxmlformats.org/drawingml/2006/main">
              <a:ext uri="{FF2B5EF4-FFF2-40B4-BE49-F238E27FC236}">
                <a16:creationId xmlns:a16="http://schemas.microsoft.com/office/drawing/2014/main" id="{4B3C03A9-0001-404C-8089-E9028C15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483">
            <a:extLst xmlns:a="http://schemas.openxmlformats.org/drawingml/2006/main">
              <a:ext uri="{FF2B5EF4-FFF2-40B4-BE49-F238E27FC236}">
                <a16:creationId xmlns:a16="http://schemas.microsoft.com/office/drawing/2014/main" id="{2BF242B2-D739-4D87-9607-866920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产物：一句话问题、相关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领域、目标与约束清单。</a:t>
            </a:r>
          </a:p>
        </p:txBody>
      </p:sp>
      <p:sp>
        <p:nvSpPr>
          <p:cNvPr id="14" name="subhead-484">
            <a:extLst xmlns:a="http://schemas.openxmlformats.org/drawingml/2006/main">
              <a:ext uri="{FF2B5EF4-FFF2-40B4-BE49-F238E27FC236}">
                <a16:creationId xmlns:a16="http://schemas.microsoft.com/office/drawing/2014/main" id="{A573053F-5FEF-4C5B-BC3F-A51AA1C0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485">
            <a:extLst xmlns:a="http://schemas.openxmlformats.org/drawingml/2006/main">
              <a:ext uri="{FF2B5EF4-FFF2-40B4-BE49-F238E27FC236}">
                <a16:creationId xmlns:a16="http://schemas.microsoft.com/office/drawing/2014/main" id="{0F088C8A-C1BD-4F2D-A636-0C8787C3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回退：缺少会改变选择的目标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信息时，先澄清关键问题。</a:t>
            </a:r>
          </a:p>
        </p:txBody>
      </p:sp>
      <p:sp>
        <p:nvSpPr>
          <p:cNvPr id="16" name="box-486">
            <a:extLst xmlns:a="http://schemas.openxmlformats.org/drawingml/2006/main">
              <a:ext uri="{FF2B5EF4-FFF2-40B4-BE49-F238E27FC236}">
                <a16:creationId xmlns:a16="http://schemas.microsoft.com/office/drawing/2014/main" id="{1DCD0690-A0C0-4BA9-87A5-4BCFBF39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487">
            <a:extLst xmlns:a="http://schemas.openxmlformats.org/drawingml/2006/main">
              <a:ext uri="{FF2B5EF4-FFF2-40B4-BE49-F238E27FC236}">
                <a16:creationId xmlns:a16="http://schemas.microsoft.com/office/drawing/2014/main" id="{48016929-77BD-44EA-8250-1BBADA9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调用知识：逻辑、认识论、决策理论、伦理、心理、系统科学</a:t>
            </a:r>
          </a:p>
        </p:txBody>
      </p:sp>
    </p:spTree>
    <p:extLst>
      <p:ext uri="{BB962C8B-B14F-4D97-AF65-F5344CB8AC3E}">
        <p14:creationId xmlns:p14="http://schemas.microsoft.com/office/powerpoint/2010/main" val="18905711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488">
            <a:extLst xmlns:a="http://schemas.openxmlformats.org/drawingml/2006/main">
              <a:ext uri="{FF2B5EF4-FFF2-40B4-BE49-F238E27FC236}">
                <a16:creationId xmlns:a16="http://schemas.microsoft.com/office/drawing/2014/main" id="{94C77701-0A9B-496C-A7D4-C9CC19F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489">
            <a:extLst xmlns:a="http://schemas.openxmlformats.org/drawingml/2006/main">
              <a:ext uri="{FF2B5EF4-FFF2-40B4-BE49-F238E27FC236}">
                <a16:creationId xmlns:a16="http://schemas.microsoft.com/office/drawing/2014/main" id="{A56C8105-E544-47B5-BE14-AEA62E2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S2 建立事实</a:t>
            </a:r>
          </a:p>
        </p:txBody>
      </p:sp>
      <p:sp>
        <p:nvSpPr>
          <p:cNvPr id="3" name="claim-490">
            <a:extLst xmlns:a="http://schemas.openxmlformats.org/drawingml/2006/main">
              <a:ext uri="{FF2B5EF4-FFF2-40B4-BE49-F238E27FC236}">
                <a16:creationId xmlns:a16="http://schemas.microsoft.com/office/drawing/2014/main" id="{D50491CA-9330-4B54-A80D-17A21BB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把证据和猜测分开</a:t>
            </a:r>
          </a:p>
        </p:txBody>
      </p:sp>
      <p:sp>
        <p:nvSpPr>
          <p:cNvPr id="4" name="box-491">
            <a:extLst xmlns:a="http://schemas.openxmlformats.org/drawingml/2006/main">
              <a:ext uri="{FF2B5EF4-FFF2-40B4-BE49-F238E27FC236}">
                <a16:creationId xmlns:a16="http://schemas.microsoft.com/office/drawing/2014/main" id="{AD98F4AB-1B4D-433F-BCA9-546E2239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492">
            <a:extLst xmlns:a="http://schemas.openxmlformats.org/drawingml/2006/main">
              <a:ext uri="{FF2B5EF4-FFF2-40B4-BE49-F238E27FC236}">
                <a16:creationId xmlns:a16="http://schemas.microsoft.com/office/drawing/2014/main" id="{FE3BC817-AE18-4D44-B781-653CC24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493">
            <a:extLst xmlns:a="http://schemas.openxmlformats.org/drawingml/2006/main">
              <a:ext uri="{FF2B5EF4-FFF2-40B4-BE49-F238E27FC236}">
                <a16:creationId xmlns:a16="http://schemas.microsoft.com/office/drawing/2014/main" id="{0EC3A207-9811-4858-AE13-6AF75AE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494">
            <a:extLst xmlns:a="http://schemas.openxmlformats.org/drawingml/2006/main">
              <a:ext uri="{FF2B5EF4-FFF2-40B4-BE49-F238E27FC236}">
                <a16:creationId xmlns:a16="http://schemas.microsoft.com/office/drawing/2014/main" id="{C39D3C41-CB83-4EFE-BFFF-4030AAE3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32 / 91</a:t>
            </a:r>
          </a:p>
        </p:txBody>
      </p:sp>
      <p:sp>
        <p:nvSpPr>
          <p:cNvPr id="8" name="subhead-495">
            <a:extLst xmlns:a="http://schemas.openxmlformats.org/drawingml/2006/main">
              <a:ext uri="{FF2B5EF4-FFF2-40B4-BE49-F238E27FC236}">
                <a16:creationId xmlns:a16="http://schemas.microsoft.com/office/drawing/2014/main" id="{70172EF1-C139-40F2-A76E-4CCE039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496">
            <a:extLst xmlns:a="http://schemas.openxmlformats.org/drawingml/2006/main">
              <a:ext uri="{FF2B5EF4-FFF2-40B4-BE49-F238E27FC236}">
                <a16:creationId xmlns:a16="http://schemas.microsoft.com/office/drawing/2014/main" id="{3A6DEDB6-E8E1-4CA0-A240-CD93DE4D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输入：用户陈述、文件、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已授权来源与全局快照。</a:t>
            </a:r>
          </a:p>
        </p:txBody>
      </p:sp>
      <p:sp>
        <p:nvSpPr>
          <p:cNvPr id="10" name="subhead-497">
            <a:extLst xmlns:a="http://schemas.openxmlformats.org/drawingml/2006/main">
              <a:ext uri="{FF2B5EF4-FFF2-40B4-BE49-F238E27FC236}">
                <a16:creationId xmlns:a16="http://schemas.microsoft.com/office/drawing/2014/main" id="{B9852D3D-6680-4C85-8591-CD5413FA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498">
            <a:extLst xmlns:a="http://schemas.openxmlformats.org/drawingml/2006/main">
              <a:ext uri="{FF2B5EF4-FFF2-40B4-BE49-F238E27FC236}">
                <a16:creationId xmlns:a16="http://schemas.microsoft.com/office/drawing/2014/main" id="{84FDD178-15F0-4F91-9D66-6360CF1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方法：核对原始来源、时间、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适用范围和矛盾信息。</a:t>
            </a:r>
          </a:p>
        </p:txBody>
      </p:sp>
      <p:sp>
        <p:nvSpPr>
          <p:cNvPr id="12" name="subhead-499">
            <a:extLst xmlns:a="http://schemas.openxmlformats.org/drawingml/2006/main">
              <a:ext uri="{FF2B5EF4-FFF2-40B4-BE49-F238E27FC236}">
                <a16:creationId xmlns:a16="http://schemas.microsoft.com/office/drawing/2014/main" id="{251A74E3-3321-4D44-BF6C-15373131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500">
            <a:extLst xmlns:a="http://schemas.openxmlformats.org/drawingml/2006/main">
              <a:ext uri="{FF2B5EF4-FFF2-40B4-BE49-F238E27FC236}">
                <a16:creationId xmlns:a16="http://schemas.microsoft.com/office/drawing/2014/main" id="{86DB9B06-E382-4128-9653-2A2A2DF5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产物：证据账本、当前输入版本与关键未知。</a:t>
            </a:r>
          </a:p>
        </p:txBody>
      </p:sp>
      <p:sp>
        <p:nvSpPr>
          <p:cNvPr id="14" name="subhead-501">
            <a:extLst xmlns:a="http://schemas.openxmlformats.org/drawingml/2006/main">
              <a:ext uri="{FF2B5EF4-FFF2-40B4-BE49-F238E27FC236}">
                <a16:creationId xmlns:a16="http://schemas.microsoft.com/office/drawing/2014/main" id="{F321695F-DF36-4681-9827-B1C03775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502">
            <a:extLst xmlns:a="http://schemas.openxmlformats.org/drawingml/2006/main">
              <a:ext uri="{FF2B5EF4-FFF2-40B4-BE49-F238E27FC236}">
                <a16:creationId xmlns:a16="http://schemas.microsoft.com/office/drawing/2014/main" id="{8F5A8BFC-A51C-4931-9D7B-6DE58CBA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回退：关键证据不足时限定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补证预算，保留条件分析。</a:t>
            </a:r>
          </a:p>
        </p:txBody>
      </p:sp>
      <p:sp>
        <p:nvSpPr>
          <p:cNvPr id="16" name="box-503">
            <a:extLst xmlns:a="http://schemas.openxmlformats.org/drawingml/2006/main">
              <a:ext uri="{FF2B5EF4-FFF2-40B4-BE49-F238E27FC236}">
                <a16:creationId xmlns:a16="http://schemas.microsoft.com/office/drawing/2014/main" id="{084ABCD1-E571-4AA6-80CB-58110A1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504">
            <a:extLst xmlns:a="http://schemas.openxmlformats.org/drawingml/2006/main">
              <a:ext uri="{FF2B5EF4-FFF2-40B4-BE49-F238E27FC236}">
                <a16:creationId xmlns:a16="http://schemas.microsoft.com/office/drawing/2014/main" id="{C4C5560B-F83B-4B82-8A50-A893E3A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调用知识：科学方法、调查研究、统计、历史、英语检索、数据与AI</a:t>
            </a:r>
          </a:p>
        </p:txBody>
      </p:sp>
    </p:spTree>
    <p:extLst>
      <p:ext uri="{BB962C8B-B14F-4D97-AF65-F5344CB8AC3E}">
        <p14:creationId xmlns:p14="http://schemas.microsoft.com/office/powerpoint/2010/main" val="20476013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05">
            <a:extLst xmlns:a="http://schemas.openxmlformats.org/drawingml/2006/main">
              <a:ext uri="{FF2B5EF4-FFF2-40B4-BE49-F238E27FC236}">
                <a16:creationId xmlns:a16="http://schemas.microsoft.com/office/drawing/2014/main" id="{698EB0FF-E8C8-4FC1-B219-365FB45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506">
            <a:extLst xmlns:a="http://schemas.openxmlformats.org/drawingml/2006/main">
              <a:ext uri="{FF2B5EF4-FFF2-40B4-BE49-F238E27FC236}">
                <a16:creationId xmlns:a16="http://schemas.microsoft.com/office/drawing/2014/main" id="{DF7D8104-7BB7-4CD1-9384-C11A138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S3 生成方案</a:t>
            </a:r>
          </a:p>
        </p:txBody>
      </p:sp>
      <p:sp>
        <p:nvSpPr>
          <p:cNvPr id="3" name="claim-507">
            <a:extLst xmlns:a="http://schemas.openxmlformats.org/drawingml/2006/main">
              <a:ext uri="{FF2B5EF4-FFF2-40B4-BE49-F238E27FC236}">
                <a16:creationId xmlns:a16="http://schemas.microsoft.com/office/drawing/2014/main" id="{47372477-EC52-4F44-AB2D-2D93214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把目标转成真实备选</a:t>
            </a:r>
          </a:p>
        </p:txBody>
      </p:sp>
      <p:sp>
        <p:nvSpPr>
          <p:cNvPr id="4" name="box-508">
            <a:extLst xmlns:a="http://schemas.openxmlformats.org/drawingml/2006/main">
              <a:ext uri="{FF2B5EF4-FFF2-40B4-BE49-F238E27FC236}">
                <a16:creationId xmlns:a16="http://schemas.microsoft.com/office/drawing/2014/main" id="{A504BD75-6708-4175-ACD2-362753CC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09">
            <a:extLst xmlns:a="http://schemas.openxmlformats.org/drawingml/2006/main">
              <a:ext uri="{FF2B5EF4-FFF2-40B4-BE49-F238E27FC236}">
                <a16:creationId xmlns:a16="http://schemas.microsoft.com/office/drawing/2014/main" id="{7E04AAFF-9B76-4E12-9931-DD5A1852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10">
            <a:extLst xmlns:a="http://schemas.openxmlformats.org/drawingml/2006/main">
              <a:ext uri="{FF2B5EF4-FFF2-40B4-BE49-F238E27FC236}">
                <a16:creationId xmlns:a16="http://schemas.microsoft.com/office/drawing/2014/main" id="{4B275848-B6A5-4EE3-B828-30CF1F5E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11">
            <a:extLst xmlns:a="http://schemas.openxmlformats.org/drawingml/2006/main">
              <a:ext uri="{FF2B5EF4-FFF2-40B4-BE49-F238E27FC236}">
                <a16:creationId xmlns:a16="http://schemas.microsoft.com/office/drawing/2014/main" id="{E7BAB0A9-081D-461D-83C1-573D47BF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33 / 91</a:t>
            </a:r>
          </a:p>
        </p:txBody>
      </p:sp>
      <p:sp>
        <p:nvSpPr>
          <p:cNvPr id="8" name="subhead-512">
            <a:extLst xmlns:a="http://schemas.openxmlformats.org/drawingml/2006/main">
              <a:ext uri="{FF2B5EF4-FFF2-40B4-BE49-F238E27FC236}">
                <a16:creationId xmlns:a16="http://schemas.microsoft.com/office/drawing/2014/main" id="{5DDFB215-5692-48A5-A167-518D9A0F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513">
            <a:extLst xmlns:a="http://schemas.openxmlformats.org/drawingml/2006/main">
              <a:ext uri="{FF2B5EF4-FFF2-40B4-BE49-F238E27FC236}">
                <a16:creationId xmlns:a16="http://schemas.microsoft.com/office/drawing/2014/main" id="{A3C32E64-3A17-4522-A8AB-CFE1715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输入：目标、约束、事实与关键未知。</a:t>
            </a:r>
          </a:p>
        </p:txBody>
      </p:sp>
      <p:sp>
        <p:nvSpPr>
          <p:cNvPr id="10" name="subhead-514">
            <a:extLst xmlns:a="http://schemas.openxmlformats.org/drawingml/2006/main">
              <a:ext uri="{FF2B5EF4-FFF2-40B4-BE49-F238E27FC236}">
                <a16:creationId xmlns:a16="http://schemas.microsoft.com/office/drawing/2014/main" id="{90E6227D-7AA0-4F2A-8253-304456DB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0613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515">
            <a:extLst xmlns:a="http://schemas.openxmlformats.org/drawingml/2006/main">
              <a:ext uri="{FF2B5EF4-FFF2-40B4-BE49-F238E27FC236}">
                <a16:creationId xmlns:a16="http://schemas.microsoft.com/office/drawing/2014/main" id="{6D2BEEAD-3669-4188-AD8B-D811E0F7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2865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方法：提出不同路径，包括现状、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暂缓、缩减、替代与试行。</a:t>
            </a:r>
          </a:p>
        </p:txBody>
      </p:sp>
      <p:sp>
        <p:nvSpPr>
          <p:cNvPr id="12" name="subhead-516">
            <a:extLst xmlns:a="http://schemas.openxmlformats.org/drawingml/2006/main">
              <a:ext uri="{FF2B5EF4-FFF2-40B4-BE49-F238E27FC236}">
                <a16:creationId xmlns:a16="http://schemas.microsoft.com/office/drawing/2014/main" id="{76B0E335-03E6-4289-80E7-659B231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517">
            <a:extLst xmlns:a="http://schemas.openxmlformats.org/drawingml/2006/main">
              <a:ext uri="{FF2B5EF4-FFF2-40B4-BE49-F238E27FC236}">
                <a16:creationId xmlns:a16="http://schemas.microsoft.com/office/drawing/2014/main" id="{292949DD-0A85-45E0-8DB5-1221FD9C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产物：方案ID、行动内容、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进入条件、资源与退出方式。</a:t>
            </a:r>
          </a:p>
        </p:txBody>
      </p:sp>
      <p:sp>
        <p:nvSpPr>
          <p:cNvPr id="14" name="subhead-518">
            <a:extLst xmlns:a="http://schemas.openxmlformats.org/drawingml/2006/main">
              <a:ext uri="{FF2B5EF4-FFF2-40B4-BE49-F238E27FC236}">
                <a16:creationId xmlns:a16="http://schemas.microsoft.com/office/drawing/2014/main" id="{6C658244-70D3-401D-ADA6-35B7C33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519">
            <a:extLst xmlns:a="http://schemas.openxmlformats.org/drawingml/2006/main">
              <a:ext uri="{FF2B5EF4-FFF2-40B4-BE49-F238E27FC236}">
                <a16:creationId xmlns:a16="http://schemas.microsoft.com/office/drawing/2014/main" id="{72D142F2-F645-44A5-89FB-FC8B59B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回退：只有一个方案时检查是否遗漏真实选择。</a:t>
            </a:r>
          </a:p>
        </p:txBody>
      </p:sp>
      <p:sp>
        <p:nvSpPr>
          <p:cNvPr id="16" name="box-520">
            <a:extLst xmlns:a="http://schemas.openxmlformats.org/drawingml/2006/main">
              <a:ext uri="{FF2B5EF4-FFF2-40B4-BE49-F238E27FC236}">
                <a16:creationId xmlns:a16="http://schemas.microsoft.com/office/drawing/2014/main" id="{75894961-7E09-49AD-B731-DD54B0D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521">
            <a:extLst xmlns:a="http://schemas.openxmlformats.org/drawingml/2006/main">
              <a:ext uri="{FF2B5EF4-FFF2-40B4-BE49-F238E27FC236}">
                <a16:creationId xmlns:a16="http://schemas.microsoft.com/office/drawing/2014/main" id="{E73DC8F8-AB24-411D-AD60-F9170BF8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调用知识：决策理论、系统工程、经济、博弈、制度组织、政治经济学</a:t>
            </a:r>
          </a:p>
        </p:txBody>
      </p:sp>
    </p:spTree>
    <p:extLst>
      <p:ext uri="{BB962C8B-B14F-4D97-AF65-F5344CB8AC3E}">
        <p14:creationId xmlns:p14="http://schemas.microsoft.com/office/powerpoint/2010/main" val="5213494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22">
            <a:extLst xmlns:a="http://schemas.openxmlformats.org/drawingml/2006/main">
              <a:ext uri="{FF2B5EF4-FFF2-40B4-BE49-F238E27FC236}">
                <a16:creationId xmlns:a16="http://schemas.microsoft.com/office/drawing/2014/main" id="{D041ADEB-F1F2-408A-BE09-A1B7409D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523">
            <a:extLst xmlns:a="http://schemas.openxmlformats.org/drawingml/2006/main">
              <a:ext uri="{FF2B5EF4-FFF2-40B4-BE49-F238E27FC236}">
                <a16:creationId xmlns:a16="http://schemas.microsoft.com/office/drawing/2014/main" id="{45B955DF-DD89-4BE4-8614-01E6237F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S4 约束与比较</a:t>
            </a:r>
          </a:p>
        </p:txBody>
      </p:sp>
      <p:sp>
        <p:nvSpPr>
          <p:cNvPr id="3" name="claim-524">
            <a:extLst xmlns:a="http://schemas.openxmlformats.org/drawingml/2006/main">
              <a:ext uri="{FF2B5EF4-FFF2-40B4-BE49-F238E27FC236}">
                <a16:creationId xmlns:a16="http://schemas.microsoft.com/office/drawing/2014/main" id="{CB926F30-F0BD-424D-95AB-2CFCBF78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先筛可行，再讨论优劣</a:t>
            </a:r>
          </a:p>
        </p:txBody>
      </p:sp>
      <p:sp>
        <p:nvSpPr>
          <p:cNvPr id="4" name="box-525">
            <a:extLst xmlns:a="http://schemas.openxmlformats.org/drawingml/2006/main">
              <a:ext uri="{FF2B5EF4-FFF2-40B4-BE49-F238E27FC236}">
                <a16:creationId xmlns:a16="http://schemas.microsoft.com/office/drawing/2014/main" id="{2981B23D-2F9E-4F09-AE48-FA7FD6AC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26">
            <a:extLst xmlns:a="http://schemas.openxmlformats.org/drawingml/2006/main">
              <a:ext uri="{FF2B5EF4-FFF2-40B4-BE49-F238E27FC236}">
                <a16:creationId xmlns:a16="http://schemas.microsoft.com/office/drawing/2014/main" id="{245192D6-A76E-4194-8153-9AF76CA8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27">
            <a:extLst xmlns:a="http://schemas.openxmlformats.org/drawingml/2006/main">
              <a:ext uri="{FF2B5EF4-FFF2-40B4-BE49-F238E27FC236}">
                <a16:creationId xmlns:a16="http://schemas.microsoft.com/office/drawing/2014/main" id="{B79189E8-985F-451C-98A2-04351791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28">
            <a:extLst xmlns:a="http://schemas.openxmlformats.org/drawingml/2006/main">
              <a:ext uri="{FF2B5EF4-FFF2-40B4-BE49-F238E27FC236}">
                <a16:creationId xmlns:a16="http://schemas.microsoft.com/office/drawing/2014/main" id="{B7A25276-0B4F-4672-B235-F0B6E6E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34 / 91</a:t>
            </a:r>
          </a:p>
        </p:txBody>
      </p:sp>
      <p:sp>
        <p:nvSpPr>
          <p:cNvPr id="8" name="subhead-529">
            <a:extLst xmlns:a="http://schemas.openxmlformats.org/drawingml/2006/main">
              <a:ext uri="{FF2B5EF4-FFF2-40B4-BE49-F238E27FC236}">
                <a16:creationId xmlns:a16="http://schemas.microsoft.com/office/drawing/2014/main" id="{94F70635-5D45-4666-B6A3-4D1AE34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530">
            <a:extLst xmlns:a="http://schemas.openxmlformats.org/drawingml/2006/main">
              <a:ext uri="{FF2B5EF4-FFF2-40B4-BE49-F238E27FC236}">
                <a16:creationId xmlns:a16="http://schemas.microsoft.com/office/drawing/2014/main" id="{9758EB99-CF43-4B37-B39B-57AD252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输入：方案需求、整体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资源、已承诺事项与偏好。</a:t>
            </a:r>
          </a:p>
        </p:txBody>
      </p:sp>
      <p:sp>
        <p:nvSpPr>
          <p:cNvPr id="10" name="subhead-531">
            <a:extLst xmlns:a="http://schemas.openxmlformats.org/drawingml/2006/main">
              <a:ext uri="{FF2B5EF4-FFF2-40B4-BE49-F238E27FC236}">
                <a16:creationId xmlns:a16="http://schemas.microsoft.com/office/drawing/2014/main" id="{344E0184-8BDD-4A58-AE8E-CBA17BF3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532">
            <a:extLst xmlns:a="http://schemas.openxmlformats.org/drawingml/2006/main">
              <a:ext uri="{FF2B5EF4-FFF2-40B4-BE49-F238E27FC236}">
                <a16:creationId xmlns:a16="http://schemas.microsoft.com/office/drawing/2014/main" id="{048AE24C-0691-4053-B682-20343A06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方法：检查硬约束，再比较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收益、成本、风险与可逆性。</a:t>
            </a:r>
          </a:p>
        </p:txBody>
      </p:sp>
      <p:sp>
        <p:nvSpPr>
          <p:cNvPr id="12" name="subhead-533">
            <a:extLst xmlns:a="http://schemas.openxmlformats.org/drawingml/2006/main">
              <a:ext uri="{FF2B5EF4-FFF2-40B4-BE49-F238E27FC236}">
                <a16:creationId xmlns:a16="http://schemas.microsoft.com/office/drawing/2014/main" id="{350BFF72-EBDB-4398-9D29-06C9B109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534">
            <a:extLst xmlns:a="http://schemas.openxmlformats.org/drawingml/2006/main">
              <a:ext uri="{FF2B5EF4-FFF2-40B4-BE49-F238E27FC236}">
                <a16:creationId xmlns:a16="http://schemas.microsoft.com/office/drawing/2014/main" id="{5497A059-727C-4985-83BF-C41FE4CD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产物：可行组合、同口径比较与反转条件。</a:t>
            </a:r>
          </a:p>
        </p:txBody>
      </p:sp>
      <p:sp>
        <p:nvSpPr>
          <p:cNvPr id="14" name="subhead-535">
            <a:extLst xmlns:a="http://schemas.openxmlformats.org/drawingml/2006/main">
              <a:ext uri="{FF2B5EF4-FFF2-40B4-BE49-F238E27FC236}">
                <a16:creationId xmlns:a16="http://schemas.microsoft.com/office/drawing/2014/main" id="{2B4B6714-41F2-481E-A62F-D18E3A1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536">
            <a:extLst xmlns:a="http://schemas.openxmlformats.org/drawingml/2006/main">
              <a:ext uri="{FF2B5EF4-FFF2-40B4-BE49-F238E27FC236}">
                <a16:creationId xmlns:a16="http://schemas.microsoft.com/office/drawing/2014/main" id="{B8863E3A-F8F0-4738-9AB2-B4B42E6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回退：无可行方案则重设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方案；不能靠高分抵消底线。</a:t>
            </a:r>
          </a:p>
        </p:txBody>
      </p:sp>
      <p:sp>
        <p:nvSpPr>
          <p:cNvPr id="16" name="box-537">
            <a:extLst xmlns:a="http://schemas.openxmlformats.org/drawingml/2006/main">
              <a:ext uri="{FF2B5EF4-FFF2-40B4-BE49-F238E27FC236}">
                <a16:creationId xmlns:a16="http://schemas.microsoft.com/office/drawing/2014/main" id="{21E6D72E-AA59-477C-9063-630B4881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538">
            <a:extLst xmlns:a="http://schemas.openxmlformats.org/drawingml/2006/main">
              <a:ext uri="{FF2B5EF4-FFF2-40B4-BE49-F238E27FC236}">
                <a16:creationId xmlns:a16="http://schemas.microsoft.com/office/drawing/2014/main" id="{FD9CA786-457C-4E5E-A6B3-5903738F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调用知识：数学、统计、决策、运筹、经济、博弈；按需财务法律健康</a:t>
            </a:r>
          </a:p>
        </p:txBody>
      </p:sp>
    </p:spTree>
    <p:extLst>
      <p:ext uri="{BB962C8B-B14F-4D97-AF65-F5344CB8AC3E}">
        <p14:creationId xmlns:p14="http://schemas.microsoft.com/office/powerpoint/2010/main" val="3361077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39">
            <a:extLst xmlns:a="http://schemas.openxmlformats.org/drawingml/2006/main">
              <a:ext uri="{FF2B5EF4-FFF2-40B4-BE49-F238E27FC236}">
                <a16:creationId xmlns:a16="http://schemas.microsoft.com/office/drawing/2014/main" id="{D55924E5-91BC-46A6-AEA5-21D44960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540">
            <a:extLst xmlns:a="http://schemas.openxmlformats.org/drawingml/2006/main">
              <a:ext uri="{FF2B5EF4-FFF2-40B4-BE49-F238E27FC236}">
                <a16:creationId xmlns:a16="http://schemas.microsoft.com/office/drawing/2014/main" id="{B173A1F5-06BB-48D0-823A-530DC592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S5 反驳与复核</a:t>
            </a:r>
          </a:p>
        </p:txBody>
      </p:sp>
      <p:sp>
        <p:nvSpPr>
          <p:cNvPr id="3" name="claim-541">
            <a:extLst xmlns:a="http://schemas.openxmlformats.org/drawingml/2006/main">
              <a:ext uri="{FF2B5EF4-FFF2-40B4-BE49-F238E27FC236}">
                <a16:creationId xmlns:a16="http://schemas.microsoft.com/office/drawing/2014/main" id="{616B32F8-E727-4389-B891-23799A3E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主动寻找建议可能错在哪里</a:t>
            </a:r>
          </a:p>
        </p:txBody>
      </p:sp>
      <p:sp>
        <p:nvSpPr>
          <p:cNvPr id="4" name="box-542">
            <a:extLst xmlns:a="http://schemas.openxmlformats.org/drawingml/2006/main">
              <a:ext uri="{FF2B5EF4-FFF2-40B4-BE49-F238E27FC236}">
                <a16:creationId xmlns:a16="http://schemas.microsoft.com/office/drawing/2014/main" id="{3D9E5E73-3B8D-4D48-86BD-E50935A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43">
            <a:extLst xmlns:a="http://schemas.openxmlformats.org/drawingml/2006/main">
              <a:ext uri="{FF2B5EF4-FFF2-40B4-BE49-F238E27FC236}">
                <a16:creationId xmlns:a16="http://schemas.microsoft.com/office/drawing/2014/main" id="{3D1930AF-DD96-4FDC-B1EA-8BB3E4E7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44">
            <a:extLst xmlns:a="http://schemas.openxmlformats.org/drawingml/2006/main">
              <a:ext uri="{FF2B5EF4-FFF2-40B4-BE49-F238E27FC236}">
                <a16:creationId xmlns:a16="http://schemas.microsoft.com/office/drawing/2014/main" id="{8609C8E4-73DE-4D39-A1AC-E0EB975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45">
            <a:extLst xmlns:a="http://schemas.openxmlformats.org/drawingml/2006/main">
              <a:ext uri="{FF2B5EF4-FFF2-40B4-BE49-F238E27FC236}">
                <a16:creationId xmlns:a16="http://schemas.microsoft.com/office/drawing/2014/main" id="{34F7FF9A-7D47-4D57-A6D1-2C41592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35 / 91</a:t>
            </a:r>
          </a:p>
        </p:txBody>
      </p:sp>
      <p:sp>
        <p:nvSpPr>
          <p:cNvPr id="8" name="subhead-546">
            <a:extLst xmlns:a="http://schemas.openxmlformats.org/drawingml/2006/main">
              <a:ext uri="{FF2B5EF4-FFF2-40B4-BE49-F238E27FC236}">
                <a16:creationId xmlns:a16="http://schemas.microsoft.com/office/drawing/2014/main" id="{3651C5B9-4195-449B-8079-0EBB7EB3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547">
            <a:extLst xmlns:a="http://schemas.openxmlformats.org/drawingml/2006/main">
              <a:ext uri="{FF2B5EF4-FFF2-40B4-BE49-F238E27FC236}">
                <a16:creationId xmlns:a16="http://schemas.microsoft.com/office/drawing/2014/main" id="{1C922AE7-0481-4C43-AD01-B752CF0C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输入：当前版本证据、比较和拟推荐方案。</a:t>
            </a:r>
          </a:p>
        </p:txBody>
      </p:sp>
      <p:sp>
        <p:nvSpPr>
          <p:cNvPr id="10" name="subhead-548">
            <a:extLst xmlns:a="http://schemas.openxmlformats.org/drawingml/2006/main">
              <a:ext uri="{FF2B5EF4-FFF2-40B4-BE49-F238E27FC236}">
                <a16:creationId xmlns:a16="http://schemas.microsoft.com/office/drawing/2014/main" id="{8C91F421-3EE2-4E7E-9A67-9A4A093E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0613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549">
            <a:extLst xmlns:a="http://schemas.openxmlformats.org/drawingml/2006/main">
              <a:ext uri="{FF2B5EF4-FFF2-40B4-BE49-F238E27FC236}">
                <a16:creationId xmlns:a16="http://schemas.microsoft.com/office/drawing/2014/main" id="{BA1412ED-D32A-4838-AE30-137965E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2865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方法：找最强反例，检查计算、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替代解释与跨领域损害。</a:t>
            </a:r>
          </a:p>
        </p:txBody>
      </p:sp>
      <p:sp>
        <p:nvSpPr>
          <p:cNvPr id="12" name="subhead-550">
            <a:extLst xmlns:a="http://schemas.openxmlformats.org/drawingml/2006/main">
              <a:ext uri="{FF2B5EF4-FFF2-40B4-BE49-F238E27FC236}">
                <a16:creationId xmlns:a16="http://schemas.microsoft.com/office/drawing/2014/main" id="{5109B20B-F013-43DB-B2E6-61C5FAF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551">
            <a:extLst xmlns:a="http://schemas.openxmlformats.org/drawingml/2006/main">
              <a:ext uri="{FF2B5EF4-FFF2-40B4-BE49-F238E27FC236}">
                <a16:creationId xmlns:a16="http://schemas.microsoft.com/office/drawing/2014/main" id="{CA4ED0D5-26D1-4433-AC6C-450F9EB2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产物：复核意见、问题清单及处理状态。</a:t>
            </a:r>
          </a:p>
        </p:txBody>
      </p:sp>
      <p:sp>
        <p:nvSpPr>
          <p:cNvPr id="14" name="subhead-552">
            <a:extLst xmlns:a="http://schemas.openxmlformats.org/drawingml/2006/main">
              <a:ext uri="{FF2B5EF4-FFF2-40B4-BE49-F238E27FC236}">
                <a16:creationId xmlns:a16="http://schemas.microsoft.com/office/drawing/2014/main" id="{1D83C51E-7B17-4EAF-BF09-F2D1BFF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553">
            <a:extLst xmlns:a="http://schemas.openxmlformats.org/drawingml/2006/main">
              <a:ext uri="{FF2B5EF4-FFF2-40B4-BE49-F238E27FC236}">
                <a16:creationId xmlns:a16="http://schemas.microsoft.com/office/drawing/2014/main" id="{27F3DD39-0625-470B-B709-3E73C04B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回退：按缺口返回相关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阶段，只重做受影响部分。</a:t>
            </a:r>
          </a:p>
        </p:txBody>
      </p:sp>
      <p:sp>
        <p:nvSpPr>
          <p:cNvPr id="16" name="box-554">
            <a:extLst xmlns:a="http://schemas.openxmlformats.org/drawingml/2006/main">
              <a:ext uri="{FF2B5EF4-FFF2-40B4-BE49-F238E27FC236}">
                <a16:creationId xmlns:a16="http://schemas.microsoft.com/office/drawing/2014/main" id="{352BDB44-2646-4647-A4FA-71D40337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555">
            <a:extLst xmlns:a="http://schemas.openxmlformats.org/drawingml/2006/main">
              <a:ext uri="{FF2B5EF4-FFF2-40B4-BE49-F238E27FC236}">
                <a16:creationId xmlns:a16="http://schemas.microsoft.com/office/drawing/2014/main" id="{E8A68EF4-141C-4930-85A3-6F61EE10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调用知识：逻辑、科学方法、统计、因果、心理、系统与领域知识</a:t>
            </a:r>
          </a:p>
        </p:txBody>
      </p:sp>
    </p:spTree>
    <p:extLst>
      <p:ext uri="{BB962C8B-B14F-4D97-AF65-F5344CB8AC3E}">
        <p14:creationId xmlns:p14="http://schemas.microsoft.com/office/powerpoint/2010/main" val="8908419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56">
            <a:extLst xmlns:a="http://schemas.openxmlformats.org/drawingml/2006/main">
              <a:ext uri="{FF2B5EF4-FFF2-40B4-BE49-F238E27FC236}">
                <a16:creationId xmlns:a16="http://schemas.microsoft.com/office/drawing/2014/main" id="{DBC45A0C-02DE-4756-B9FC-18ECDE8B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557">
            <a:extLst xmlns:a="http://schemas.openxmlformats.org/drawingml/2006/main">
              <a:ext uri="{FF2B5EF4-FFF2-40B4-BE49-F238E27FC236}">
                <a16:creationId xmlns:a16="http://schemas.microsoft.com/office/drawing/2014/main" id="{B74B2E49-A11E-459F-A4C6-374E548B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S6 建议与取舍</a:t>
            </a:r>
          </a:p>
        </p:txBody>
      </p:sp>
      <p:sp>
        <p:nvSpPr>
          <p:cNvPr id="3" name="claim-558">
            <a:extLst xmlns:a="http://schemas.openxmlformats.org/drawingml/2006/main">
              <a:ext uri="{FF2B5EF4-FFF2-40B4-BE49-F238E27FC236}">
                <a16:creationId xmlns:a16="http://schemas.microsoft.com/office/drawing/2014/main" id="{935DAB0E-9963-4D6E-B189-126F8C35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讲清依据和必须承担的代价</a:t>
            </a:r>
          </a:p>
        </p:txBody>
      </p:sp>
      <p:sp>
        <p:nvSpPr>
          <p:cNvPr id="4" name="box-559">
            <a:extLst xmlns:a="http://schemas.openxmlformats.org/drawingml/2006/main">
              <a:ext uri="{FF2B5EF4-FFF2-40B4-BE49-F238E27FC236}">
                <a16:creationId xmlns:a16="http://schemas.microsoft.com/office/drawing/2014/main" id="{39222371-1794-4074-8D3F-BE60352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60">
            <a:extLst xmlns:a="http://schemas.openxmlformats.org/drawingml/2006/main">
              <a:ext uri="{FF2B5EF4-FFF2-40B4-BE49-F238E27FC236}">
                <a16:creationId xmlns:a16="http://schemas.microsoft.com/office/drawing/2014/main" id="{9A425819-2858-4ED2-936D-EEC03C9C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61">
            <a:extLst xmlns:a="http://schemas.openxmlformats.org/drawingml/2006/main">
              <a:ext uri="{FF2B5EF4-FFF2-40B4-BE49-F238E27FC236}">
                <a16:creationId xmlns:a16="http://schemas.microsoft.com/office/drawing/2014/main" id="{13C83634-0428-48C6-910F-AC17C5D6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62">
            <a:extLst xmlns:a="http://schemas.openxmlformats.org/drawingml/2006/main">
              <a:ext uri="{FF2B5EF4-FFF2-40B4-BE49-F238E27FC236}">
                <a16:creationId xmlns:a16="http://schemas.microsoft.com/office/drawing/2014/main" id="{5DFCF5EB-3EF7-4A36-BB71-E46D553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36 / 91</a:t>
            </a:r>
          </a:p>
        </p:txBody>
      </p:sp>
      <p:sp>
        <p:nvSpPr>
          <p:cNvPr id="8" name="subhead-563">
            <a:extLst xmlns:a="http://schemas.openxmlformats.org/drawingml/2006/main">
              <a:ext uri="{FF2B5EF4-FFF2-40B4-BE49-F238E27FC236}">
                <a16:creationId xmlns:a16="http://schemas.microsoft.com/office/drawing/2014/main" id="{3125E10A-DEB4-44D6-8098-77C67ACF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564">
            <a:extLst xmlns:a="http://schemas.openxmlformats.org/drawingml/2006/main">
              <a:ext uri="{FF2B5EF4-FFF2-40B4-BE49-F238E27FC236}">
                <a16:creationId xmlns:a16="http://schemas.microsoft.com/office/drawing/2014/main" id="{11D591A8-B660-46D6-9CBC-4CED249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输入：已比较方案、复核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结果与尚存不确定性。</a:t>
            </a:r>
          </a:p>
        </p:txBody>
      </p:sp>
      <p:sp>
        <p:nvSpPr>
          <p:cNvPr id="10" name="subhead-565">
            <a:extLst xmlns:a="http://schemas.openxmlformats.org/drawingml/2006/main">
              <a:ext uri="{FF2B5EF4-FFF2-40B4-BE49-F238E27FC236}">
                <a16:creationId xmlns:a16="http://schemas.microsoft.com/office/drawing/2014/main" id="{D623EF10-57DA-4AA5-BA82-05E4DDA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566">
            <a:extLst xmlns:a="http://schemas.openxmlformats.org/drawingml/2006/main">
              <a:ext uri="{FF2B5EF4-FFF2-40B4-BE49-F238E27FC236}">
                <a16:creationId xmlns:a16="http://schemas.microsoft.com/office/drawing/2014/main" id="{EF296621-052F-440D-B2A7-EF5108C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方法：说明成立条件、真实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取舍、最大未知与退出方式。</a:t>
            </a:r>
          </a:p>
        </p:txBody>
      </p:sp>
      <p:sp>
        <p:nvSpPr>
          <p:cNvPr id="12" name="subhead-567">
            <a:extLst xmlns:a="http://schemas.openxmlformats.org/drawingml/2006/main">
              <a:ext uri="{FF2B5EF4-FFF2-40B4-BE49-F238E27FC236}">
                <a16:creationId xmlns:a16="http://schemas.microsoft.com/office/drawing/2014/main" id="{753941F0-E35D-4FF6-A0D1-02AE2248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568">
            <a:extLst xmlns:a="http://schemas.openxmlformats.org/drawingml/2006/main">
              <a:ext uri="{FF2B5EF4-FFF2-40B4-BE49-F238E27FC236}">
                <a16:creationId xmlns:a16="http://schemas.microsoft.com/office/drawing/2014/main" id="{F6B4C359-FC88-4673-9D0D-4C973ED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产物：条件建议或可供选择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方案，独立记录用户选择。</a:t>
            </a:r>
          </a:p>
        </p:txBody>
      </p:sp>
      <p:sp>
        <p:nvSpPr>
          <p:cNvPr id="14" name="subhead-569">
            <a:extLst xmlns:a="http://schemas.openxmlformats.org/drawingml/2006/main">
              <a:ext uri="{FF2B5EF4-FFF2-40B4-BE49-F238E27FC236}">
                <a16:creationId xmlns:a16="http://schemas.microsoft.com/office/drawing/2014/main" id="{400858B3-D2D1-4C00-A3C1-DE79B67C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570">
            <a:extLst xmlns:a="http://schemas.openxmlformats.org/drawingml/2006/main">
              <a:ext uri="{FF2B5EF4-FFF2-40B4-BE49-F238E27FC236}">
                <a16:creationId xmlns:a16="http://schemas.microsoft.com/office/drawing/2014/main" id="{0F083CAC-9CA2-4B65-B2B1-8C787B1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回退：偏好未定时可保留多个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方案，不虚构唯一第一。</a:t>
            </a:r>
          </a:p>
        </p:txBody>
      </p:sp>
      <p:sp>
        <p:nvSpPr>
          <p:cNvPr id="16" name="box-571">
            <a:extLst xmlns:a="http://schemas.openxmlformats.org/drawingml/2006/main">
              <a:ext uri="{FF2B5EF4-FFF2-40B4-BE49-F238E27FC236}">
                <a16:creationId xmlns:a16="http://schemas.microsoft.com/office/drawing/2014/main" id="{135F4D17-D29F-4FDC-8BED-A4F99E5F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572">
            <a:extLst xmlns:a="http://schemas.openxmlformats.org/drawingml/2006/main">
              <a:ext uri="{FF2B5EF4-FFF2-40B4-BE49-F238E27FC236}">
                <a16:creationId xmlns:a16="http://schemas.microsoft.com/office/drawing/2014/main" id="{FD5F3F49-92AB-4A55-B9B9-B5B93CA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调用知识：决策、伦理、心理、表达沟通；按需谈判与博弈</a:t>
            </a:r>
          </a:p>
        </p:txBody>
      </p:sp>
    </p:spTree>
    <p:extLst>
      <p:ext uri="{BB962C8B-B14F-4D97-AF65-F5344CB8AC3E}">
        <p14:creationId xmlns:p14="http://schemas.microsoft.com/office/powerpoint/2010/main" val="9831603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73">
            <a:extLst xmlns:a="http://schemas.openxmlformats.org/drawingml/2006/main">
              <a:ext uri="{FF2B5EF4-FFF2-40B4-BE49-F238E27FC236}">
                <a16:creationId xmlns:a16="http://schemas.microsoft.com/office/drawing/2014/main" id="{46415DA9-3AF7-42EA-9057-97DD0BC9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574">
            <a:extLst xmlns:a="http://schemas.openxmlformats.org/drawingml/2006/main">
              <a:ext uri="{FF2B5EF4-FFF2-40B4-BE49-F238E27FC236}">
                <a16:creationId xmlns:a16="http://schemas.microsoft.com/office/drawing/2014/main" id="{5AE337E4-28AA-418F-8E3F-7990B78C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S7 授权执行</a:t>
            </a:r>
          </a:p>
        </p:txBody>
      </p:sp>
      <p:sp>
        <p:nvSpPr>
          <p:cNvPr id="3" name="claim-575">
            <a:extLst xmlns:a="http://schemas.openxmlformats.org/drawingml/2006/main">
              <a:ext uri="{FF2B5EF4-FFF2-40B4-BE49-F238E27FC236}">
                <a16:creationId xmlns:a16="http://schemas.microsoft.com/office/drawing/2014/main" id="{5AEB97D0-C014-4BC6-93C8-715BF6E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把真实选择变成可验收行动</a:t>
            </a:r>
          </a:p>
        </p:txBody>
      </p:sp>
      <p:sp>
        <p:nvSpPr>
          <p:cNvPr id="4" name="box-576">
            <a:extLst xmlns:a="http://schemas.openxmlformats.org/drawingml/2006/main">
              <a:ext uri="{FF2B5EF4-FFF2-40B4-BE49-F238E27FC236}">
                <a16:creationId xmlns:a16="http://schemas.microsoft.com/office/drawing/2014/main" id="{16891C8F-A7AE-4E8F-AE30-1CF910A0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77">
            <a:extLst xmlns:a="http://schemas.openxmlformats.org/drawingml/2006/main">
              <a:ext uri="{FF2B5EF4-FFF2-40B4-BE49-F238E27FC236}">
                <a16:creationId xmlns:a16="http://schemas.microsoft.com/office/drawing/2014/main" id="{B36B952A-8DB3-458F-A213-C441E696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78">
            <a:extLst xmlns:a="http://schemas.openxmlformats.org/drawingml/2006/main">
              <a:ext uri="{FF2B5EF4-FFF2-40B4-BE49-F238E27FC236}">
                <a16:creationId xmlns:a16="http://schemas.microsoft.com/office/drawing/2014/main" id="{BE363540-8D31-45F7-9000-5845D46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79">
            <a:extLst xmlns:a="http://schemas.openxmlformats.org/drawingml/2006/main">
              <a:ext uri="{FF2B5EF4-FFF2-40B4-BE49-F238E27FC236}">
                <a16:creationId xmlns:a16="http://schemas.microsoft.com/office/drawing/2014/main" id="{9716F924-B27B-41F1-8DB0-653189B9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37 / 91</a:t>
            </a:r>
          </a:p>
        </p:txBody>
      </p:sp>
      <p:sp>
        <p:nvSpPr>
          <p:cNvPr id="8" name="subhead-580">
            <a:extLst xmlns:a="http://schemas.openxmlformats.org/drawingml/2006/main">
              <a:ext uri="{FF2B5EF4-FFF2-40B4-BE49-F238E27FC236}">
                <a16:creationId xmlns:a16="http://schemas.microsoft.com/office/drawing/2014/main" id="{DF421577-DFD8-4AB5-95BE-3E2F302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581">
            <a:extLst xmlns:a="http://schemas.openxmlformats.org/drawingml/2006/main">
              <a:ext uri="{FF2B5EF4-FFF2-40B4-BE49-F238E27FC236}">
                <a16:creationId xmlns:a16="http://schemas.microsoft.com/office/drawing/2014/main" id="{A73E0C74-77FC-42A0-BD35-EEF1AEE6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输入：具体方案、实际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选择、已有授权与依赖。</a:t>
            </a:r>
          </a:p>
        </p:txBody>
      </p:sp>
      <p:sp>
        <p:nvSpPr>
          <p:cNvPr id="10" name="subhead-582">
            <a:extLst xmlns:a="http://schemas.openxmlformats.org/drawingml/2006/main">
              <a:ext uri="{FF2B5EF4-FFF2-40B4-BE49-F238E27FC236}">
                <a16:creationId xmlns:a16="http://schemas.microsoft.com/office/drawing/2014/main" id="{BDDB8FE0-E2AF-4E7A-BD09-2CB44BF5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583">
            <a:extLst xmlns:a="http://schemas.openxmlformats.org/drawingml/2006/main">
              <a:ext uri="{FF2B5EF4-FFF2-40B4-BE49-F238E27FC236}">
                <a16:creationId xmlns:a16="http://schemas.microsoft.com/office/drawing/2014/main" id="{09922F32-41D8-4D33-86A7-EF1CD731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方法：安排责任、期限、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资源上限、验收与停止条件。</a:t>
            </a:r>
          </a:p>
        </p:txBody>
      </p:sp>
      <p:sp>
        <p:nvSpPr>
          <p:cNvPr id="12" name="subhead-584">
            <a:extLst xmlns:a="http://schemas.openxmlformats.org/drawingml/2006/main">
              <a:ext uri="{FF2B5EF4-FFF2-40B4-BE49-F238E27FC236}">
                <a16:creationId xmlns:a16="http://schemas.microsoft.com/office/drawing/2014/main" id="{D5561ECE-F7D8-44A8-8982-1DB3AF0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585">
            <a:extLst xmlns:a="http://schemas.openxmlformats.org/drawingml/2006/main">
              <a:ext uri="{FF2B5EF4-FFF2-40B4-BE49-F238E27FC236}">
                <a16:creationId xmlns:a16="http://schemas.microsoft.com/office/drawing/2014/main" id="{906AE8DF-3F68-4B6E-B276-230B32B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产物：唯一行动ID、任务清单及实际执行记录。</a:t>
            </a:r>
          </a:p>
        </p:txBody>
      </p:sp>
      <p:sp>
        <p:nvSpPr>
          <p:cNvPr id="14" name="subhead-586">
            <a:extLst xmlns:a="http://schemas.openxmlformats.org/drawingml/2006/main">
              <a:ext uri="{FF2B5EF4-FFF2-40B4-BE49-F238E27FC236}">
                <a16:creationId xmlns:a16="http://schemas.microsoft.com/office/drawing/2014/main" id="{47D34E5E-F5CE-4BEB-8AF9-D2DB050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587">
            <a:extLst xmlns:a="http://schemas.openxmlformats.org/drawingml/2006/main">
              <a:ext uri="{FF2B5EF4-FFF2-40B4-BE49-F238E27FC236}">
                <a16:creationId xmlns:a16="http://schemas.microsoft.com/office/drawing/2014/main" id="{4294196C-18F4-461C-A558-B41D9EC3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回退：条件未具备时保留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草案；已授权可逆工作继续。</a:t>
            </a:r>
          </a:p>
        </p:txBody>
      </p:sp>
      <p:sp>
        <p:nvSpPr>
          <p:cNvPr id="16" name="box-588">
            <a:extLst xmlns:a="http://schemas.openxmlformats.org/drawingml/2006/main">
              <a:ext uri="{FF2B5EF4-FFF2-40B4-BE49-F238E27FC236}">
                <a16:creationId xmlns:a16="http://schemas.microsoft.com/office/drawing/2014/main" id="{8DEB5A8B-5330-4DD9-B72A-71E15F2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589">
            <a:extLst xmlns:a="http://schemas.openxmlformats.org/drawingml/2006/main">
              <a:ext uri="{FF2B5EF4-FFF2-40B4-BE49-F238E27FC236}">
                <a16:creationId xmlns:a16="http://schemas.microsoft.com/office/drawing/2014/main" id="{21193A35-4BD3-4CCB-939D-00E91EF6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调用知识：管理、项目管理、运筹、组织、沟通、行为科学与自动化</a:t>
            </a:r>
          </a:p>
        </p:txBody>
      </p:sp>
    </p:spTree>
    <p:extLst>
      <p:ext uri="{BB962C8B-B14F-4D97-AF65-F5344CB8AC3E}">
        <p14:creationId xmlns:p14="http://schemas.microsoft.com/office/powerpoint/2010/main" val="5254950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90">
            <a:extLst xmlns:a="http://schemas.openxmlformats.org/drawingml/2006/main">
              <a:ext uri="{FF2B5EF4-FFF2-40B4-BE49-F238E27FC236}">
                <a16:creationId xmlns:a16="http://schemas.microsoft.com/office/drawing/2014/main" id="{2C3CF5F1-6692-4EAA-BCB3-93BA899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591">
            <a:extLst xmlns:a="http://schemas.openxmlformats.org/drawingml/2006/main">
              <a:ext uri="{FF2B5EF4-FFF2-40B4-BE49-F238E27FC236}">
                <a16:creationId xmlns:a16="http://schemas.microsoft.com/office/drawing/2014/main" id="{9712B10D-EDEB-4C43-86F5-62A76DE1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S8 反馈更新</a:t>
            </a:r>
          </a:p>
        </p:txBody>
      </p:sp>
      <p:sp>
        <p:nvSpPr>
          <p:cNvPr id="3" name="claim-592">
            <a:extLst xmlns:a="http://schemas.openxmlformats.org/drawingml/2006/main">
              <a:ext uri="{FF2B5EF4-FFF2-40B4-BE49-F238E27FC236}">
                <a16:creationId xmlns:a16="http://schemas.microsoft.com/office/drawing/2014/main" id="{BB09A6C0-ACF5-41F7-96B7-DEADA16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保留原预测，用新结果修正</a:t>
            </a:r>
          </a:p>
        </p:txBody>
      </p:sp>
      <p:sp>
        <p:nvSpPr>
          <p:cNvPr id="4" name="box-593">
            <a:extLst xmlns:a="http://schemas.openxmlformats.org/drawingml/2006/main">
              <a:ext uri="{FF2B5EF4-FFF2-40B4-BE49-F238E27FC236}">
                <a16:creationId xmlns:a16="http://schemas.microsoft.com/office/drawing/2014/main" id="{A737A613-B0EC-4105-872D-EE57CCC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594">
            <a:extLst xmlns:a="http://schemas.openxmlformats.org/drawingml/2006/main">
              <a:ext uri="{FF2B5EF4-FFF2-40B4-BE49-F238E27FC236}">
                <a16:creationId xmlns:a16="http://schemas.microsoft.com/office/drawing/2014/main" id="{216929BE-06AC-4C22-BB3C-CEEFB34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595">
            <a:extLst xmlns:a="http://schemas.openxmlformats.org/drawingml/2006/main">
              <a:ext uri="{FF2B5EF4-FFF2-40B4-BE49-F238E27FC236}">
                <a16:creationId xmlns:a16="http://schemas.microsoft.com/office/drawing/2014/main" id="{5BD801F4-985A-43C2-83F9-A319297F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596">
            <a:extLst xmlns:a="http://schemas.openxmlformats.org/drawingml/2006/main">
              <a:ext uri="{FF2B5EF4-FFF2-40B4-BE49-F238E27FC236}">
                <a16:creationId xmlns:a16="http://schemas.microsoft.com/office/drawing/2014/main" id="{B7B31E99-2274-4BE1-8FD0-5C71242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38 / 91</a:t>
            </a:r>
          </a:p>
        </p:txBody>
      </p:sp>
      <p:sp>
        <p:nvSpPr>
          <p:cNvPr id="8" name="subhead-597">
            <a:extLst xmlns:a="http://schemas.openxmlformats.org/drawingml/2006/main">
              <a:ext uri="{FF2B5EF4-FFF2-40B4-BE49-F238E27FC236}">
                <a16:creationId xmlns:a16="http://schemas.microsoft.com/office/drawing/2014/main" id="{0883C464-FF90-433B-BCC8-55CA070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输入与处理</a:t>
            </a:r>
          </a:p>
        </p:txBody>
      </p:sp>
      <p:sp>
        <p:nvSpPr>
          <p:cNvPr id="9" name="text-598">
            <a:extLst xmlns:a="http://schemas.openxmlformats.org/drawingml/2006/main">
              <a:ext uri="{FF2B5EF4-FFF2-40B4-BE49-F238E27FC236}">
                <a16:creationId xmlns:a16="http://schemas.microsoft.com/office/drawing/2014/main" id="{0C3FCEE5-63FE-4E12-A51D-371B701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输入：原预期、实际执行、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成熟结果与环境变化。</a:t>
            </a:r>
          </a:p>
        </p:txBody>
      </p:sp>
      <p:sp>
        <p:nvSpPr>
          <p:cNvPr id="10" name="subhead-599">
            <a:extLst xmlns:a="http://schemas.openxmlformats.org/drawingml/2006/main">
              <a:ext uri="{FF2B5EF4-FFF2-40B4-BE49-F238E27FC236}">
                <a16:creationId xmlns:a16="http://schemas.microsoft.com/office/drawing/2014/main" id="{7E80C0A8-78F6-45F0-931C-11330C63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采取的方法</a:t>
            </a:r>
          </a:p>
        </p:txBody>
      </p:sp>
      <p:sp>
        <p:nvSpPr>
          <p:cNvPr id="11" name="text-600">
            <a:extLst xmlns:a="http://schemas.openxmlformats.org/drawingml/2006/main">
              <a:ext uri="{FF2B5EF4-FFF2-40B4-BE49-F238E27FC236}">
                <a16:creationId xmlns:a16="http://schemas.microsoft.com/office/drawing/2014/main" id="{BE4CD78F-54D2-4447-81E8-8FE927C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方法：区分测量、执行、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机制假设、环境与偶然因素。</a:t>
            </a:r>
          </a:p>
        </p:txBody>
      </p:sp>
      <p:sp>
        <p:nvSpPr>
          <p:cNvPr id="12" name="subhead-601">
            <a:extLst xmlns:a="http://schemas.openxmlformats.org/drawingml/2006/main">
              <a:ext uri="{FF2B5EF4-FFF2-40B4-BE49-F238E27FC236}">
                <a16:creationId xmlns:a16="http://schemas.microsoft.com/office/drawing/2014/main" id="{9FFB258A-E7FB-4174-A707-3AF0A92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必要产物</a:t>
            </a:r>
          </a:p>
        </p:txBody>
      </p:sp>
      <p:sp>
        <p:nvSpPr>
          <p:cNvPr id="13" name="text-602">
            <a:extLst xmlns:a="http://schemas.openxmlformats.org/drawingml/2006/main">
              <a:ext uri="{FF2B5EF4-FFF2-40B4-BE49-F238E27FC236}">
                <a16:creationId xmlns:a16="http://schemas.microsoft.com/office/drawing/2014/main" id="{E80B63FF-078E-4A88-AD49-740027C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产物：差异解释、新版本、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继续或调整的下一步。</a:t>
            </a:r>
          </a:p>
        </p:txBody>
      </p:sp>
      <p:sp>
        <p:nvSpPr>
          <p:cNvPr id="14" name="subhead-603">
            <a:extLst xmlns:a="http://schemas.openxmlformats.org/drawingml/2006/main">
              <a:ext uri="{FF2B5EF4-FFF2-40B4-BE49-F238E27FC236}">
                <a16:creationId xmlns:a16="http://schemas.microsoft.com/office/drawing/2014/main" id="{D7E57D08-7CCB-4BD4-A2AA-77A03991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检查与回退</a:t>
            </a:r>
          </a:p>
        </p:txBody>
      </p:sp>
      <p:sp>
        <p:nvSpPr>
          <p:cNvPr id="15" name="text-604">
            <a:extLst xmlns:a="http://schemas.openxmlformats.org/drawingml/2006/main">
              <a:ext uri="{FF2B5EF4-FFF2-40B4-BE49-F238E27FC236}">
                <a16:creationId xmlns:a16="http://schemas.microsoft.com/office/drawing/2014/main" id="{29D06C8C-FFCE-4EAA-A8FF-CEA35D6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回退：实质变化返回最早受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影响阶段，保留历史记录。</a:t>
            </a:r>
          </a:p>
        </p:txBody>
      </p:sp>
      <p:sp>
        <p:nvSpPr>
          <p:cNvPr id="16" name="box-605">
            <a:extLst xmlns:a="http://schemas.openxmlformats.org/drawingml/2006/main">
              <a:ext uri="{FF2B5EF4-FFF2-40B4-BE49-F238E27FC236}">
                <a16:creationId xmlns:a16="http://schemas.microsoft.com/office/drawing/2014/main" id="{7424968D-A8EF-431B-9E89-970754E5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7" name="text-606">
            <a:extLst xmlns:a="http://schemas.openxmlformats.org/drawingml/2006/main">
              <a:ext uri="{FF2B5EF4-FFF2-40B4-BE49-F238E27FC236}">
                <a16:creationId xmlns:a16="http://schemas.microsoft.com/office/drawing/2014/main" id="{6AADD020-5C59-4229-A6B2-C5E8B877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调用知识：统计、因果与实验、控制方法、调查实践、数据与管理复盘</a:t>
            </a:r>
          </a:p>
        </p:txBody>
      </p:sp>
    </p:spTree>
    <p:extLst>
      <p:ext uri="{BB962C8B-B14F-4D97-AF65-F5344CB8AC3E}">
        <p14:creationId xmlns:p14="http://schemas.microsoft.com/office/powerpoint/2010/main" val="10608381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607">
            <a:extLst xmlns:a="http://schemas.openxmlformats.org/drawingml/2006/main">
              <a:ext uri="{FF2B5EF4-FFF2-40B4-BE49-F238E27FC236}">
                <a16:creationId xmlns:a16="http://schemas.microsoft.com/office/drawing/2014/main" id="{75B50D85-905B-44BA-88B0-F7F10641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608">
            <a:extLst xmlns:a="http://schemas.openxmlformats.org/drawingml/2006/main">
              <a:ext uri="{FF2B5EF4-FFF2-40B4-BE49-F238E27FC236}">
                <a16:creationId xmlns:a16="http://schemas.microsoft.com/office/drawing/2014/main" id="{00064C6D-A9E3-4982-AA2A-47509E7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比较方法取决于证据条件</a:t>
            </a:r>
          </a:p>
        </p:txBody>
      </p:sp>
      <p:sp>
        <p:nvSpPr>
          <p:cNvPr id="3" name="box-609">
            <a:extLst xmlns:a="http://schemas.openxmlformats.org/drawingml/2006/main">
              <a:ext uri="{FF2B5EF4-FFF2-40B4-BE49-F238E27FC236}">
                <a16:creationId xmlns:a16="http://schemas.microsoft.com/office/drawing/2014/main" id="{B1A6D3E7-F828-4EF5-B65E-1B5F59B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610">
            <a:extLst xmlns:a="http://schemas.openxmlformats.org/drawingml/2006/main">
              <a:ext uri="{FF2B5EF4-FFF2-40B4-BE49-F238E27FC236}">
                <a16:creationId xmlns:a16="http://schemas.microsoft.com/office/drawing/2014/main" id="{346A0612-DBE9-49E9-87DB-C45B4DE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611">
            <a:extLst xmlns:a="http://schemas.openxmlformats.org/drawingml/2006/main">
              <a:ext uri="{FF2B5EF4-FFF2-40B4-BE49-F238E27FC236}">
                <a16:creationId xmlns:a16="http://schemas.microsoft.com/office/drawing/2014/main" id="{32075B04-9E18-4F77-BCB4-DF76432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612">
            <a:extLst xmlns:a="http://schemas.openxmlformats.org/drawingml/2006/main">
              <a:ext uri="{FF2B5EF4-FFF2-40B4-BE49-F238E27FC236}">
                <a16:creationId xmlns:a16="http://schemas.microsoft.com/office/drawing/2014/main" id="{BDF82315-8AC1-4B08-B25A-BF566ED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39 / 91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当前条件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采用的方法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需要检查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只有明确底线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先做可行性筛选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违反硬约束的方案不进入原条件推荐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多个目标、偏好明确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比较支配关系与真实取舍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评分确有必要才使用，解释尺度与权重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概率与后果有依据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决策树、期望效用等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同时检查不可承受损失与可逆性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概率不可靠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情景、区间与反转条件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情景不完备，不宣称已求得最优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行动效果未知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有资源上限的可逆小试验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预先写观察窗口、指标与停止条件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7246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613">
            <a:extLst xmlns:a="http://schemas.openxmlformats.org/drawingml/2006/main">
              <a:ext uri="{FF2B5EF4-FFF2-40B4-BE49-F238E27FC236}">
                <a16:creationId xmlns:a16="http://schemas.microsoft.com/office/drawing/2014/main" id="{8D1A65C7-E489-42B7-A5D3-3DC9464E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614">
            <a:extLst xmlns:a="http://schemas.openxmlformats.org/drawingml/2006/main">
              <a:ext uri="{FF2B5EF4-FFF2-40B4-BE49-F238E27FC236}">
                <a16:creationId xmlns:a16="http://schemas.microsoft.com/office/drawing/2014/main" id="{2922B843-F99E-41CF-A6DF-FC22925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三个状态必须分别记录</a:t>
            </a:r>
          </a:p>
        </p:txBody>
      </p:sp>
      <p:sp>
        <p:nvSpPr>
          <p:cNvPr id="3" name="claim-615">
            <a:extLst xmlns:a="http://schemas.openxmlformats.org/drawingml/2006/main">
              <a:ext uri="{FF2B5EF4-FFF2-40B4-BE49-F238E27FC236}">
                <a16:creationId xmlns:a16="http://schemas.microsoft.com/office/drawing/2014/main" id="{DDB0F98D-A78E-45F8-BB22-AF8036DC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形成建议、作出选择与实际执行是三个不同事实。</a:t>
            </a:r>
          </a:p>
        </p:txBody>
      </p:sp>
      <p:sp>
        <p:nvSpPr>
          <p:cNvPr id="4" name="box-616">
            <a:extLst xmlns:a="http://schemas.openxmlformats.org/drawingml/2006/main">
              <a:ext uri="{FF2B5EF4-FFF2-40B4-BE49-F238E27FC236}">
                <a16:creationId xmlns:a16="http://schemas.microsoft.com/office/drawing/2014/main" id="{F744D423-0383-4422-9282-B257108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617">
            <a:extLst xmlns:a="http://schemas.openxmlformats.org/drawingml/2006/main">
              <a:ext uri="{FF2B5EF4-FFF2-40B4-BE49-F238E27FC236}">
                <a16:creationId xmlns:a16="http://schemas.microsoft.com/office/drawing/2014/main" id="{0C1737DB-489B-40F0-934B-F7CF83CF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618">
            <a:extLst xmlns:a="http://schemas.openxmlformats.org/drawingml/2006/main">
              <a:ext uri="{FF2B5EF4-FFF2-40B4-BE49-F238E27FC236}">
                <a16:creationId xmlns:a16="http://schemas.microsoft.com/office/drawing/2014/main" id="{0C7F2F25-042F-458B-849C-203EBE6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619">
            <a:extLst xmlns:a="http://schemas.openxmlformats.org/drawingml/2006/main">
              <a:ext uri="{FF2B5EF4-FFF2-40B4-BE49-F238E27FC236}">
                <a16:creationId xmlns:a16="http://schemas.microsoft.com/office/drawing/2014/main" id="{D39B36A3-0AB0-4D62-A277-21356AA1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40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1650"/>
                <a:gridCol w="6096000"/>
                <a:gridCol w="3105150"/>
              </a:tblGrid>
              <a:tr h="10329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状态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允许的值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回答什么问题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9986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建议状态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待补证 / 条件建议 / 建议可供选择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证据支持到什么程度？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986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用户选择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未知 / 未决定 / 已决定 / 暂缓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用户实际上作了什么选择？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986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执行状态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未知 / 未开始 / 执行中 / 已暂停 / 已完成 / 已停止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行动实际上进行到哪里？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5063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620">
            <a:extLst xmlns:a="http://schemas.openxmlformats.org/drawingml/2006/main">
              <a:ext uri="{FF2B5EF4-FFF2-40B4-BE49-F238E27FC236}">
                <a16:creationId xmlns:a16="http://schemas.microsoft.com/office/drawing/2014/main" id="{B9640CCD-5620-4E6C-9E5C-460B9086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621">
            <a:extLst xmlns:a="http://schemas.openxmlformats.org/drawingml/2006/main">
              <a:ext uri="{FF2B5EF4-FFF2-40B4-BE49-F238E27FC236}">
                <a16:creationId xmlns:a16="http://schemas.microsoft.com/office/drawing/2014/main" id="{224C0B32-8332-44BD-B1BE-D7CAFDA4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条件变化后，旧结论可能失效</a:t>
            </a:r>
          </a:p>
        </p:txBody>
      </p:sp>
      <p:sp>
        <p:nvSpPr>
          <p:cNvPr id="3" name="claim-622">
            <a:extLst xmlns:a="http://schemas.openxmlformats.org/drawingml/2006/main">
              <a:ext uri="{FF2B5EF4-FFF2-40B4-BE49-F238E27FC236}">
                <a16:creationId xmlns:a16="http://schemas.microsoft.com/office/drawing/2014/main" id="{6A542A4C-AABC-4532-86EB-047CDF2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同一个方案ID不代表内容和授权始终相同。</a:t>
            </a:r>
          </a:p>
        </p:txBody>
      </p:sp>
      <p:sp>
        <p:nvSpPr>
          <p:cNvPr id="4" name="box-623">
            <a:extLst xmlns:a="http://schemas.openxmlformats.org/drawingml/2006/main">
              <a:ext uri="{FF2B5EF4-FFF2-40B4-BE49-F238E27FC236}">
                <a16:creationId xmlns:a16="http://schemas.microsoft.com/office/drawing/2014/main" id="{3177915C-06A8-4490-914C-07A2BC6F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624">
            <a:extLst xmlns:a="http://schemas.openxmlformats.org/drawingml/2006/main">
              <a:ext uri="{FF2B5EF4-FFF2-40B4-BE49-F238E27FC236}">
                <a16:creationId xmlns:a16="http://schemas.microsoft.com/office/drawing/2014/main" id="{FDAD4530-E35E-45AB-8715-89748AC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625">
            <a:extLst xmlns:a="http://schemas.openxmlformats.org/drawingml/2006/main">
              <a:ext uri="{FF2B5EF4-FFF2-40B4-BE49-F238E27FC236}">
                <a16:creationId xmlns:a16="http://schemas.microsoft.com/office/drawing/2014/main" id="{97B32153-6288-42D0-A487-04DE68C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626">
            <a:extLst xmlns:a="http://schemas.openxmlformats.org/drawingml/2006/main">
              <a:ext uri="{FF2B5EF4-FFF2-40B4-BE49-F238E27FC236}">
                <a16:creationId xmlns:a16="http://schemas.microsoft.com/office/drawing/2014/main" id="{26EE2333-0B06-4DA9-AEED-650BF32F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41 / 91</a:t>
            </a:r>
          </a:p>
        </p:txBody>
      </p:sp>
      <p:sp>
        <p:nvSpPr>
          <p:cNvPr id="8" name="text-627">
            <a:extLst xmlns:a="http://schemas.openxmlformats.org/drawingml/2006/main">
              <a:ext uri="{FF2B5EF4-FFF2-40B4-BE49-F238E27FC236}">
                <a16:creationId xmlns:a16="http://schemas.microsoft.com/office/drawing/2014/main" id="{1B8D0266-DB78-401C-95E3-880DAFB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628">
            <a:extLst xmlns:a="http://schemas.openxmlformats.org/drawingml/2006/main">
              <a:ext uri="{FF2B5EF4-FFF2-40B4-BE49-F238E27FC236}">
                <a16:creationId xmlns:a16="http://schemas.microsoft.com/office/drawing/2014/main" id="{5D7D2543-7A58-4633-A3FC-64B119E8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629">
            <a:extLst xmlns:a="http://schemas.openxmlformats.org/drawingml/2006/main">
              <a:ext uri="{FF2B5EF4-FFF2-40B4-BE49-F238E27FC236}">
                <a16:creationId xmlns:a16="http://schemas.microsoft.com/office/drawing/2014/main" id="{F1E079C6-EE96-49F2-9843-E46791E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发现变化</a:t>
            </a:r>
          </a:p>
        </p:txBody>
      </p:sp>
      <p:sp>
        <p:nvSpPr>
          <p:cNvPr id="11" name="text-630">
            <a:extLst xmlns:a="http://schemas.openxmlformats.org/drawingml/2006/main">
              <a:ext uri="{FF2B5EF4-FFF2-40B4-BE49-F238E27FC236}">
                <a16:creationId xmlns:a16="http://schemas.microsoft.com/office/drawing/2014/main" id="{4CECBB25-7F10-40F6-ACFF-36A869F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目标、关键事实、约束、资源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或方案内容发生实质改变。</a:t>
            </a:r>
          </a:p>
        </p:txBody>
      </p:sp>
      <p:sp>
        <p:nvSpPr>
          <p:cNvPr id="12" name="text-631">
            <a:extLst xmlns:a="http://schemas.openxmlformats.org/drawingml/2006/main">
              <a:ext uri="{FF2B5EF4-FFF2-40B4-BE49-F238E27FC236}">
                <a16:creationId xmlns:a16="http://schemas.microsoft.com/office/drawing/2014/main" id="{AD21428C-F20C-4D53-8796-7F09193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632">
            <a:extLst xmlns:a="http://schemas.openxmlformats.org/drawingml/2006/main">
              <a:ext uri="{FF2B5EF4-FFF2-40B4-BE49-F238E27FC236}">
                <a16:creationId xmlns:a16="http://schemas.microsoft.com/office/drawing/2014/main" id="{E96F1DCB-8EBE-4333-AAAD-C8AABBB2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633">
            <a:extLst xmlns:a="http://schemas.openxmlformats.org/drawingml/2006/main">
              <a:ext uri="{FF2B5EF4-FFF2-40B4-BE49-F238E27FC236}">
                <a16:creationId xmlns:a16="http://schemas.microsoft.com/office/drawing/2014/main" id="{9BCCCF5F-414B-421A-B5F6-5DE1758C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建立新版本</a:t>
            </a:r>
          </a:p>
        </p:txBody>
      </p:sp>
      <p:sp>
        <p:nvSpPr>
          <p:cNvPr id="15" name="text-634">
            <a:extLst xmlns:a="http://schemas.openxmlformats.org/drawingml/2006/main">
              <a:ext uri="{FF2B5EF4-FFF2-40B4-BE49-F238E27FC236}">
                <a16:creationId xmlns:a16="http://schemas.microsoft.com/office/drawing/2014/main" id="{778EBA3E-281A-4214-AF0C-88EB22A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保留旧记录，更新快照及受影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响的证据和约束。</a:t>
            </a:r>
          </a:p>
        </p:txBody>
      </p:sp>
      <p:sp>
        <p:nvSpPr>
          <p:cNvPr id="16" name="text-635">
            <a:extLst xmlns:a="http://schemas.openxmlformats.org/drawingml/2006/main">
              <a:ext uri="{FF2B5EF4-FFF2-40B4-BE49-F238E27FC236}">
                <a16:creationId xmlns:a16="http://schemas.microsoft.com/office/drawing/2014/main" id="{F85BA3AC-0480-4B4C-8400-A890200B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636">
            <a:extLst xmlns:a="http://schemas.openxmlformats.org/drawingml/2006/main">
              <a:ext uri="{FF2B5EF4-FFF2-40B4-BE49-F238E27FC236}">
                <a16:creationId xmlns:a16="http://schemas.microsoft.com/office/drawing/2014/main" id="{E8F78291-0F24-4199-84C4-6CCC02D2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637">
            <a:extLst xmlns:a="http://schemas.openxmlformats.org/drawingml/2006/main">
              <a:ext uri="{FF2B5EF4-FFF2-40B4-BE49-F238E27FC236}">
                <a16:creationId xmlns:a16="http://schemas.microsoft.com/office/drawing/2014/main" id="{480E1277-EB1E-4C8B-A2F4-A7B8AD7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重新核对</a:t>
            </a:r>
          </a:p>
        </p:txBody>
      </p:sp>
      <p:sp>
        <p:nvSpPr>
          <p:cNvPr id="19" name="text-638">
            <a:extLst xmlns:a="http://schemas.openxmlformats.org/drawingml/2006/main">
              <a:ext uri="{FF2B5EF4-FFF2-40B4-BE49-F238E27FC236}">
                <a16:creationId xmlns:a16="http://schemas.microsoft.com/office/drawing/2014/main" id="{1424B16B-3CBF-447A-89AB-2ACD98BD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重做相关比较与复核；检查原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选择和授权是否仍适用。</a:t>
            </a:r>
          </a:p>
        </p:txBody>
      </p:sp>
    </p:spTree>
    <p:extLst>
      <p:ext uri="{BB962C8B-B14F-4D97-AF65-F5344CB8AC3E}">
        <p14:creationId xmlns:p14="http://schemas.microsoft.com/office/powerpoint/2010/main" val="15389956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39">
            <a:extLst xmlns:a="http://schemas.openxmlformats.org/drawingml/2006/main">
              <a:ext uri="{FF2B5EF4-FFF2-40B4-BE49-F238E27FC236}">
                <a16:creationId xmlns:a16="http://schemas.microsoft.com/office/drawing/2014/main" id="{20C9013A-C36B-40EF-8DF8-BC031645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04 八阶段决策</a:t>
            </a:r>
          </a:p>
        </p:txBody>
      </p:sp>
      <p:sp>
        <p:nvSpPr>
          <p:cNvPr id="2" name="slide-title-640">
            <a:extLst xmlns:a="http://schemas.openxmlformats.org/drawingml/2006/main">
              <a:ext uri="{FF2B5EF4-FFF2-40B4-BE49-F238E27FC236}">
                <a16:creationId xmlns:a16="http://schemas.microsoft.com/office/drawing/2014/main" id="{59C66B22-C507-48AA-810E-70B5247E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补证与复核也要有终点</a:t>
            </a:r>
          </a:p>
        </p:txBody>
      </p:sp>
      <p:sp>
        <p:nvSpPr>
          <p:cNvPr id="3" name="box-641">
            <a:extLst xmlns:a="http://schemas.openxmlformats.org/drawingml/2006/main">
              <a:ext uri="{FF2B5EF4-FFF2-40B4-BE49-F238E27FC236}">
                <a16:creationId xmlns:a16="http://schemas.microsoft.com/office/drawing/2014/main" id="{478158E7-DF75-4ADA-8726-621E190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642">
            <a:extLst xmlns:a="http://schemas.openxmlformats.org/drawingml/2006/main">
              <a:ext uri="{FF2B5EF4-FFF2-40B4-BE49-F238E27FC236}">
                <a16:creationId xmlns:a16="http://schemas.microsoft.com/office/drawing/2014/main" id="{AB4AA333-5B0B-426A-A692-58DF0780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643">
            <a:extLst xmlns:a="http://schemas.openxmlformats.org/drawingml/2006/main">
              <a:ext uri="{FF2B5EF4-FFF2-40B4-BE49-F238E27FC236}">
                <a16:creationId xmlns:a16="http://schemas.microsoft.com/office/drawing/2014/main" id="{3A49D809-DC31-4EBC-9535-89CFE265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644">
            <a:extLst xmlns:a="http://schemas.openxmlformats.org/drawingml/2006/main">
              <a:ext uri="{FF2B5EF4-FFF2-40B4-BE49-F238E27FC236}">
                <a16:creationId xmlns:a16="http://schemas.microsoft.com/office/drawing/2014/main" id="{8EA88CAD-331A-4E91-82BE-A920C3D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42 / 91</a:t>
            </a:r>
          </a:p>
        </p:txBody>
      </p:sp>
      <p:sp>
        <p:nvSpPr>
          <p:cNvPr id="7" name="subhead-645">
            <a:extLst xmlns:a="http://schemas.openxmlformats.org/drawingml/2006/main">
              <a:ext uri="{FF2B5EF4-FFF2-40B4-BE49-F238E27FC236}">
                <a16:creationId xmlns:a16="http://schemas.microsoft.com/office/drawing/2014/main" id="{505B9EF3-D707-4180-8C75-01CCEC1E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先问信息是否有用</a:t>
            </a:r>
          </a:p>
        </p:txBody>
      </p:sp>
      <p:sp>
        <p:nvSpPr>
          <p:cNvPr id="8" name="text-646">
            <a:extLst xmlns:a="http://schemas.openxmlformats.org/drawingml/2006/main">
              <a:ext uri="{FF2B5EF4-FFF2-40B4-BE49-F238E27FC236}">
                <a16:creationId xmlns:a16="http://schemas.microsoft.com/office/drawing/2014/main" id="{AB0D8545-021D-4274-9F16-65276FC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什么答案会改变可行方案或下一步？取得信息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要花多少代价？</a:t>
            </a:r>
          </a:p>
        </p:txBody>
      </p:sp>
      <p:sp>
        <p:nvSpPr>
          <p:cNvPr id="9" name="subhead-647">
            <a:extLst xmlns:a="http://schemas.openxmlformats.org/drawingml/2006/main">
              <a:ext uri="{FF2B5EF4-FFF2-40B4-BE49-F238E27FC236}">
                <a16:creationId xmlns:a16="http://schemas.microsoft.com/office/drawing/2014/main" id="{EB2AFA7A-0092-4A4B-BF2A-B26E53B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设研究边界</a:t>
            </a:r>
          </a:p>
        </p:txBody>
      </p:sp>
      <p:sp>
        <p:nvSpPr>
          <p:cNvPr id="10" name="text-648">
            <a:extLst xmlns:a="http://schemas.openxmlformats.org/drawingml/2006/main">
              <a:ext uri="{FF2B5EF4-FFF2-40B4-BE49-F238E27FC236}">
                <a16:creationId xmlns:a16="http://schemas.microsoft.com/office/drawing/2014/main" id="{AC0ED53B-C9B5-4DF8-B724-49F1BAFE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写明预算、截止时间和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拿不到资料时的处理方案。</a:t>
            </a:r>
          </a:p>
        </p:txBody>
      </p:sp>
      <p:sp>
        <p:nvSpPr>
          <p:cNvPr id="11" name="subhead-649">
            <a:extLst xmlns:a="http://schemas.openxmlformats.org/drawingml/2006/main">
              <a:ext uri="{FF2B5EF4-FFF2-40B4-BE49-F238E27FC236}">
                <a16:creationId xmlns:a16="http://schemas.microsoft.com/office/drawing/2014/main" id="{96262950-16C5-4DA9-9D14-DB86E2F4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停止循环的条件</a:t>
            </a:r>
          </a:p>
        </p:txBody>
      </p:sp>
      <p:sp>
        <p:nvSpPr>
          <p:cNvPr id="12" name="text-650">
            <a:extLst xmlns:a="http://schemas.openxmlformats.org/drawingml/2006/main">
              <a:ext uri="{FF2B5EF4-FFF2-40B4-BE49-F238E27FC236}">
                <a16:creationId xmlns:a16="http://schemas.microsoft.com/office/drawing/2014/main" id="{E10FB804-EFDA-4CFB-93A5-5EBD9BCA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信息不会改变行动，或预算、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期限与来源条件已到边界。</a:t>
            </a:r>
          </a:p>
        </p:txBody>
      </p:sp>
      <p:sp>
        <p:nvSpPr>
          <p:cNvPr id="13" name="subhead-651">
            <a:extLst xmlns:a="http://schemas.openxmlformats.org/drawingml/2006/main">
              <a:ext uri="{FF2B5EF4-FFF2-40B4-BE49-F238E27FC236}">
                <a16:creationId xmlns:a16="http://schemas.microsoft.com/office/drawing/2014/main" id="{B1F1BC73-9066-40CB-9E81-54462EF2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可交付的结果</a:t>
            </a:r>
          </a:p>
        </p:txBody>
      </p:sp>
      <p:sp>
        <p:nvSpPr>
          <p:cNvPr id="14" name="text-652">
            <a:extLst xmlns:a="http://schemas.openxmlformats.org/drawingml/2006/main">
              <a:ext uri="{FF2B5EF4-FFF2-40B4-BE49-F238E27FC236}">
                <a16:creationId xmlns:a16="http://schemas.microsoft.com/office/drawing/2014/main" id="{AA8F6E9F-426B-44E5-8EBE-D9BDF96C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剩余未知、条件建议，以及可逆的下一步。</a:t>
            </a:r>
          </a:p>
        </p:txBody>
      </p:sp>
    </p:spTree>
    <p:extLst>
      <p:ext uri="{BB962C8B-B14F-4D97-AF65-F5344CB8AC3E}">
        <p14:creationId xmlns:p14="http://schemas.microsoft.com/office/powerpoint/2010/main" val="128313876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653">
            <a:extLst xmlns:a="http://schemas.openxmlformats.org/drawingml/2006/main">
              <a:ext uri="{FF2B5EF4-FFF2-40B4-BE49-F238E27FC236}">
                <a16:creationId xmlns:a16="http://schemas.microsoft.com/office/drawing/2014/main" id="{AFDCB051-B3EA-4F6E-99F7-DD5CF17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654">
            <a:extLst xmlns:a="http://schemas.openxmlformats.org/drawingml/2006/main">
              <a:ext uri="{FF2B5EF4-FFF2-40B4-BE49-F238E27FC236}">
                <a16:creationId xmlns:a16="http://schemas.microsoft.com/office/drawing/2014/main" id="{E9542B2B-F869-4325-A34C-EA1A1CD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23个模块按主要用途分组</a:t>
            </a:r>
          </a:p>
        </p:txBody>
      </p:sp>
      <p:sp>
        <p:nvSpPr>
          <p:cNvPr id="3" name="claim-655">
            <a:extLst xmlns:a="http://schemas.openxmlformats.org/drawingml/2006/main">
              <a:ext uri="{FF2B5EF4-FFF2-40B4-BE49-F238E27FC236}">
                <a16:creationId xmlns:a16="http://schemas.microsoft.com/office/drawing/2014/main" id="{3FEA1E58-6B24-4679-BB40-F86FD68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分组便于理解；同一知识可以跨阶段、跨领域使用。</a:t>
            </a:r>
          </a:p>
        </p:txBody>
      </p:sp>
      <p:sp>
        <p:nvSpPr>
          <p:cNvPr id="4" name="box-656">
            <a:extLst xmlns:a="http://schemas.openxmlformats.org/drawingml/2006/main">
              <a:ext uri="{FF2B5EF4-FFF2-40B4-BE49-F238E27FC236}">
                <a16:creationId xmlns:a16="http://schemas.microsoft.com/office/drawing/2014/main" id="{0D81A5C6-A2AF-4262-8A0A-740E155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657">
            <a:extLst xmlns:a="http://schemas.openxmlformats.org/drawingml/2006/main">
              <a:ext uri="{FF2B5EF4-FFF2-40B4-BE49-F238E27FC236}">
                <a16:creationId xmlns:a16="http://schemas.microsoft.com/office/drawing/2014/main" id="{64810002-9DAB-4E37-9A9D-001A1D7A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658">
            <a:extLst xmlns:a="http://schemas.openxmlformats.org/drawingml/2006/main">
              <a:ext uri="{FF2B5EF4-FFF2-40B4-BE49-F238E27FC236}">
                <a16:creationId xmlns:a16="http://schemas.microsoft.com/office/drawing/2014/main" id="{4DC08EC4-45AC-4EF9-8AE4-38394443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659">
            <a:extLst xmlns:a="http://schemas.openxmlformats.org/drawingml/2006/main">
              <a:ext uri="{FF2B5EF4-FFF2-40B4-BE49-F238E27FC236}">
                <a16:creationId xmlns:a16="http://schemas.microsoft.com/office/drawing/2014/main" id="{DB6DF6E4-D79C-41BB-96E8-FC9F303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43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4029075"/>
                <a:gridCol w="4429125"/>
              </a:tblGrid>
              <a:tr h="89582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主要用途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模块编号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承担的工作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11358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决策方法：8个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M01、M03—M07、M13、M14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推理、估计、验证、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取舍、资源与系统分析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11358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知识与价值：10个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M02、M08—M12、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M19—M21、M23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数量基础、现实机制、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领域约束与人文价值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8615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信息与执行：5个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M15—M18、M22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检索、数据、AI、沟通、组织行动与反馈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4979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660">
            <a:extLst xmlns:a="http://schemas.openxmlformats.org/drawingml/2006/main">
              <a:ext uri="{FF2B5EF4-FFF2-40B4-BE49-F238E27FC236}">
                <a16:creationId xmlns:a16="http://schemas.microsoft.com/office/drawing/2014/main" id="{3FAC43A4-A0FE-4A95-98F7-183EF16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661">
            <a:extLst xmlns:a="http://schemas.openxmlformats.org/drawingml/2006/main">
              <a:ext uri="{FF2B5EF4-FFF2-40B4-BE49-F238E27FC236}">
                <a16:creationId xmlns:a16="http://schemas.microsoft.com/office/drawing/2014/main" id="{E73B9525-28BA-4CB7-9E10-ADFFD258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M01 逻辑、认识论与科学方法</a:t>
            </a:r>
          </a:p>
        </p:txBody>
      </p:sp>
      <p:sp>
        <p:nvSpPr>
          <p:cNvPr id="3" name="claim-662">
            <a:extLst xmlns:a="http://schemas.openxmlformats.org/drawingml/2006/main">
              <a:ext uri="{FF2B5EF4-FFF2-40B4-BE49-F238E27FC236}">
                <a16:creationId xmlns:a16="http://schemas.microsoft.com/office/drawing/2014/main" id="{4DCDF249-D4EC-4F14-ADAE-3BB9BC8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把说法拆成可核对的前提与证据，找出什么会推翻结论。</a:t>
            </a:r>
          </a:p>
        </p:txBody>
      </p:sp>
      <p:sp>
        <p:nvSpPr>
          <p:cNvPr id="4" name="box-663">
            <a:extLst xmlns:a="http://schemas.openxmlformats.org/drawingml/2006/main">
              <a:ext uri="{FF2B5EF4-FFF2-40B4-BE49-F238E27FC236}">
                <a16:creationId xmlns:a16="http://schemas.microsoft.com/office/drawing/2014/main" id="{93F31E4A-ABB5-4162-9741-DE3840B6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664">
            <a:extLst xmlns:a="http://schemas.openxmlformats.org/drawingml/2006/main">
              <a:ext uri="{FF2B5EF4-FFF2-40B4-BE49-F238E27FC236}">
                <a16:creationId xmlns:a16="http://schemas.microsoft.com/office/drawing/2014/main" id="{B3C62005-E755-4349-8C74-7B432A78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665">
            <a:extLst xmlns:a="http://schemas.openxmlformats.org/drawingml/2006/main">
              <a:ext uri="{FF2B5EF4-FFF2-40B4-BE49-F238E27FC236}">
                <a16:creationId xmlns:a16="http://schemas.microsoft.com/office/drawing/2014/main" id="{0283EEA2-67F9-4AA1-8ECF-169163DC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666">
            <a:extLst xmlns:a="http://schemas.openxmlformats.org/drawingml/2006/main">
              <a:ext uri="{FF2B5EF4-FFF2-40B4-BE49-F238E27FC236}">
                <a16:creationId xmlns:a16="http://schemas.microsoft.com/office/drawing/2014/main" id="{AABA4B47-0787-4261-A7F8-B52A8672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44 / 91</a:t>
            </a:r>
          </a:p>
        </p:txBody>
      </p:sp>
      <p:sp>
        <p:nvSpPr>
          <p:cNvPr id="8" name="text-667">
            <a:extLst xmlns:a="http://schemas.openxmlformats.org/drawingml/2006/main">
              <a:ext uri="{FF2B5EF4-FFF2-40B4-BE49-F238E27FC236}">
                <a16:creationId xmlns:a16="http://schemas.microsoft.com/office/drawing/2014/main" id="{1CB84BEF-AE78-434A-92DA-0658CD0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668">
            <a:extLst xmlns:a="http://schemas.openxmlformats.org/drawingml/2006/main">
              <a:ext uri="{FF2B5EF4-FFF2-40B4-BE49-F238E27FC236}">
                <a16:creationId xmlns:a16="http://schemas.microsoft.com/office/drawing/2014/main" id="{148B07B7-3586-47E3-A149-C8FAB6D0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命题、论证、必要与充分条件</a:t>
            </a:r>
          </a:p>
        </p:txBody>
      </p:sp>
      <p:sp>
        <p:nvSpPr>
          <p:cNvPr id="10" name="text-669">
            <a:extLst xmlns:a="http://schemas.openxmlformats.org/drawingml/2006/main">
              <a:ext uri="{FF2B5EF4-FFF2-40B4-BE49-F238E27FC236}">
                <a16:creationId xmlns:a16="http://schemas.microsoft.com/office/drawing/2014/main" id="{E5737207-16D4-41A5-9692-548E2D9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归纳、演绎、反例与逻辑谬误</a:t>
            </a:r>
          </a:p>
        </p:txBody>
      </p:sp>
      <p:sp>
        <p:nvSpPr>
          <p:cNvPr id="11" name="text-670">
            <a:extLst xmlns:a="http://schemas.openxmlformats.org/drawingml/2006/main">
              <a:ext uri="{FF2B5EF4-FFF2-40B4-BE49-F238E27FC236}">
                <a16:creationId xmlns:a16="http://schemas.microsoft.com/office/drawing/2014/main" id="{44132D13-A77E-467C-A83B-6CC0CAA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相关因果、证据与可证伪性</a:t>
            </a:r>
          </a:p>
        </p:txBody>
      </p:sp>
      <p:sp>
        <p:nvSpPr>
          <p:cNvPr id="12" name="text-671">
            <a:extLst xmlns:a="http://schemas.openxmlformats.org/drawingml/2006/main">
              <a:ext uri="{FF2B5EF4-FFF2-40B4-BE49-F238E27FC236}">
                <a16:creationId xmlns:a16="http://schemas.microsoft.com/office/drawing/2014/main" id="{7221DE17-4BEB-4FA4-949E-D4B1478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观察、选择和测量偏差</a:t>
            </a:r>
          </a:p>
        </p:txBody>
      </p:sp>
      <p:sp>
        <p:nvSpPr>
          <p:cNvPr id="13" name="text-672">
            <a:extLst xmlns:a="http://schemas.openxmlformats.org/drawingml/2006/main">
              <a:ext uri="{FF2B5EF4-FFF2-40B4-BE49-F238E27FC236}">
                <a16:creationId xmlns:a16="http://schemas.microsoft.com/office/drawing/2014/main" id="{ECDA6296-D87F-46C8-848C-A8B1E972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贯穿S1—S8；重点S2事实、S5复核。</a:t>
            </a:r>
          </a:p>
        </p:txBody>
      </p:sp>
      <p:sp>
        <p:nvSpPr>
          <p:cNvPr id="14" name="text-673">
            <a:extLst xmlns:a="http://schemas.openxmlformats.org/drawingml/2006/main">
              <a:ext uri="{FF2B5EF4-FFF2-40B4-BE49-F238E27FC236}">
                <a16:creationId xmlns:a16="http://schemas.microsoft.com/office/drawing/2014/main" id="{A7893574-3089-4D11-A140-F2D3E267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674">
            <a:extLst xmlns:a="http://schemas.openxmlformats.org/drawingml/2006/main">
              <a:ext uri="{FF2B5EF4-FFF2-40B4-BE49-F238E27FC236}">
                <a16:creationId xmlns:a16="http://schemas.microsoft.com/office/drawing/2014/main" id="{4C587E2F-3C42-4AC9-8370-21F264A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具体主张、原始材料、来源日期、支持和反对理由。</a:t>
            </a:r>
          </a:p>
        </p:txBody>
      </p:sp>
      <p:sp>
        <p:nvSpPr>
          <p:cNvPr id="16" name="text-675">
            <a:extLst xmlns:a="http://schemas.openxmlformats.org/drawingml/2006/main">
              <a:ext uri="{FF2B5EF4-FFF2-40B4-BE49-F238E27FC236}">
                <a16:creationId xmlns:a16="http://schemas.microsoft.com/office/drawing/2014/main" id="{9362E3AA-5116-4B39-BB73-6A9C9BA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9128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676">
            <a:extLst xmlns:a="http://schemas.openxmlformats.org/drawingml/2006/main">
              <a:ext uri="{FF2B5EF4-FFF2-40B4-BE49-F238E27FC236}">
                <a16:creationId xmlns:a16="http://schemas.microsoft.com/office/drawing/2014/main" id="{8823F80C-2638-4DE6-9B43-4A2F7DD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8703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分清事实与假设；检查推理；寻找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反例和替代解释；标出关键未知。</a:t>
            </a:r>
          </a:p>
        </p:txBody>
      </p:sp>
      <p:sp>
        <p:nvSpPr>
          <p:cNvPr id="18" name="text-677">
            <a:extLst xmlns:a="http://schemas.openxmlformats.org/drawingml/2006/main">
              <a:ext uri="{FF2B5EF4-FFF2-40B4-BE49-F238E27FC236}">
                <a16:creationId xmlns:a16="http://schemas.microsoft.com/office/drawing/2014/main" id="{39C66C8E-9FDD-45BF-A1C3-DB602FFA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3934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678">
            <a:extLst xmlns:a="http://schemas.openxmlformats.org/drawingml/2006/main">
              <a:ext uri="{FF2B5EF4-FFF2-40B4-BE49-F238E27FC236}">
                <a16:creationId xmlns:a16="http://schemas.microsoft.com/office/drawing/2014/main" id="{9D29AAFE-05C1-4695-AD02-D550271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3509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主张—前提—证据表、反对理由、补证清单。</a:t>
            </a:r>
          </a:p>
        </p:txBody>
      </p:sp>
      <p:sp>
        <p:nvSpPr>
          <p:cNvPr id="20" name="box-679">
            <a:extLst xmlns:a="http://schemas.openxmlformats.org/drawingml/2006/main">
              <a:ext uri="{FF2B5EF4-FFF2-40B4-BE49-F238E27FC236}">
                <a16:creationId xmlns:a16="http://schemas.microsoft.com/office/drawing/2014/main" id="{D7CD9B20-6BF6-4BDF-9B9C-348A0843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680">
            <a:extLst xmlns:a="http://schemas.openxmlformats.org/drawingml/2006/main">
              <a:ext uri="{FF2B5EF4-FFF2-40B4-BE49-F238E27FC236}">
                <a16:creationId xmlns:a16="http://schemas.microsoft.com/office/drawing/2014/main" id="{C0454AD4-99FF-4510-85BA-5057581A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681">
            <a:extLst xmlns:a="http://schemas.openxmlformats.org/drawingml/2006/main">
              <a:ext uri="{FF2B5EF4-FFF2-40B4-BE49-F238E27FC236}">
                <a16:creationId xmlns:a16="http://schemas.microsoft.com/office/drawing/2014/main" id="{3F0228C7-9545-4608-9FB7-3C678691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合成：三位转行者加薪，只能提示可能机会，仍需调查未成功者与进入条件。</a:t>
            </a:r>
          </a:p>
        </p:txBody>
      </p:sp>
      <p:sp>
        <p:nvSpPr>
          <p:cNvPr id="23" name="text-682">
            <a:extLst xmlns:a="http://schemas.openxmlformats.org/drawingml/2006/main">
              <a:ext uri="{FF2B5EF4-FFF2-40B4-BE49-F238E27FC236}">
                <a16:creationId xmlns:a16="http://schemas.microsoft.com/office/drawing/2014/main" id="{6891753F-BE72-40C0-83EA-3C240436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683">
            <a:extLst xmlns:a="http://schemas.openxmlformats.org/drawingml/2006/main">
              <a:ext uri="{FF2B5EF4-FFF2-40B4-BE49-F238E27FC236}">
                <a16:creationId xmlns:a16="http://schemas.microsoft.com/office/drawing/2014/main" id="{7AFB134C-88FA-4612-A81C-D5B4F3CD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推理成立不代表前提真实；能复述方法不等于完成验证。</a:t>
            </a:r>
          </a:p>
        </p:txBody>
      </p:sp>
    </p:spTree>
    <p:extLst>
      <p:ext uri="{BB962C8B-B14F-4D97-AF65-F5344CB8AC3E}">
        <p14:creationId xmlns:p14="http://schemas.microsoft.com/office/powerpoint/2010/main" val="14605412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684">
            <a:extLst xmlns:a="http://schemas.openxmlformats.org/drawingml/2006/main">
              <a:ext uri="{FF2B5EF4-FFF2-40B4-BE49-F238E27FC236}">
                <a16:creationId xmlns:a16="http://schemas.microsoft.com/office/drawing/2014/main" id="{5C360A76-BEC6-4D25-AA7F-8A6E0A1D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685">
            <a:extLst xmlns:a="http://schemas.openxmlformats.org/drawingml/2006/main">
              <a:ext uri="{FF2B5EF4-FFF2-40B4-BE49-F238E27FC236}">
                <a16:creationId xmlns:a16="http://schemas.microsoft.com/office/drawing/2014/main" id="{A0F32A29-FE72-42FC-8B3E-0B3D3AC8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M02 基础数学</a:t>
            </a:r>
          </a:p>
        </p:txBody>
      </p:sp>
      <p:sp>
        <p:nvSpPr>
          <p:cNvPr id="3" name="claim-686">
            <a:extLst xmlns:a="http://schemas.openxmlformats.org/drawingml/2006/main">
              <a:ext uri="{FF2B5EF4-FFF2-40B4-BE49-F238E27FC236}">
                <a16:creationId xmlns:a16="http://schemas.microsoft.com/office/drawing/2014/main" id="{A6DB29B7-FCE1-41CF-AE70-A05E5E1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把数量关系写清楚，让计算能够复算并接受边界检查。</a:t>
            </a:r>
          </a:p>
        </p:txBody>
      </p:sp>
      <p:sp>
        <p:nvSpPr>
          <p:cNvPr id="4" name="box-687">
            <a:extLst xmlns:a="http://schemas.openxmlformats.org/drawingml/2006/main">
              <a:ext uri="{FF2B5EF4-FFF2-40B4-BE49-F238E27FC236}">
                <a16:creationId xmlns:a16="http://schemas.microsoft.com/office/drawing/2014/main" id="{0AD55F2F-A722-497B-BC7F-3B7EA16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688">
            <a:extLst xmlns:a="http://schemas.openxmlformats.org/drawingml/2006/main">
              <a:ext uri="{FF2B5EF4-FFF2-40B4-BE49-F238E27FC236}">
                <a16:creationId xmlns:a16="http://schemas.microsoft.com/office/drawing/2014/main" id="{D22E8AF0-366E-4522-BF13-892E73BC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689">
            <a:extLst xmlns:a="http://schemas.openxmlformats.org/drawingml/2006/main">
              <a:ext uri="{FF2B5EF4-FFF2-40B4-BE49-F238E27FC236}">
                <a16:creationId xmlns:a16="http://schemas.microsoft.com/office/drawing/2014/main" id="{2B7439B3-C76D-4574-8B77-FBA2F0B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690">
            <a:extLst xmlns:a="http://schemas.openxmlformats.org/drawingml/2006/main">
              <a:ext uri="{FF2B5EF4-FFF2-40B4-BE49-F238E27FC236}">
                <a16:creationId xmlns:a16="http://schemas.microsoft.com/office/drawing/2014/main" id="{2F90094A-65BD-4D7E-9D8B-0678425D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45 / 91</a:t>
            </a:r>
          </a:p>
        </p:txBody>
      </p:sp>
      <p:sp>
        <p:nvSpPr>
          <p:cNvPr id="8" name="text-691">
            <a:extLst xmlns:a="http://schemas.openxmlformats.org/drawingml/2006/main">
              <a:ext uri="{FF2B5EF4-FFF2-40B4-BE49-F238E27FC236}">
                <a16:creationId xmlns:a16="http://schemas.microsoft.com/office/drawing/2014/main" id="{7BBACA24-C022-47B6-8F69-27810921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692">
            <a:extLst xmlns:a="http://schemas.openxmlformats.org/drawingml/2006/main">
              <a:ext uri="{FF2B5EF4-FFF2-40B4-BE49-F238E27FC236}">
                <a16:creationId xmlns:a16="http://schemas.microsoft.com/office/drawing/2014/main" id="{8866861A-457D-4546-B9F3-1AF60846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代数、方程与不等式；函数、指数与对数；集合、向量与矩阵；微积分：变化率、边际量与累积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变量、单位、时间尺度、数据来源、取值范围与待求量。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建立最简单的关系式；实际计算；检查量纲、极端情况、量级与舍入。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变量单位表、公式、可复算结果及适用边界。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693">
            <a:extLst xmlns:a="http://schemas.openxmlformats.org/drawingml/2006/main">
              <a:ext uri="{FF2B5EF4-FFF2-40B4-BE49-F238E27FC236}">
                <a16:creationId xmlns:a16="http://schemas.microsoft.com/office/drawing/2014/main" id="{04D836AC-2D6C-4451-8092-171F8DF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常用S2事实、S4比较、S8反馈；按需跨用。</a:t>
            </a:r>
          </a:p>
        </p:txBody>
      </p:sp>
      <p:sp>
        <p:nvSpPr>
          <p:cNvPr id="12" name="box-694">
            <a:extLst xmlns:a="http://schemas.openxmlformats.org/drawingml/2006/main">
              <a:ext uri="{FF2B5EF4-FFF2-40B4-BE49-F238E27FC236}">
                <a16:creationId xmlns:a16="http://schemas.microsoft.com/office/drawing/2014/main" id="{0942AED0-C877-45F6-A971-ABB98F3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695">
            <a:extLst xmlns:a="http://schemas.openxmlformats.org/drawingml/2006/main">
              <a:ext uri="{FF2B5EF4-FFF2-40B4-BE49-F238E27FC236}">
                <a16:creationId xmlns:a16="http://schemas.microsoft.com/office/drawing/2014/main" id="{6AB991F5-B88D-4A00-B972-AF442C4F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696">
            <a:extLst xmlns:a="http://schemas.openxmlformats.org/drawingml/2006/main">
              <a:ext uri="{FF2B5EF4-FFF2-40B4-BE49-F238E27FC236}">
                <a16:creationId xmlns:a16="http://schemas.microsoft.com/office/drawing/2014/main" id="{D42608A6-0C8E-4238-884B-BFE997D1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合成：每周投入4小时、持续6周，计划量为24小时；这不是已完成学习量。</a:t>
            </a:r>
          </a:p>
        </p:txBody>
      </p:sp>
      <p:sp>
        <p:nvSpPr>
          <p:cNvPr id="15" name="text-697">
            <a:extLst xmlns:a="http://schemas.openxmlformats.org/drawingml/2006/main">
              <a:ext uri="{FF2B5EF4-FFF2-40B4-BE49-F238E27FC236}">
                <a16:creationId xmlns:a16="http://schemas.microsoft.com/office/drawing/2014/main" id="{BF49A09E-98EF-4BBA-B41A-E4791A9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698">
            <a:extLst xmlns:a="http://schemas.openxmlformats.org/drawingml/2006/main">
              <a:ext uri="{FF2B5EF4-FFF2-40B4-BE49-F238E27FC236}">
                <a16:creationId xmlns:a16="http://schemas.microsoft.com/office/drawing/2014/main" id="{40B32ED2-6DF5-4574-AD18-9D600B9E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算得对不能弥补模型设错；不把不确定输入包装成精确答案。</a:t>
            </a:r>
          </a:p>
        </p:txBody>
      </p:sp>
    </p:spTree>
    <p:extLst>
      <p:ext uri="{BB962C8B-B14F-4D97-AF65-F5344CB8AC3E}">
        <p14:creationId xmlns:p14="http://schemas.microsoft.com/office/powerpoint/2010/main" val="50814948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699">
            <a:extLst xmlns:a="http://schemas.openxmlformats.org/drawingml/2006/main">
              <a:ext uri="{FF2B5EF4-FFF2-40B4-BE49-F238E27FC236}">
                <a16:creationId xmlns:a16="http://schemas.microsoft.com/office/drawing/2014/main" id="{6D25B5ED-788F-45BB-A105-C65DEF35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700">
            <a:extLst xmlns:a="http://schemas.openxmlformats.org/drawingml/2006/main">
              <a:ext uri="{FF2B5EF4-FFF2-40B4-BE49-F238E27FC236}">
                <a16:creationId xmlns:a16="http://schemas.microsoft.com/office/drawing/2014/main" id="{027FBBBA-CAAF-4AB2-99F1-C4CB814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M03 概率论与统计学</a:t>
            </a:r>
          </a:p>
        </p:txBody>
      </p:sp>
      <p:sp>
        <p:nvSpPr>
          <p:cNvPr id="3" name="claim-701">
            <a:extLst xmlns:a="http://schemas.openxmlformats.org/drawingml/2006/main">
              <a:ext uri="{FF2B5EF4-FFF2-40B4-BE49-F238E27FC236}">
                <a16:creationId xmlns:a16="http://schemas.microsoft.com/office/drawing/2014/main" id="{9B78AD8A-8AD1-4576-9A54-BD6EB7F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说明数据覆盖了谁、差异有多大，以及判断还有多大不确定性。</a:t>
            </a:r>
          </a:p>
        </p:txBody>
      </p:sp>
      <p:sp>
        <p:nvSpPr>
          <p:cNvPr id="4" name="box-702">
            <a:extLst xmlns:a="http://schemas.openxmlformats.org/drawingml/2006/main">
              <a:ext uri="{FF2B5EF4-FFF2-40B4-BE49-F238E27FC236}">
                <a16:creationId xmlns:a16="http://schemas.microsoft.com/office/drawing/2014/main" id="{9FF0D53C-8B37-432D-90B1-834C223B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703">
            <a:extLst xmlns:a="http://schemas.openxmlformats.org/drawingml/2006/main">
              <a:ext uri="{FF2B5EF4-FFF2-40B4-BE49-F238E27FC236}">
                <a16:creationId xmlns:a16="http://schemas.microsoft.com/office/drawing/2014/main" id="{5260D192-0DE7-463B-91DF-BED5943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704">
            <a:extLst xmlns:a="http://schemas.openxmlformats.org/drawingml/2006/main">
              <a:ext uri="{FF2B5EF4-FFF2-40B4-BE49-F238E27FC236}">
                <a16:creationId xmlns:a16="http://schemas.microsoft.com/office/drawing/2014/main" id="{F0524E92-5084-497D-8824-7C1ED49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705">
            <a:extLst xmlns:a="http://schemas.openxmlformats.org/drawingml/2006/main">
              <a:ext uri="{FF2B5EF4-FFF2-40B4-BE49-F238E27FC236}">
                <a16:creationId xmlns:a16="http://schemas.microsoft.com/office/drawing/2014/main" id="{1F2A54F3-690A-42CA-92B1-D12FE511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46 / 91</a:t>
            </a:r>
          </a:p>
        </p:txBody>
      </p:sp>
      <p:sp>
        <p:nvSpPr>
          <p:cNvPr id="8" name="text-706">
            <a:extLst xmlns:a="http://schemas.openxmlformats.org/drawingml/2006/main">
              <a:ext uri="{FF2B5EF4-FFF2-40B4-BE49-F238E27FC236}">
                <a16:creationId xmlns:a16="http://schemas.microsoft.com/office/drawing/2014/main" id="{321F6006-5799-412D-B8A7-64162E8F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707">
            <a:extLst xmlns:a="http://schemas.openxmlformats.org/drawingml/2006/main">
              <a:ext uri="{FF2B5EF4-FFF2-40B4-BE49-F238E27FC236}">
                <a16:creationId xmlns:a16="http://schemas.microsoft.com/office/drawing/2014/main" id="{15EB15DC-CA9A-415F-A56A-6B465F58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条件概率、贝叶斯、期望与方差</a:t>
            </a:r>
          </a:p>
        </p:txBody>
      </p:sp>
      <p:sp>
        <p:nvSpPr>
          <p:cNvPr id="10" name="text-708">
            <a:extLst xmlns:a="http://schemas.openxmlformats.org/drawingml/2006/main">
              <a:ext uri="{FF2B5EF4-FFF2-40B4-BE49-F238E27FC236}">
                <a16:creationId xmlns:a16="http://schemas.microsoft.com/office/drawing/2014/main" id="{B611D68A-870C-4201-B2F4-7B1628AD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分布、大数定律与中心极限定理</a:t>
            </a:r>
          </a:p>
        </p:txBody>
      </p:sp>
      <p:sp>
        <p:nvSpPr>
          <p:cNvPr id="11" name="text-709">
            <a:extLst xmlns:a="http://schemas.openxmlformats.org/drawingml/2006/main">
              <a:ext uri="{FF2B5EF4-FFF2-40B4-BE49-F238E27FC236}">
                <a16:creationId xmlns:a16="http://schemas.microsoft.com/office/drawing/2014/main" id="{77C70708-1EA0-4777-A1F4-2FBADB23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抽样、区间、检验与回归</a:t>
            </a:r>
          </a:p>
        </p:txBody>
      </p:sp>
      <p:sp>
        <p:nvSpPr>
          <p:cNvPr id="12" name="text-710">
            <a:extLst xmlns:a="http://schemas.openxmlformats.org/drawingml/2006/main">
              <a:ext uri="{FF2B5EF4-FFF2-40B4-BE49-F238E27FC236}">
                <a16:creationId xmlns:a16="http://schemas.microsoft.com/office/drawing/2014/main" id="{67C72B9C-AD02-4E7A-A1C0-8B0CD60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数据质量、假设与留出验证</a:t>
            </a:r>
          </a:p>
        </p:txBody>
      </p:sp>
      <p:sp>
        <p:nvSpPr>
          <p:cNvPr id="13" name="text-711">
            <a:extLst xmlns:a="http://schemas.openxmlformats.org/drawingml/2006/main">
              <a:ext uri="{FF2B5EF4-FFF2-40B4-BE49-F238E27FC236}">
                <a16:creationId xmlns:a16="http://schemas.microsoft.com/office/drawing/2014/main" id="{D2B7F1AF-A6B9-4AB5-93AA-BE1E86FB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常用S2、S4、S5、S8；按需跨用。</a:t>
            </a:r>
          </a:p>
        </p:txBody>
      </p:sp>
      <p:sp>
        <p:nvSpPr>
          <p:cNvPr id="14" name="text-712">
            <a:extLst xmlns:a="http://schemas.openxmlformats.org/drawingml/2006/main">
              <a:ext uri="{FF2B5EF4-FFF2-40B4-BE49-F238E27FC236}">
                <a16:creationId xmlns:a16="http://schemas.microsoft.com/office/drawing/2014/main" id="{993659CB-A6FC-4F66-A601-3504C714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713">
            <a:extLst xmlns:a="http://schemas.openxmlformats.org/drawingml/2006/main">
              <a:ext uri="{FF2B5EF4-FFF2-40B4-BE49-F238E27FC236}">
                <a16:creationId xmlns:a16="http://schemas.microsoft.com/office/drawing/2014/main" id="{6CC1762E-B555-48A0-BD47-14B02EB8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总体样本、采样过程、数据字典、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缺失异常、时间结构和基准率。</a:t>
            </a:r>
          </a:p>
        </p:txBody>
      </p:sp>
      <p:sp>
        <p:nvSpPr>
          <p:cNvPr id="16" name="text-714">
            <a:extLst xmlns:a="http://schemas.openxmlformats.org/drawingml/2006/main">
              <a:ext uri="{FF2B5EF4-FFF2-40B4-BE49-F238E27FC236}">
                <a16:creationId xmlns:a16="http://schemas.microsoft.com/office/drawing/2014/main" id="{D2A049B6-F62D-414E-8621-BDADC72E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715">
            <a:extLst xmlns:a="http://schemas.openxmlformats.org/drawingml/2006/main">
              <a:ext uri="{FF2B5EF4-FFF2-40B4-BE49-F238E27FC236}">
                <a16:creationId xmlns:a16="http://schemas.microsoft.com/office/drawing/2014/main" id="{441D5830-1FA3-42EA-BEEB-5F4A445A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先查样本偏差；看分布；选择估计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方法；报告效应与区间；检验敏感性。</a:t>
            </a:r>
          </a:p>
        </p:txBody>
      </p:sp>
      <p:sp>
        <p:nvSpPr>
          <p:cNvPr id="18" name="text-716">
            <a:extLst xmlns:a="http://schemas.openxmlformats.org/drawingml/2006/main">
              <a:ext uri="{FF2B5EF4-FFF2-40B4-BE49-F238E27FC236}">
                <a16:creationId xmlns:a16="http://schemas.microsoft.com/office/drawing/2014/main" id="{EDFF8E99-BFFD-4C38-B335-8D03A8C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717">
            <a:extLst xmlns:a="http://schemas.openxmlformats.org/drawingml/2006/main">
              <a:ext uri="{FF2B5EF4-FFF2-40B4-BE49-F238E27FC236}">
                <a16:creationId xmlns:a16="http://schemas.microsoft.com/office/drawing/2014/main" id="{E7A0667C-A640-436C-947D-29E83145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样本范围、质量摘要、计算、区间与验证结果。</a:t>
            </a:r>
          </a:p>
        </p:txBody>
      </p:sp>
      <p:sp>
        <p:nvSpPr>
          <p:cNvPr id="20" name="box-718">
            <a:extLst xmlns:a="http://schemas.openxmlformats.org/drawingml/2006/main">
              <a:ext uri="{FF2B5EF4-FFF2-40B4-BE49-F238E27FC236}">
                <a16:creationId xmlns:a16="http://schemas.microsoft.com/office/drawing/2014/main" id="{F6F140F8-DBD5-4028-BD46-8B1A6FC3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719">
            <a:extLst xmlns:a="http://schemas.openxmlformats.org/drawingml/2006/main">
              <a:ext uri="{FF2B5EF4-FFF2-40B4-BE49-F238E27FC236}">
                <a16:creationId xmlns:a16="http://schemas.microsoft.com/office/drawing/2014/main" id="{4809FB57-D3C9-4113-A143-5A87FE0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720">
            <a:extLst xmlns:a="http://schemas.openxmlformats.org/drawingml/2006/main">
              <a:ext uri="{FF2B5EF4-FFF2-40B4-BE49-F238E27FC236}">
                <a16:creationId xmlns:a16="http://schemas.microsoft.com/office/drawing/2014/main" id="{6962039B-B240-45C2-8F63-0C9DF309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合成：群内20人填问卷，只能描述这批回应者，不能直接代表所有求职者。</a:t>
            </a:r>
          </a:p>
        </p:txBody>
      </p:sp>
      <p:sp>
        <p:nvSpPr>
          <p:cNvPr id="23" name="text-721">
            <a:extLst xmlns:a="http://schemas.openxmlformats.org/drawingml/2006/main">
              <a:ext uri="{FF2B5EF4-FFF2-40B4-BE49-F238E27FC236}">
                <a16:creationId xmlns:a16="http://schemas.microsoft.com/office/drawing/2014/main" id="{6035D38E-E3BB-412E-81DD-F2195D6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722">
            <a:extLst xmlns:a="http://schemas.openxmlformats.org/drawingml/2006/main">
              <a:ext uri="{FF2B5EF4-FFF2-40B4-BE49-F238E27FC236}">
                <a16:creationId xmlns:a16="http://schemas.microsoft.com/office/drawing/2014/main" id="{85FF5272-100E-4B7F-B9F3-9DAFB604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显著不等于重要；大样本不自动消除偏差；回归不单独证明因果。</a:t>
            </a:r>
          </a:p>
        </p:txBody>
      </p:sp>
    </p:spTree>
    <p:extLst>
      <p:ext uri="{BB962C8B-B14F-4D97-AF65-F5344CB8AC3E}">
        <p14:creationId xmlns:p14="http://schemas.microsoft.com/office/powerpoint/2010/main" val="162760635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23">
            <a:extLst xmlns:a="http://schemas.openxmlformats.org/drawingml/2006/main">
              <a:ext uri="{FF2B5EF4-FFF2-40B4-BE49-F238E27FC236}">
                <a16:creationId xmlns:a16="http://schemas.microsoft.com/office/drawing/2014/main" id="{4298E516-9E9C-4077-B35E-E5806185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724">
            <a:extLst xmlns:a="http://schemas.openxmlformats.org/drawingml/2006/main">
              <a:ext uri="{FF2B5EF4-FFF2-40B4-BE49-F238E27FC236}">
                <a16:creationId xmlns:a16="http://schemas.microsoft.com/office/drawing/2014/main" id="{096228D8-AA02-45E1-9649-699024FF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M04 因果推断与实验设计</a:t>
            </a:r>
          </a:p>
        </p:txBody>
      </p:sp>
      <p:sp>
        <p:nvSpPr>
          <p:cNvPr id="3" name="claim-725">
            <a:extLst xmlns:a="http://schemas.openxmlformats.org/drawingml/2006/main">
              <a:ext uri="{FF2B5EF4-FFF2-40B4-BE49-F238E27FC236}">
                <a16:creationId xmlns:a16="http://schemas.microsoft.com/office/drawing/2014/main" id="{A57982C5-3A51-41C5-898E-36A0CDCB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判断某项行动是否带来变化，并尽量排除同时发生的其他解释。</a:t>
            </a:r>
          </a:p>
        </p:txBody>
      </p:sp>
      <p:sp>
        <p:nvSpPr>
          <p:cNvPr id="4" name="box-726">
            <a:extLst xmlns:a="http://schemas.openxmlformats.org/drawingml/2006/main">
              <a:ext uri="{FF2B5EF4-FFF2-40B4-BE49-F238E27FC236}">
                <a16:creationId xmlns:a16="http://schemas.microsoft.com/office/drawing/2014/main" id="{720349F8-49EE-462D-A6EB-8CD6AE22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727">
            <a:extLst xmlns:a="http://schemas.openxmlformats.org/drawingml/2006/main">
              <a:ext uri="{FF2B5EF4-FFF2-40B4-BE49-F238E27FC236}">
                <a16:creationId xmlns:a16="http://schemas.microsoft.com/office/drawing/2014/main" id="{8DA1E0ED-78BA-4798-9BB9-B0BD573E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728">
            <a:extLst xmlns:a="http://schemas.openxmlformats.org/drawingml/2006/main">
              <a:ext uri="{FF2B5EF4-FFF2-40B4-BE49-F238E27FC236}">
                <a16:creationId xmlns:a16="http://schemas.microsoft.com/office/drawing/2014/main" id="{790AF540-A0F8-45D4-A584-910615DE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729">
            <a:extLst xmlns:a="http://schemas.openxmlformats.org/drawingml/2006/main">
              <a:ext uri="{FF2B5EF4-FFF2-40B4-BE49-F238E27FC236}">
                <a16:creationId xmlns:a16="http://schemas.microsoft.com/office/drawing/2014/main" id="{1060F4DA-E6A0-40D0-B518-97C4164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47 / 91</a:t>
            </a:r>
          </a:p>
        </p:txBody>
      </p:sp>
      <p:sp>
        <p:nvSpPr>
          <p:cNvPr id="8" name="text-730">
            <a:extLst xmlns:a="http://schemas.openxmlformats.org/drawingml/2006/main">
              <a:ext uri="{FF2B5EF4-FFF2-40B4-BE49-F238E27FC236}">
                <a16:creationId xmlns:a16="http://schemas.microsoft.com/office/drawing/2014/main" id="{E8E3637C-98E9-43CF-BD2A-86980B2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731">
            <a:extLst xmlns:a="http://schemas.openxmlformats.org/drawingml/2006/main">
              <a:ext uri="{FF2B5EF4-FFF2-40B4-BE49-F238E27FC236}">
                <a16:creationId xmlns:a16="http://schemas.microsoft.com/office/drawing/2014/main" id="{00F140C3-BE48-4BBD-8F6C-2E92AAC2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反事实、混杂与反向因果；随机分配、对照与测量；因果图、准实验与识别假设；效应、时间范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围与适用人群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对象、干预、比较条件、结果指标、周期、混杂因素与实施限制。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写清因果问题；设计对照；预定指标和分析；检查执行偏差与替代解释。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设计与假设表、指标、效应估计或无法识别说明。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732">
            <a:extLst xmlns:a="http://schemas.openxmlformats.org/drawingml/2006/main">
              <a:ext uri="{FF2B5EF4-FFF2-40B4-BE49-F238E27FC236}">
                <a16:creationId xmlns:a16="http://schemas.microsoft.com/office/drawing/2014/main" id="{6BAAC4A7-C41B-4212-8B98-50A845D5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常用S2—S4、S7—S8；按需跨用。</a:t>
            </a:r>
          </a:p>
        </p:txBody>
      </p:sp>
      <p:sp>
        <p:nvSpPr>
          <p:cNvPr id="12" name="box-733">
            <a:extLst xmlns:a="http://schemas.openxmlformats.org/drawingml/2006/main">
              <a:ext uri="{FF2B5EF4-FFF2-40B4-BE49-F238E27FC236}">
                <a16:creationId xmlns:a16="http://schemas.microsoft.com/office/drawing/2014/main" id="{32DED55D-0632-4774-A8B8-C6851B39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734">
            <a:extLst xmlns:a="http://schemas.openxmlformats.org/drawingml/2006/main">
              <a:ext uri="{FF2B5EF4-FFF2-40B4-BE49-F238E27FC236}">
                <a16:creationId xmlns:a16="http://schemas.microsoft.com/office/drawing/2014/main" id="{EEBA28D9-1E56-42E6-A100-AD28C41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735">
            <a:extLst xmlns:a="http://schemas.openxmlformats.org/drawingml/2006/main">
              <a:ext uri="{FF2B5EF4-FFF2-40B4-BE49-F238E27FC236}">
                <a16:creationId xmlns:a16="http://schemas.microsoft.com/office/drawing/2014/main" id="{DE4F5EE7-69CE-41F6-A5E1-0F9BEC0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合成：换学习法后测验提高，仍要检查题目难度和额外练习是否同时变化。</a:t>
            </a:r>
          </a:p>
        </p:txBody>
      </p:sp>
      <p:sp>
        <p:nvSpPr>
          <p:cNvPr id="15" name="text-736">
            <a:extLst xmlns:a="http://schemas.openxmlformats.org/drawingml/2006/main">
              <a:ext uri="{FF2B5EF4-FFF2-40B4-BE49-F238E27FC236}">
                <a16:creationId xmlns:a16="http://schemas.microsoft.com/office/drawing/2014/main" id="{18933309-473C-4412-B819-4684FCB3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737">
            <a:extLst xmlns:a="http://schemas.openxmlformats.org/drawingml/2006/main">
              <a:ext uri="{FF2B5EF4-FFF2-40B4-BE49-F238E27FC236}">
                <a16:creationId xmlns:a16="http://schemas.microsoft.com/office/drawing/2014/main" id="{4CD85EA9-3903-4EAA-B84D-E6164EB2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一次前后变化不证明因果；个人试验不能直接推广到所有人。</a:t>
            </a:r>
          </a:p>
        </p:txBody>
      </p:sp>
    </p:spTree>
    <p:extLst>
      <p:ext uri="{BB962C8B-B14F-4D97-AF65-F5344CB8AC3E}">
        <p14:creationId xmlns:p14="http://schemas.microsoft.com/office/powerpoint/2010/main" val="142768341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738">
            <a:extLst xmlns:a="http://schemas.openxmlformats.org/drawingml/2006/main">
              <a:ext uri="{FF2B5EF4-FFF2-40B4-BE49-F238E27FC236}">
                <a16:creationId xmlns:a16="http://schemas.microsoft.com/office/drawing/2014/main" id="{9DDDD859-B230-4B69-8CF4-14C1C1C9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739">
            <a:extLst xmlns:a="http://schemas.openxmlformats.org/drawingml/2006/main">
              <a:ext uri="{FF2B5EF4-FFF2-40B4-BE49-F238E27FC236}">
                <a16:creationId xmlns:a16="http://schemas.microsoft.com/office/drawing/2014/main" id="{7F0E3449-4096-41E1-9C06-FAA6B8E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M05 决策理论</a:t>
            </a:r>
          </a:p>
        </p:txBody>
      </p:sp>
      <p:sp>
        <p:nvSpPr>
          <p:cNvPr id="3" name="claim-740">
            <a:extLst xmlns:a="http://schemas.openxmlformats.org/drawingml/2006/main">
              <a:ext uri="{FF2B5EF4-FFF2-40B4-BE49-F238E27FC236}">
                <a16:creationId xmlns:a16="http://schemas.microsoft.com/office/drawing/2014/main" id="{5C8110B2-F897-4CB3-BD9F-AF9BC6F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在真实目标和硬约束下比较可行选项，说明何时应该改选。</a:t>
            </a:r>
          </a:p>
        </p:txBody>
      </p:sp>
      <p:sp>
        <p:nvSpPr>
          <p:cNvPr id="4" name="box-741">
            <a:extLst xmlns:a="http://schemas.openxmlformats.org/drawingml/2006/main">
              <a:ext uri="{FF2B5EF4-FFF2-40B4-BE49-F238E27FC236}">
                <a16:creationId xmlns:a16="http://schemas.microsoft.com/office/drawing/2014/main" id="{E7B811C9-1D48-42B9-B3B4-04D7040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742">
            <a:extLst xmlns:a="http://schemas.openxmlformats.org/drawingml/2006/main">
              <a:ext uri="{FF2B5EF4-FFF2-40B4-BE49-F238E27FC236}">
                <a16:creationId xmlns:a16="http://schemas.microsoft.com/office/drawing/2014/main" id="{45AA164A-985F-4801-BED0-10C0300E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743">
            <a:extLst xmlns:a="http://schemas.openxmlformats.org/drawingml/2006/main">
              <a:ext uri="{FF2B5EF4-FFF2-40B4-BE49-F238E27FC236}">
                <a16:creationId xmlns:a16="http://schemas.microsoft.com/office/drawing/2014/main" id="{0EA6829D-0C7C-49E6-8364-35FE9AAB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744">
            <a:extLst xmlns:a="http://schemas.openxmlformats.org/drawingml/2006/main">
              <a:ext uri="{FF2B5EF4-FFF2-40B4-BE49-F238E27FC236}">
                <a16:creationId xmlns:a16="http://schemas.microsoft.com/office/drawing/2014/main" id="{73EC783D-6F58-4B81-8F07-449C8A1F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48 / 91</a:t>
            </a:r>
          </a:p>
        </p:txBody>
      </p:sp>
      <p:sp>
        <p:nvSpPr>
          <p:cNvPr id="8" name="text-745">
            <a:extLst xmlns:a="http://schemas.openxmlformats.org/drawingml/2006/main">
              <a:ext uri="{FF2B5EF4-FFF2-40B4-BE49-F238E27FC236}">
                <a16:creationId xmlns:a16="http://schemas.microsoft.com/office/drawing/2014/main" id="{CBAD18C3-CC56-4A17-B489-C7C830F3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746">
            <a:extLst xmlns:a="http://schemas.openxmlformats.org/drawingml/2006/main">
              <a:ext uri="{FF2B5EF4-FFF2-40B4-BE49-F238E27FC236}">
                <a16:creationId xmlns:a16="http://schemas.microsoft.com/office/drawing/2014/main" id="{0617932C-D415-4BF5-A49D-F0F28C8D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期望效用、风险厌恶与决策树</a:t>
            </a:r>
          </a:p>
        </p:txBody>
      </p:sp>
      <p:sp>
        <p:nvSpPr>
          <p:cNvPr id="10" name="text-747">
            <a:extLst xmlns:a="http://schemas.openxmlformats.org/drawingml/2006/main">
              <a:ext uri="{FF2B5EF4-FFF2-40B4-BE49-F238E27FC236}">
                <a16:creationId xmlns:a16="http://schemas.microsoft.com/office/drawing/2014/main" id="{DAD71E27-C17E-41DA-AF82-CFE39AB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信息价值、机会成本与可逆性</a:t>
            </a:r>
          </a:p>
        </p:txBody>
      </p:sp>
      <p:sp>
        <p:nvSpPr>
          <p:cNvPr id="11" name="text-748">
            <a:extLst xmlns:a="http://schemas.openxmlformats.org/drawingml/2006/main">
              <a:ext uri="{FF2B5EF4-FFF2-40B4-BE49-F238E27FC236}">
                <a16:creationId xmlns:a16="http://schemas.microsoft.com/office/drawing/2014/main" id="{0884DCD8-C92B-41A4-9729-FC226A2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多准则比较与敏感性分析</a:t>
            </a:r>
          </a:p>
        </p:txBody>
      </p:sp>
      <p:sp>
        <p:nvSpPr>
          <p:cNvPr id="12" name="text-749">
            <a:extLst xmlns:a="http://schemas.openxmlformats.org/drawingml/2006/main">
              <a:ext uri="{FF2B5EF4-FFF2-40B4-BE49-F238E27FC236}">
                <a16:creationId xmlns:a16="http://schemas.microsoft.com/office/drawing/2014/main" id="{FE55C7BB-B4FD-4963-BC88-493D3E19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未来选择、最坏后果与后悔</a:t>
            </a:r>
          </a:p>
        </p:txBody>
      </p:sp>
      <p:sp>
        <p:nvSpPr>
          <p:cNvPr id="13" name="text-750">
            <a:extLst xmlns:a="http://schemas.openxmlformats.org/drawingml/2006/main">
              <a:ext uri="{FF2B5EF4-FFF2-40B4-BE49-F238E27FC236}">
                <a16:creationId xmlns:a16="http://schemas.microsoft.com/office/drawing/2014/main" id="{FE1CEEC8-11D1-4A61-A212-EB069949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贯穿S1—S8；重点S1、S3、S4、S6。</a:t>
            </a:r>
          </a:p>
        </p:txBody>
      </p:sp>
      <p:sp>
        <p:nvSpPr>
          <p:cNvPr id="14" name="text-751">
            <a:extLst xmlns:a="http://schemas.openxmlformats.org/drawingml/2006/main">
              <a:ext uri="{FF2B5EF4-FFF2-40B4-BE49-F238E27FC236}">
                <a16:creationId xmlns:a16="http://schemas.microsoft.com/office/drawing/2014/main" id="{29624F35-7905-4896-9D48-C93F816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752">
            <a:extLst xmlns:a="http://schemas.openxmlformats.org/drawingml/2006/main">
              <a:ext uri="{FF2B5EF4-FFF2-40B4-BE49-F238E27FC236}">
                <a16:creationId xmlns:a16="http://schemas.microsoft.com/office/drawing/2014/main" id="{20F39396-CBE7-49D4-BC48-64FAB1D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用户目标、真实选项、硬约束、风险边界、证据与未定偏好。</a:t>
            </a:r>
          </a:p>
        </p:txBody>
      </p:sp>
      <p:sp>
        <p:nvSpPr>
          <p:cNvPr id="16" name="text-753">
            <a:extLst xmlns:a="http://schemas.openxmlformats.org/drawingml/2006/main">
              <a:ext uri="{FF2B5EF4-FFF2-40B4-BE49-F238E27FC236}">
                <a16:creationId xmlns:a16="http://schemas.microsoft.com/office/drawing/2014/main" id="{AB7C3BB3-F508-4BC6-A6D6-429E9BEA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9128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754">
            <a:extLst xmlns:a="http://schemas.openxmlformats.org/drawingml/2006/main">
              <a:ext uri="{FF2B5EF4-FFF2-40B4-BE49-F238E27FC236}">
                <a16:creationId xmlns:a16="http://schemas.microsoft.com/office/drawing/2014/main" id="{7032A88A-C48B-4409-8EA7-8406946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8703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先筛约束；比较情景、成本和可逆性；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有依据才估概率；检验反转条件。</a:t>
            </a:r>
          </a:p>
        </p:txBody>
      </p:sp>
      <p:sp>
        <p:nvSpPr>
          <p:cNvPr id="18" name="text-755">
            <a:extLst xmlns:a="http://schemas.openxmlformats.org/drawingml/2006/main">
              <a:ext uri="{FF2B5EF4-FFF2-40B4-BE49-F238E27FC236}">
                <a16:creationId xmlns:a16="http://schemas.microsoft.com/office/drawing/2014/main" id="{07EB73E4-70FF-4DB3-9D6F-B22FE5F6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3934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756">
            <a:extLst xmlns:a="http://schemas.openxmlformats.org/drawingml/2006/main">
              <a:ext uri="{FF2B5EF4-FFF2-40B4-BE49-F238E27FC236}">
                <a16:creationId xmlns:a16="http://schemas.microsoft.com/office/drawing/2014/main" id="{D7D0C191-D454-4ECF-B629-8DE58E44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3509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选项表、条件建议、反对理由、下一步与复盘点。</a:t>
            </a:r>
          </a:p>
        </p:txBody>
      </p:sp>
      <p:sp>
        <p:nvSpPr>
          <p:cNvPr id="20" name="box-757">
            <a:extLst xmlns:a="http://schemas.openxmlformats.org/drawingml/2006/main">
              <a:ext uri="{FF2B5EF4-FFF2-40B4-BE49-F238E27FC236}">
                <a16:creationId xmlns:a16="http://schemas.microsoft.com/office/drawing/2014/main" id="{15CF4023-E1F1-497C-A88F-E1D7ED95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758">
            <a:extLst xmlns:a="http://schemas.openxmlformats.org/drawingml/2006/main">
              <a:ext uri="{FF2B5EF4-FFF2-40B4-BE49-F238E27FC236}">
                <a16:creationId xmlns:a16="http://schemas.microsoft.com/office/drawing/2014/main" id="{23D24448-987E-432B-942E-6051960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759">
            <a:extLst xmlns:a="http://schemas.openxmlformats.org/drawingml/2006/main">
              <a:ext uri="{FF2B5EF4-FFF2-40B4-BE49-F238E27FC236}">
                <a16:creationId xmlns:a16="http://schemas.microsoft.com/office/drawing/2014/main" id="{EA58B0B5-A7D9-4D7A-9212-EC737014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合成：全职学习超出现金边界时，比较在职试学、延后和其他可行路径。</a:t>
            </a:r>
          </a:p>
        </p:txBody>
      </p:sp>
      <p:sp>
        <p:nvSpPr>
          <p:cNvPr id="23" name="text-760">
            <a:extLst xmlns:a="http://schemas.openxmlformats.org/drawingml/2006/main">
              <a:ext uri="{FF2B5EF4-FFF2-40B4-BE49-F238E27FC236}">
                <a16:creationId xmlns:a16="http://schemas.microsoft.com/office/drawing/2014/main" id="{A61E59D3-E35A-43A4-A4D8-37D2A483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761">
            <a:extLst xmlns:a="http://schemas.openxmlformats.org/drawingml/2006/main">
              <a:ext uri="{FF2B5EF4-FFF2-40B4-BE49-F238E27FC236}">
                <a16:creationId xmlns:a16="http://schemas.microsoft.com/office/drawing/2014/main" id="{1BE9AC59-2295-44CA-8DFC-9B2F5B6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高评分不能抵消硬约束；主观权重与虚构成功率都不是事实。</a:t>
            </a:r>
          </a:p>
        </p:txBody>
      </p:sp>
    </p:spTree>
    <p:extLst>
      <p:ext uri="{BB962C8B-B14F-4D97-AF65-F5344CB8AC3E}">
        <p14:creationId xmlns:p14="http://schemas.microsoft.com/office/powerpoint/2010/main" val="76234219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62">
            <a:extLst xmlns:a="http://schemas.openxmlformats.org/drawingml/2006/main">
              <a:ext uri="{FF2B5EF4-FFF2-40B4-BE49-F238E27FC236}">
                <a16:creationId xmlns:a16="http://schemas.microsoft.com/office/drawing/2014/main" id="{0F858C77-4FA5-4108-927E-14B85823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763">
            <a:extLst xmlns:a="http://schemas.openxmlformats.org/drawingml/2006/main">
              <a:ext uri="{FF2B5EF4-FFF2-40B4-BE49-F238E27FC236}">
                <a16:creationId xmlns:a16="http://schemas.microsoft.com/office/drawing/2014/main" id="{8AC5AC73-BAAE-4EB7-8055-EF8E411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M06 运筹学</a:t>
            </a:r>
          </a:p>
        </p:txBody>
      </p:sp>
      <p:sp>
        <p:nvSpPr>
          <p:cNvPr id="3" name="claim-764">
            <a:extLst xmlns:a="http://schemas.openxmlformats.org/drawingml/2006/main">
              <a:ext uri="{FF2B5EF4-FFF2-40B4-BE49-F238E27FC236}">
                <a16:creationId xmlns:a16="http://schemas.microsoft.com/office/drawing/2014/main" id="{E5855DE8-1F53-4BF1-BD7E-2ADDB7CA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把争夺时间和预算的任务放在一起，寻找可执行的分配与调度。</a:t>
            </a:r>
          </a:p>
        </p:txBody>
      </p:sp>
      <p:sp>
        <p:nvSpPr>
          <p:cNvPr id="4" name="box-765">
            <a:extLst xmlns:a="http://schemas.openxmlformats.org/drawingml/2006/main">
              <a:ext uri="{FF2B5EF4-FFF2-40B4-BE49-F238E27FC236}">
                <a16:creationId xmlns:a16="http://schemas.microsoft.com/office/drawing/2014/main" id="{E85E5A59-D0AC-477E-8EE0-574E9167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766">
            <a:extLst xmlns:a="http://schemas.openxmlformats.org/drawingml/2006/main">
              <a:ext uri="{FF2B5EF4-FFF2-40B4-BE49-F238E27FC236}">
                <a16:creationId xmlns:a16="http://schemas.microsoft.com/office/drawing/2014/main" id="{CECF5E71-B026-4BF6-8261-55E366A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767">
            <a:extLst xmlns:a="http://schemas.openxmlformats.org/drawingml/2006/main">
              <a:ext uri="{FF2B5EF4-FFF2-40B4-BE49-F238E27FC236}">
                <a16:creationId xmlns:a16="http://schemas.microsoft.com/office/drawing/2014/main" id="{24492DD4-282D-4BE9-9469-9132EEAC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768">
            <a:extLst xmlns:a="http://schemas.openxmlformats.org/drawingml/2006/main">
              <a:ext uri="{FF2B5EF4-FFF2-40B4-BE49-F238E27FC236}">
                <a16:creationId xmlns:a16="http://schemas.microsoft.com/office/drawing/2014/main" id="{385FF9C2-C4CC-4F70-A099-89FA327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49 / 91</a:t>
            </a:r>
          </a:p>
        </p:txBody>
      </p:sp>
      <p:sp>
        <p:nvSpPr>
          <p:cNvPr id="8" name="text-769">
            <a:extLst xmlns:a="http://schemas.openxmlformats.org/drawingml/2006/main">
              <a:ext uri="{FF2B5EF4-FFF2-40B4-BE49-F238E27FC236}">
                <a16:creationId xmlns:a16="http://schemas.microsoft.com/office/drawing/2014/main" id="{F5B0477C-7A10-4232-B48C-A4F7E45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770">
            <a:extLst xmlns:a="http://schemas.openxmlformats.org/drawingml/2006/main">
              <a:ext uri="{FF2B5EF4-FFF2-40B4-BE49-F238E27FC236}">
                <a16:creationId xmlns:a16="http://schemas.microsoft.com/office/drawing/2014/main" id="{912575CD-187B-4D44-9710-93E1494D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线性与整数规划；资源配置、调度与网络流；排队与容量；多目标、可行解与启发式方案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资源总量、任务依赖、耗时成本范围、期限、容量和硬约束。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定义变量和约束；先查可行性；求解或安排；对超时、减员和资源减少作检查。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资源表、时间安排、求解状态、未满足需求和缓冲。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771">
            <a:extLst xmlns:a="http://schemas.openxmlformats.org/drawingml/2006/main">
              <a:ext uri="{FF2B5EF4-FFF2-40B4-BE49-F238E27FC236}">
                <a16:creationId xmlns:a16="http://schemas.microsoft.com/office/drawing/2014/main" id="{CF31EF0E-47E0-4F64-84D2-42ECDAAD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常用S1、S3、S4、S7、S8；按需跨用。</a:t>
            </a:r>
          </a:p>
        </p:txBody>
      </p:sp>
      <p:sp>
        <p:nvSpPr>
          <p:cNvPr id="12" name="box-772">
            <a:extLst xmlns:a="http://schemas.openxmlformats.org/drawingml/2006/main">
              <a:ext uri="{FF2B5EF4-FFF2-40B4-BE49-F238E27FC236}">
                <a16:creationId xmlns:a16="http://schemas.microsoft.com/office/drawing/2014/main" id="{90F82E69-556B-4478-9438-B1497EE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773">
            <a:extLst xmlns:a="http://schemas.openxmlformats.org/drawingml/2006/main">
              <a:ext uri="{FF2B5EF4-FFF2-40B4-BE49-F238E27FC236}">
                <a16:creationId xmlns:a16="http://schemas.microsoft.com/office/drawing/2014/main" id="{84E9574A-2939-490E-8F88-E2B8CA7C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774">
            <a:extLst xmlns:a="http://schemas.openxmlformats.org/drawingml/2006/main">
              <a:ext uri="{FF2B5EF4-FFF2-40B4-BE49-F238E27FC236}">
                <a16:creationId xmlns:a16="http://schemas.microsoft.com/office/drawing/2014/main" id="{51367D03-B403-434D-8A92-F38C7F5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合成：周末可用6小时，两项任务各需4小时，原组合不可行，需延期或缩减。</a:t>
            </a:r>
          </a:p>
        </p:txBody>
      </p:sp>
      <p:sp>
        <p:nvSpPr>
          <p:cNvPr id="15" name="text-775">
            <a:extLst xmlns:a="http://schemas.openxmlformats.org/drawingml/2006/main">
              <a:ext uri="{FF2B5EF4-FFF2-40B4-BE49-F238E27FC236}">
                <a16:creationId xmlns:a16="http://schemas.microsoft.com/office/drawing/2014/main" id="{9C906E32-1D56-4AB2-96CC-F41FC8B1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776">
            <a:extLst xmlns:a="http://schemas.openxmlformats.org/drawingml/2006/main">
              <a:ext uri="{FF2B5EF4-FFF2-40B4-BE49-F238E27FC236}">
                <a16:creationId xmlns:a16="http://schemas.microsoft.com/office/drawing/2014/main" id="{DD737892-CF93-4796-BDE3-DA50AA75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纸面最优可能忽略疲劳、切换和突发；未求解不能声称最优。</a:t>
            </a:r>
          </a:p>
        </p:txBody>
      </p:sp>
    </p:spTree>
    <p:extLst>
      <p:ext uri="{BB962C8B-B14F-4D97-AF65-F5344CB8AC3E}">
        <p14:creationId xmlns:p14="http://schemas.microsoft.com/office/powerpoint/2010/main" val="191968155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777">
            <a:extLst xmlns:a="http://schemas.openxmlformats.org/drawingml/2006/main">
              <a:ext uri="{FF2B5EF4-FFF2-40B4-BE49-F238E27FC236}">
                <a16:creationId xmlns:a16="http://schemas.microsoft.com/office/drawing/2014/main" id="{FF07C2A0-EF91-4E59-9FE3-7F4E04B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778">
            <a:extLst xmlns:a="http://schemas.openxmlformats.org/drawingml/2006/main">
              <a:ext uri="{FF2B5EF4-FFF2-40B4-BE49-F238E27FC236}">
                <a16:creationId xmlns:a16="http://schemas.microsoft.com/office/drawing/2014/main" id="{1C7011E2-4141-418B-9423-D8B23CE6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M07 博弈论</a:t>
            </a:r>
          </a:p>
        </p:txBody>
      </p:sp>
      <p:sp>
        <p:nvSpPr>
          <p:cNvPr id="3" name="claim-779">
            <a:extLst xmlns:a="http://schemas.openxmlformats.org/drawingml/2006/main">
              <a:ext uri="{FF2B5EF4-FFF2-40B4-BE49-F238E27FC236}">
                <a16:creationId xmlns:a16="http://schemas.microsoft.com/office/drawing/2014/main" id="{C379CA95-7B85-478F-ADF1-DFA541E8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把他人的可能回应纳入方案，设计能核验、能履行的合作条件。</a:t>
            </a:r>
          </a:p>
        </p:txBody>
      </p:sp>
      <p:sp>
        <p:nvSpPr>
          <p:cNvPr id="4" name="box-780">
            <a:extLst xmlns:a="http://schemas.openxmlformats.org/drawingml/2006/main">
              <a:ext uri="{FF2B5EF4-FFF2-40B4-BE49-F238E27FC236}">
                <a16:creationId xmlns:a16="http://schemas.microsoft.com/office/drawing/2014/main" id="{AFC67FD8-4962-43EC-AA6E-3317283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781">
            <a:extLst xmlns:a="http://schemas.openxmlformats.org/drawingml/2006/main">
              <a:ext uri="{FF2B5EF4-FFF2-40B4-BE49-F238E27FC236}">
                <a16:creationId xmlns:a16="http://schemas.microsoft.com/office/drawing/2014/main" id="{9F17AA91-A42B-4E2E-964A-5C7A41B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782">
            <a:extLst xmlns:a="http://schemas.openxmlformats.org/drawingml/2006/main">
              <a:ext uri="{FF2B5EF4-FFF2-40B4-BE49-F238E27FC236}">
                <a16:creationId xmlns:a16="http://schemas.microsoft.com/office/drawing/2014/main" id="{9C22CCF0-FFD7-4C98-9E4A-8DEAD05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783">
            <a:extLst xmlns:a="http://schemas.openxmlformats.org/drawingml/2006/main">
              <a:ext uri="{FF2B5EF4-FFF2-40B4-BE49-F238E27FC236}">
                <a16:creationId xmlns:a16="http://schemas.microsoft.com/office/drawing/2014/main" id="{EB2617A4-8F29-4574-BE2A-584279EA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50 / 91</a:t>
            </a:r>
          </a:p>
        </p:txBody>
      </p:sp>
      <p:sp>
        <p:nvSpPr>
          <p:cNvPr id="8" name="text-784">
            <a:extLst xmlns:a="http://schemas.openxmlformats.org/drawingml/2006/main">
              <a:ext uri="{FF2B5EF4-FFF2-40B4-BE49-F238E27FC236}">
                <a16:creationId xmlns:a16="http://schemas.microsoft.com/office/drawing/2014/main" id="{38D37ADF-47C0-423A-9FBC-BE6B161A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785">
            <a:extLst xmlns:a="http://schemas.openxmlformats.org/drawingml/2006/main">
              <a:ext uri="{FF2B5EF4-FFF2-40B4-BE49-F238E27FC236}">
                <a16:creationId xmlns:a16="http://schemas.microsoft.com/office/drawing/2014/main" id="{A2E3C16C-8978-471F-AFB4-513F949B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策略、收益与最佳反应</a:t>
            </a:r>
          </a:p>
        </p:txBody>
      </p:sp>
      <p:sp>
        <p:nvSpPr>
          <p:cNvPr id="10" name="text-786">
            <a:extLst xmlns:a="http://schemas.openxmlformats.org/drawingml/2006/main">
              <a:ext uri="{FF2B5EF4-FFF2-40B4-BE49-F238E27FC236}">
                <a16:creationId xmlns:a16="http://schemas.microsoft.com/office/drawing/2014/main" id="{FEC9B046-964D-4E2D-83CB-559284EA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纳什均衡与重复博弈</a:t>
            </a:r>
          </a:p>
        </p:txBody>
      </p:sp>
      <p:sp>
        <p:nvSpPr>
          <p:cNvPr id="11" name="text-787">
            <a:extLst xmlns:a="http://schemas.openxmlformats.org/drawingml/2006/main">
              <a:ext uri="{FF2B5EF4-FFF2-40B4-BE49-F238E27FC236}">
                <a16:creationId xmlns:a16="http://schemas.microsoft.com/office/drawing/2014/main" id="{FEA5702A-8652-4FE8-A966-52B3D04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信息不对称、信号与承诺</a:t>
            </a:r>
          </a:p>
        </p:txBody>
      </p:sp>
      <p:sp>
        <p:nvSpPr>
          <p:cNvPr id="12" name="text-788">
            <a:extLst xmlns:a="http://schemas.openxmlformats.org/drawingml/2006/main">
              <a:ext uri="{FF2B5EF4-FFF2-40B4-BE49-F238E27FC236}">
                <a16:creationId xmlns:a16="http://schemas.microsoft.com/office/drawing/2014/main" id="{E94C8049-55C4-4CEA-A0DD-5BFD391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激励相容、合作与违约诱因</a:t>
            </a:r>
          </a:p>
        </p:txBody>
      </p:sp>
      <p:sp>
        <p:nvSpPr>
          <p:cNvPr id="13" name="text-789">
            <a:extLst xmlns:a="http://schemas.openxmlformats.org/drawingml/2006/main">
              <a:ext uri="{FF2B5EF4-FFF2-40B4-BE49-F238E27FC236}">
                <a16:creationId xmlns:a16="http://schemas.microsoft.com/office/drawing/2014/main" id="{F357C8DE-07FB-4E52-ACFA-64365C6B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常用S2—S4、S6—S7；按需跨用。</a:t>
            </a:r>
          </a:p>
        </p:txBody>
      </p:sp>
      <p:sp>
        <p:nvSpPr>
          <p:cNvPr id="14" name="text-790">
            <a:extLst xmlns:a="http://schemas.openxmlformats.org/drawingml/2006/main">
              <a:ext uri="{FF2B5EF4-FFF2-40B4-BE49-F238E27FC236}">
                <a16:creationId xmlns:a16="http://schemas.microsoft.com/office/drawing/2014/main" id="{8402ED77-FA8F-49A6-8001-3FC9F19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791">
            <a:extLst xmlns:a="http://schemas.openxmlformats.org/drawingml/2006/main">
              <a:ext uri="{FF2B5EF4-FFF2-40B4-BE49-F238E27FC236}">
                <a16:creationId xmlns:a16="http://schemas.microsoft.com/office/drawing/2014/main" id="{262974EB-6E72-495A-8CB2-5CE05DA2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参与者、可选行动、已知利益、信息分布、顺序和已有约定。</a:t>
            </a:r>
          </a:p>
        </p:txBody>
      </p:sp>
      <p:sp>
        <p:nvSpPr>
          <p:cNvPr id="16" name="text-792">
            <a:extLst xmlns:a="http://schemas.openxmlformats.org/drawingml/2006/main">
              <a:ext uri="{FF2B5EF4-FFF2-40B4-BE49-F238E27FC236}">
                <a16:creationId xmlns:a16="http://schemas.microsoft.com/office/drawing/2014/main" id="{FB9ACF10-A696-4A54-B664-A4C035BC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9128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793">
            <a:extLst xmlns:a="http://schemas.openxmlformats.org/drawingml/2006/main">
              <a:ext uri="{FF2B5EF4-FFF2-40B4-BE49-F238E27FC236}">
                <a16:creationId xmlns:a16="http://schemas.microsoft.com/office/drawing/2014/main" id="{D390B456-18AC-48DF-9189-17496E96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8703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分清利益事实与动机猜测；推演合理回应；检查承诺；比较合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作和破裂备选。</a:t>
            </a:r>
          </a:p>
        </p:txBody>
      </p:sp>
      <p:sp>
        <p:nvSpPr>
          <p:cNvPr id="18" name="text-794">
            <a:extLst xmlns:a="http://schemas.openxmlformats.org/drawingml/2006/main">
              <a:ext uri="{FF2B5EF4-FFF2-40B4-BE49-F238E27FC236}">
                <a16:creationId xmlns:a16="http://schemas.microsoft.com/office/drawing/2014/main" id="{BDDD77C1-295A-436C-9A8C-A710718C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3934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795">
            <a:extLst xmlns:a="http://schemas.openxmlformats.org/drawingml/2006/main">
              <a:ext uri="{FF2B5EF4-FFF2-40B4-BE49-F238E27FC236}">
                <a16:creationId xmlns:a16="http://schemas.microsoft.com/office/drawing/2014/main" id="{A641569F-006F-413E-83DD-7674D50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3509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利益信息表、回应情景、合作条件和谈判备选。</a:t>
            </a:r>
          </a:p>
        </p:txBody>
      </p:sp>
      <p:sp>
        <p:nvSpPr>
          <p:cNvPr id="20" name="box-796">
            <a:extLst xmlns:a="http://schemas.openxmlformats.org/drawingml/2006/main">
              <a:ext uri="{FF2B5EF4-FFF2-40B4-BE49-F238E27FC236}">
                <a16:creationId xmlns:a16="http://schemas.microsoft.com/office/drawing/2014/main" id="{45930048-BB92-4A05-A843-5730BAF0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797">
            <a:extLst xmlns:a="http://schemas.openxmlformats.org/drawingml/2006/main">
              <a:ext uri="{FF2B5EF4-FFF2-40B4-BE49-F238E27FC236}">
                <a16:creationId xmlns:a16="http://schemas.microsoft.com/office/drawing/2014/main" id="{D163D520-09CF-4667-8645-63B89525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798">
            <a:extLst xmlns:a="http://schemas.openxmlformats.org/drawingml/2006/main">
              <a:ext uri="{FF2B5EF4-FFF2-40B4-BE49-F238E27FC236}">
                <a16:creationId xmlns:a16="http://schemas.microsoft.com/office/drawing/2014/main" id="{E64AD030-165A-4855-96D9-C0D875C3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合成：合作项目分阶段验收后付款，双方仍需核对验收标准与各自承担的风险。</a:t>
            </a:r>
          </a:p>
        </p:txBody>
      </p:sp>
      <p:sp>
        <p:nvSpPr>
          <p:cNvPr id="23" name="text-799">
            <a:extLst xmlns:a="http://schemas.openxmlformats.org/drawingml/2006/main">
              <a:ext uri="{FF2B5EF4-FFF2-40B4-BE49-F238E27FC236}">
                <a16:creationId xmlns:a16="http://schemas.microsoft.com/office/drawing/2014/main" id="{6D54D9AD-818D-4E6F-ADCE-92E287C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800">
            <a:extLst xmlns:a="http://schemas.openxmlformats.org/drawingml/2006/main">
              <a:ext uri="{FF2B5EF4-FFF2-40B4-BE49-F238E27FC236}">
                <a16:creationId xmlns:a16="http://schemas.microsoft.com/office/drawing/2014/main" id="{5C3499F4-BFF2-48D1-AA19-9A05F49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均衡不代表公平或必然发生；不能假定读懂他人动机。</a:t>
            </a:r>
          </a:p>
        </p:txBody>
      </p:sp>
    </p:spTree>
    <p:extLst>
      <p:ext uri="{BB962C8B-B14F-4D97-AF65-F5344CB8AC3E}">
        <p14:creationId xmlns:p14="http://schemas.microsoft.com/office/powerpoint/2010/main" val="203551597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801">
            <a:extLst xmlns:a="http://schemas.openxmlformats.org/drawingml/2006/main">
              <a:ext uri="{FF2B5EF4-FFF2-40B4-BE49-F238E27FC236}">
                <a16:creationId xmlns:a16="http://schemas.microsoft.com/office/drawing/2014/main" id="{E1B2DF0E-96B3-4265-998C-9A632F1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802">
            <a:extLst xmlns:a="http://schemas.openxmlformats.org/drawingml/2006/main">
              <a:ext uri="{FF2B5EF4-FFF2-40B4-BE49-F238E27FC236}">
                <a16:creationId xmlns:a16="http://schemas.microsoft.com/office/drawing/2014/main" id="{C5785226-2989-4E19-9698-BA763A20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M08 微观经济学与宏观经济学</a:t>
            </a:r>
          </a:p>
        </p:txBody>
      </p:sp>
      <p:sp>
        <p:nvSpPr>
          <p:cNvPr id="3" name="claim-803">
            <a:extLst xmlns:a="http://schemas.openxmlformats.org/drawingml/2006/main">
              <a:ext uri="{FF2B5EF4-FFF2-40B4-BE49-F238E27FC236}">
                <a16:creationId xmlns:a16="http://schemas.microsoft.com/office/drawing/2014/main" id="{97737955-C341-4109-A783-23804222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解释需求、成本与激励如何影响选择，检查外部经济变化的传导途径。</a:t>
            </a:r>
          </a:p>
        </p:txBody>
      </p:sp>
      <p:sp>
        <p:nvSpPr>
          <p:cNvPr id="4" name="box-804">
            <a:extLst xmlns:a="http://schemas.openxmlformats.org/drawingml/2006/main">
              <a:ext uri="{FF2B5EF4-FFF2-40B4-BE49-F238E27FC236}">
                <a16:creationId xmlns:a16="http://schemas.microsoft.com/office/drawing/2014/main" id="{B79DB433-EA35-4D37-8A89-C00F189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05">
            <a:extLst xmlns:a="http://schemas.openxmlformats.org/drawingml/2006/main">
              <a:ext uri="{FF2B5EF4-FFF2-40B4-BE49-F238E27FC236}">
                <a16:creationId xmlns:a16="http://schemas.microsoft.com/office/drawing/2014/main" id="{CC0F1EBE-7114-4734-A269-BF55C8B7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06">
            <a:extLst xmlns:a="http://schemas.openxmlformats.org/drawingml/2006/main">
              <a:ext uri="{FF2B5EF4-FFF2-40B4-BE49-F238E27FC236}">
                <a16:creationId xmlns:a16="http://schemas.microsoft.com/office/drawing/2014/main" id="{F359236A-1373-473A-9849-30DB7FE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807">
            <a:extLst xmlns:a="http://schemas.openxmlformats.org/drawingml/2006/main">
              <a:ext uri="{FF2B5EF4-FFF2-40B4-BE49-F238E27FC236}">
                <a16:creationId xmlns:a16="http://schemas.microsoft.com/office/drawing/2014/main" id="{5D17BF60-470E-472C-8831-2AACC6F6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51 / 91</a:t>
            </a:r>
          </a:p>
        </p:txBody>
      </p:sp>
      <p:sp>
        <p:nvSpPr>
          <p:cNvPr id="8" name="text-808">
            <a:extLst xmlns:a="http://schemas.openxmlformats.org/drawingml/2006/main">
              <a:ext uri="{FF2B5EF4-FFF2-40B4-BE49-F238E27FC236}">
                <a16:creationId xmlns:a16="http://schemas.microsoft.com/office/drawing/2014/main" id="{B9B4265F-C195-4908-AAA8-7BB335AC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809">
            <a:extLst xmlns:a="http://schemas.openxmlformats.org/drawingml/2006/main">
              <a:ext uri="{FF2B5EF4-FFF2-40B4-BE49-F238E27FC236}">
                <a16:creationId xmlns:a16="http://schemas.microsoft.com/office/drawing/2014/main" id="{7F0FFC52-1AF5-458F-9CDE-F19FF6ED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供需、边际成本与机会成本；外部性、交易成本与委托代理；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逆向选择、道德风险与激励；通胀、就业、利率、货币财政与周期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市场地区、需求证据、价格成本、替代品、合同和数据日期口径。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分清可影响变量与外部条件；分析单位收支和激励；用情景及小试验证需求。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需求成本证据、激励结构、现金影响和验证计划。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810">
            <a:extLst xmlns:a="http://schemas.openxmlformats.org/drawingml/2006/main">
              <a:ext uri="{FF2B5EF4-FFF2-40B4-BE49-F238E27FC236}">
                <a16:creationId xmlns:a16="http://schemas.microsoft.com/office/drawing/2014/main" id="{FE11C989-6DB0-43D0-BEE4-76DB8F5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常用S2—S4；按需跨用。</a:t>
            </a:r>
          </a:p>
        </p:txBody>
      </p:sp>
      <p:sp>
        <p:nvSpPr>
          <p:cNvPr id="12" name="box-811">
            <a:extLst xmlns:a="http://schemas.openxmlformats.org/drawingml/2006/main">
              <a:ext uri="{FF2B5EF4-FFF2-40B4-BE49-F238E27FC236}">
                <a16:creationId xmlns:a16="http://schemas.microsoft.com/office/drawing/2014/main" id="{DAE4B9AF-4627-4877-A023-F547B78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812">
            <a:extLst xmlns:a="http://schemas.openxmlformats.org/drawingml/2006/main">
              <a:ext uri="{FF2B5EF4-FFF2-40B4-BE49-F238E27FC236}">
                <a16:creationId xmlns:a16="http://schemas.microsoft.com/office/drawing/2014/main" id="{2BE2D073-0378-4F23-B188-282D2F51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813">
            <a:extLst xmlns:a="http://schemas.openxmlformats.org/drawingml/2006/main">
              <a:ext uri="{FF2B5EF4-FFF2-40B4-BE49-F238E27FC236}">
                <a16:creationId xmlns:a16="http://schemas.microsoft.com/office/drawing/2014/main" id="{2F39E191-987C-4808-99B4-DE263C5D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合成：课程报价低仍可能不划算，应加上时间成本并验证它是否满足真实需求。</a:t>
            </a:r>
          </a:p>
        </p:txBody>
      </p:sp>
      <p:sp>
        <p:nvSpPr>
          <p:cNvPr id="15" name="text-814">
            <a:extLst xmlns:a="http://schemas.openxmlformats.org/drawingml/2006/main">
              <a:ext uri="{FF2B5EF4-FFF2-40B4-BE49-F238E27FC236}">
                <a16:creationId xmlns:a16="http://schemas.microsoft.com/office/drawing/2014/main" id="{963D59B6-8E03-445F-AA1C-12388C57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815">
            <a:extLst xmlns:a="http://schemas.openxmlformats.org/drawingml/2006/main">
              <a:ext uri="{FF2B5EF4-FFF2-40B4-BE49-F238E27FC236}">
                <a16:creationId xmlns:a16="http://schemas.microsoft.com/office/drawing/2014/main" id="{DF8C2F41-3F09-48AA-BAA6-E114D48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宏观故事不能直接推出个人收入或资产价格方向。</a:t>
            </a:r>
          </a:p>
        </p:txBody>
      </p:sp>
    </p:spTree>
    <p:extLst>
      <p:ext uri="{BB962C8B-B14F-4D97-AF65-F5344CB8AC3E}">
        <p14:creationId xmlns:p14="http://schemas.microsoft.com/office/powerpoint/2010/main" val="96953456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16">
            <a:extLst xmlns:a="http://schemas.openxmlformats.org/drawingml/2006/main">
              <a:ext uri="{FF2B5EF4-FFF2-40B4-BE49-F238E27FC236}">
                <a16:creationId xmlns:a16="http://schemas.microsoft.com/office/drawing/2014/main" id="{5F6D899E-64AA-4550-B210-0E6058E9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817">
            <a:extLst xmlns:a="http://schemas.openxmlformats.org/drawingml/2006/main">
              <a:ext uri="{FF2B5EF4-FFF2-40B4-BE49-F238E27FC236}">
                <a16:creationId xmlns:a16="http://schemas.microsoft.com/office/drawing/2014/main" id="{32419E02-BF18-4041-B95E-27FA6B0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M09 马克思主义政治经济学</a:t>
            </a:r>
          </a:p>
        </p:txBody>
      </p:sp>
      <p:sp>
        <p:nvSpPr>
          <p:cNvPr id="3" name="claim-818">
            <a:extLst xmlns:a="http://schemas.openxmlformats.org/drawingml/2006/main">
              <a:ext uri="{FF2B5EF4-FFF2-40B4-BE49-F238E27FC236}">
                <a16:creationId xmlns:a16="http://schemas.microsoft.com/office/drawing/2014/main" id="{27F4103D-6B21-45BB-A270-49DD5E1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梳理资源投入、劳动、控制权和分配关系，理解选择受到的结构性条件。</a:t>
            </a:r>
          </a:p>
        </p:txBody>
      </p:sp>
      <p:sp>
        <p:nvSpPr>
          <p:cNvPr id="4" name="box-819">
            <a:extLst xmlns:a="http://schemas.openxmlformats.org/drawingml/2006/main">
              <a:ext uri="{FF2B5EF4-FFF2-40B4-BE49-F238E27FC236}">
                <a16:creationId xmlns:a16="http://schemas.microsoft.com/office/drawing/2014/main" id="{91AACCD2-7C03-4084-AB95-6AF555D2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20">
            <a:extLst xmlns:a="http://schemas.openxmlformats.org/drawingml/2006/main">
              <a:ext uri="{FF2B5EF4-FFF2-40B4-BE49-F238E27FC236}">
                <a16:creationId xmlns:a16="http://schemas.microsoft.com/office/drawing/2014/main" id="{300E741C-CA13-4F0F-87C5-6A3FABD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21">
            <a:extLst xmlns:a="http://schemas.openxmlformats.org/drawingml/2006/main">
              <a:ext uri="{FF2B5EF4-FFF2-40B4-BE49-F238E27FC236}">
                <a16:creationId xmlns:a16="http://schemas.microsoft.com/office/drawing/2014/main" id="{832F9A1F-3930-4EA9-9DA7-69C461E6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822">
            <a:extLst xmlns:a="http://schemas.openxmlformats.org/drawingml/2006/main">
              <a:ext uri="{FF2B5EF4-FFF2-40B4-BE49-F238E27FC236}">
                <a16:creationId xmlns:a16="http://schemas.microsoft.com/office/drawing/2014/main" id="{45BE227B-A801-47FE-917F-CBA145F9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52 / 91</a:t>
            </a:r>
          </a:p>
        </p:txBody>
      </p:sp>
      <p:sp>
        <p:nvSpPr>
          <p:cNvPr id="8" name="text-823">
            <a:extLst xmlns:a="http://schemas.openxmlformats.org/drawingml/2006/main">
              <a:ext uri="{FF2B5EF4-FFF2-40B4-BE49-F238E27FC236}">
                <a16:creationId xmlns:a16="http://schemas.microsoft.com/office/drawing/2014/main" id="{7258DAB7-0560-43EA-AEA2-8EDC789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824">
            <a:extLst xmlns:a="http://schemas.openxmlformats.org/drawingml/2006/main">
              <a:ext uri="{FF2B5EF4-FFF2-40B4-BE49-F238E27FC236}">
                <a16:creationId xmlns:a16="http://schemas.microsoft.com/office/drawing/2014/main" id="{5AD8831C-E320-417B-B87F-111D4EC1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生产力与生产关系</a:t>
            </a:r>
          </a:p>
        </p:txBody>
      </p:sp>
      <p:sp>
        <p:nvSpPr>
          <p:cNvPr id="10" name="text-825">
            <a:extLst xmlns:a="http://schemas.openxmlformats.org/drawingml/2006/main">
              <a:ext uri="{FF2B5EF4-FFF2-40B4-BE49-F238E27FC236}">
                <a16:creationId xmlns:a16="http://schemas.microsoft.com/office/drawing/2014/main" id="{CB5DF6EC-E4D7-4108-9BD4-CF8BC52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资本、劳动、价值与剩余价值</a:t>
            </a:r>
          </a:p>
        </p:txBody>
      </p:sp>
      <p:sp>
        <p:nvSpPr>
          <p:cNvPr id="11" name="text-826">
            <a:extLst xmlns:a="http://schemas.openxmlformats.org/drawingml/2006/main">
              <a:ext uri="{FF2B5EF4-FFF2-40B4-BE49-F238E27FC236}">
                <a16:creationId xmlns:a16="http://schemas.microsoft.com/office/drawing/2014/main" id="{48E75697-76A7-4E25-B1AE-2D30525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积累、分配与利益结构</a:t>
            </a:r>
          </a:p>
        </p:txBody>
      </p:sp>
      <p:sp>
        <p:nvSpPr>
          <p:cNvPr id="12" name="text-827">
            <a:extLst xmlns:a="http://schemas.openxmlformats.org/drawingml/2006/main">
              <a:ext uri="{FF2B5EF4-FFF2-40B4-BE49-F238E27FC236}">
                <a16:creationId xmlns:a16="http://schemas.microsoft.com/office/drawing/2014/main" id="{C42823D9-4912-4FCF-B099-6C8EAB4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社会再生产、历史条件与理论比较</a:t>
            </a:r>
          </a:p>
        </p:txBody>
      </p:sp>
      <p:sp>
        <p:nvSpPr>
          <p:cNvPr id="13" name="text-828">
            <a:extLst xmlns:a="http://schemas.openxmlformats.org/drawingml/2006/main">
              <a:ext uri="{FF2B5EF4-FFF2-40B4-BE49-F238E27FC236}">
                <a16:creationId xmlns:a16="http://schemas.microsoft.com/office/drawing/2014/main" id="{392BF5E5-3731-4B5B-8765-423A8290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常用S2、S3、S5；按需跨用。</a:t>
            </a:r>
          </a:p>
        </p:txBody>
      </p:sp>
      <p:sp>
        <p:nvSpPr>
          <p:cNvPr id="14" name="text-829">
            <a:extLst xmlns:a="http://schemas.openxmlformats.org/drawingml/2006/main">
              <a:ext uri="{FF2B5EF4-FFF2-40B4-BE49-F238E27FC236}">
                <a16:creationId xmlns:a16="http://schemas.microsoft.com/office/drawing/2014/main" id="{6785BE85-6A76-4D4A-99C2-0893918C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830">
            <a:extLst xmlns:a="http://schemas.openxmlformats.org/drawingml/2006/main">
              <a:ext uri="{FF2B5EF4-FFF2-40B4-BE49-F238E27FC236}">
                <a16:creationId xmlns:a16="http://schemas.microsoft.com/office/drawing/2014/main" id="{E4F5D70B-D22F-4069-ADA1-C36F5EB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实际组织关系、资源控制、劳动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过程、收入分配及历史制度材料。</a:t>
            </a:r>
          </a:p>
        </p:txBody>
      </p:sp>
      <p:sp>
        <p:nvSpPr>
          <p:cNvPr id="16" name="text-831">
            <a:extLst xmlns:a="http://schemas.openxmlformats.org/drawingml/2006/main">
              <a:ext uri="{FF2B5EF4-FFF2-40B4-BE49-F238E27FC236}">
                <a16:creationId xmlns:a16="http://schemas.microsoft.com/office/drawing/2014/main" id="{34DEEFBC-9B6E-4BBE-9FDE-75DCF37A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832">
            <a:extLst xmlns:a="http://schemas.openxmlformats.org/drawingml/2006/main">
              <a:ext uri="{FF2B5EF4-FFF2-40B4-BE49-F238E27FC236}">
                <a16:creationId xmlns:a16="http://schemas.microsoft.com/office/drawing/2014/main" id="{88E079DF-4E03-4B27-96FC-91A1142D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先描述关系；区分概念、经验主张与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评价；对照材料；比较竞争解释。</a:t>
            </a:r>
          </a:p>
        </p:txBody>
      </p:sp>
      <p:sp>
        <p:nvSpPr>
          <p:cNvPr id="18" name="text-833">
            <a:extLst xmlns:a="http://schemas.openxmlformats.org/drawingml/2006/main">
              <a:ext uri="{FF2B5EF4-FFF2-40B4-BE49-F238E27FC236}">
                <a16:creationId xmlns:a16="http://schemas.microsoft.com/office/drawing/2014/main" id="{A6D091DC-59BF-4A00-9B28-D1D32925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834">
            <a:extLst xmlns:a="http://schemas.openxmlformats.org/drawingml/2006/main">
              <a:ext uri="{FF2B5EF4-FFF2-40B4-BE49-F238E27FC236}">
                <a16:creationId xmlns:a16="http://schemas.microsoft.com/office/drawing/2014/main" id="{B2C98D97-3C40-46C0-B3DE-52706C5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生产分配图、概念材料对应、适用条件和行动含义。</a:t>
            </a:r>
          </a:p>
        </p:txBody>
      </p:sp>
      <p:sp>
        <p:nvSpPr>
          <p:cNvPr id="20" name="box-835">
            <a:extLst xmlns:a="http://schemas.openxmlformats.org/drawingml/2006/main">
              <a:ext uri="{FF2B5EF4-FFF2-40B4-BE49-F238E27FC236}">
                <a16:creationId xmlns:a16="http://schemas.microsoft.com/office/drawing/2014/main" id="{A13713A1-9CC6-4E69-8EF0-02A0276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836">
            <a:extLst xmlns:a="http://schemas.openxmlformats.org/drawingml/2006/main">
              <a:ext uri="{FF2B5EF4-FFF2-40B4-BE49-F238E27FC236}">
                <a16:creationId xmlns:a16="http://schemas.microsoft.com/office/drawing/2014/main" id="{2D61F329-B7BE-40BA-A461-5ACE91F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837">
            <a:extLst xmlns:a="http://schemas.openxmlformats.org/drawingml/2006/main">
              <a:ext uri="{FF2B5EF4-FFF2-40B4-BE49-F238E27FC236}">
                <a16:creationId xmlns:a16="http://schemas.microsoft.com/office/drawing/2014/main" id="{3AD2B02E-AF0A-4FB7-AD04-5E8A37ED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合成：比较两种合作安排，列清谁投入设备、谁劳动、谁决策、收益怎样分配。</a:t>
            </a:r>
          </a:p>
        </p:txBody>
      </p:sp>
      <p:sp>
        <p:nvSpPr>
          <p:cNvPr id="23" name="text-838">
            <a:extLst xmlns:a="http://schemas.openxmlformats.org/drawingml/2006/main">
              <a:ext uri="{FF2B5EF4-FFF2-40B4-BE49-F238E27FC236}">
                <a16:creationId xmlns:a16="http://schemas.microsoft.com/office/drawing/2014/main" id="{81A8010A-A8AF-4DDE-B54F-D95FD2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839">
            <a:extLst xmlns:a="http://schemas.openxmlformats.org/drawingml/2006/main">
              <a:ext uri="{FF2B5EF4-FFF2-40B4-BE49-F238E27FC236}">
                <a16:creationId xmlns:a16="http://schemas.microsoft.com/office/drawing/2014/main" id="{98D53862-AB96-46DB-812C-E973E5B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理论名词不是事实证据；群体位置不能证明个人品格或动机。</a:t>
            </a:r>
          </a:p>
        </p:txBody>
      </p:sp>
    </p:spTree>
    <p:extLst>
      <p:ext uri="{BB962C8B-B14F-4D97-AF65-F5344CB8AC3E}">
        <p14:creationId xmlns:p14="http://schemas.microsoft.com/office/powerpoint/2010/main" val="142814519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840">
            <a:extLst xmlns:a="http://schemas.openxmlformats.org/drawingml/2006/main">
              <a:ext uri="{FF2B5EF4-FFF2-40B4-BE49-F238E27FC236}">
                <a16:creationId xmlns:a16="http://schemas.microsoft.com/office/drawing/2014/main" id="{B8A21188-CC71-4C41-A2A3-1CFB9855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841">
            <a:extLst xmlns:a="http://schemas.openxmlformats.org/drawingml/2006/main">
              <a:ext uri="{FF2B5EF4-FFF2-40B4-BE49-F238E27FC236}">
                <a16:creationId xmlns:a16="http://schemas.microsoft.com/office/drawing/2014/main" id="{40DEE5DF-9781-422E-ABF3-9ABBAE36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M10 心理学与行为科学</a:t>
            </a:r>
          </a:p>
        </p:txBody>
      </p:sp>
      <p:sp>
        <p:nvSpPr>
          <p:cNvPr id="3" name="claim-842">
            <a:extLst xmlns:a="http://schemas.openxmlformats.org/drawingml/2006/main">
              <a:ext uri="{FF2B5EF4-FFF2-40B4-BE49-F238E27FC236}">
                <a16:creationId xmlns:a16="http://schemas.microsoft.com/office/drawing/2014/main" id="{80D4A585-C377-4007-B31C-61FC2C87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把笼统的自我评价改写成具体行为，寻找可以低成本调整的条件。</a:t>
            </a:r>
          </a:p>
        </p:txBody>
      </p:sp>
      <p:sp>
        <p:nvSpPr>
          <p:cNvPr id="4" name="box-843">
            <a:extLst xmlns:a="http://schemas.openxmlformats.org/drawingml/2006/main">
              <a:ext uri="{FF2B5EF4-FFF2-40B4-BE49-F238E27FC236}">
                <a16:creationId xmlns:a16="http://schemas.microsoft.com/office/drawing/2014/main" id="{33593A6B-7E84-42A5-93B9-A3E72286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44">
            <a:extLst xmlns:a="http://schemas.openxmlformats.org/drawingml/2006/main">
              <a:ext uri="{FF2B5EF4-FFF2-40B4-BE49-F238E27FC236}">
                <a16:creationId xmlns:a16="http://schemas.microsoft.com/office/drawing/2014/main" id="{02179586-2FC3-438E-9B07-39192BF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45">
            <a:extLst xmlns:a="http://schemas.openxmlformats.org/drawingml/2006/main">
              <a:ext uri="{FF2B5EF4-FFF2-40B4-BE49-F238E27FC236}">
                <a16:creationId xmlns:a16="http://schemas.microsoft.com/office/drawing/2014/main" id="{A07A5576-3CF2-4D8B-9894-9BDB88F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846">
            <a:extLst xmlns:a="http://schemas.openxmlformats.org/drawingml/2006/main">
              <a:ext uri="{FF2B5EF4-FFF2-40B4-BE49-F238E27FC236}">
                <a16:creationId xmlns:a16="http://schemas.microsoft.com/office/drawing/2014/main" id="{E2DDCABA-4F9B-47FF-9A23-C05B259E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53 / 91</a:t>
            </a:r>
          </a:p>
        </p:txBody>
      </p:sp>
      <p:sp>
        <p:nvSpPr>
          <p:cNvPr id="8" name="text-847">
            <a:extLst xmlns:a="http://schemas.openxmlformats.org/drawingml/2006/main">
              <a:ext uri="{FF2B5EF4-FFF2-40B4-BE49-F238E27FC236}">
                <a16:creationId xmlns:a16="http://schemas.microsoft.com/office/drawing/2014/main" id="{E16A9C80-BDAD-4F55-A7A8-283858F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848">
            <a:extLst xmlns:a="http://schemas.openxmlformats.org/drawingml/2006/main">
              <a:ext uri="{FF2B5EF4-FFF2-40B4-BE49-F238E27FC236}">
                <a16:creationId xmlns:a16="http://schemas.microsoft.com/office/drawing/2014/main" id="{C9498539-CE3F-481A-A81B-DDFE738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认知、社会、人格心理与行为经济；注意、记忆、情绪、动机与习惯；确认偏误、锚定、损失厌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恶与从众；群体极化、权威服从、依恋与冲突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具体情境、行为频率、感受、环境、既往尝试及结果。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区分观察与解释；列竞争假设；做可逆行为调整；依据记录修正。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情境行为记录、解释假设、行为试行和反馈。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849">
            <a:extLst xmlns:a="http://schemas.openxmlformats.org/drawingml/2006/main">
              <a:ext uri="{FF2B5EF4-FFF2-40B4-BE49-F238E27FC236}">
                <a16:creationId xmlns:a16="http://schemas.microsoft.com/office/drawing/2014/main" id="{E5E91750-D597-426B-A004-9ED9A01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常用S1—S3、S7—S8；按需跨用。</a:t>
            </a:r>
          </a:p>
        </p:txBody>
      </p:sp>
      <p:sp>
        <p:nvSpPr>
          <p:cNvPr id="12" name="box-850">
            <a:extLst xmlns:a="http://schemas.openxmlformats.org/drawingml/2006/main">
              <a:ext uri="{FF2B5EF4-FFF2-40B4-BE49-F238E27FC236}">
                <a16:creationId xmlns:a16="http://schemas.microsoft.com/office/drawing/2014/main" id="{FC8F810C-57F4-40C8-A392-3D0A35D9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851">
            <a:extLst xmlns:a="http://schemas.openxmlformats.org/drawingml/2006/main">
              <a:ext uri="{FF2B5EF4-FFF2-40B4-BE49-F238E27FC236}">
                <a16:creationId xmlns:a16="http://schemas.microsoft.com/office/drawing/2014/main" id="{8CBA1732-D0F5-42D7-9C1C-1D819EC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852">
            <a:extLst xmlns:a="http://schemas.openxmlformats.org/drawingml/2006/main">
              <a:ext uri="{FF2B5EF4-FFF2-40B4-BE49-F238E27FC236}">
                <a16:creationId xmlns:a16="http://schemas.microsoft.com/office/drawing/2014/main" id="{82EFDCF8-ECBB-4634-B71D-4F00B30D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合成：晚间总拖延，先观察疲劳、任务不清和手机干扰，再试一项环境调整。</a:t>
            </a:r>
          </a:p>
        </p:txBody>
      </p:sp>
      <p:sp>
        <p:nvSpPr>
          <p:cNvPr id="15" name="text-853">
            <a:extLst xmlns:a="http://schemas.openxmlformats.org/drawingml/2006/main">
              <a:ext uri="{FF2B5EF4-FFF2-40B4-BE49-F238E27FC236}">
                <a16:creationId xmlns:a16="http://schemas.microsoft.com/office/drawing/2014/main" id="{E1B11A4C-A0EC-4A48-9D4A-14D31369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854">
            <a:extLst xmlns:a="http://schemas.openxmlformats.org/drawingml/2006/main">
              <a:ext uri="{FF2B5EF4-FFF2-40B4-BE49-F238E27FC236}">
                <a16:creationId xmlns:a16="http://schemas.microsoft.com/office/drawing/2014/main" id="{B5E94008-BD0A-4447-9C7A-B055DF34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不能从聊天诊断人格或疾病；无改善不等于人格有缺陷。</a:t>
            </a:r>
          </a:p>
        </p:txBody>
      </p:sp>
    </p:spTree>
    <p:extLst>
      <p:ext uri="{BB962C8B-B14F-4D97-AF65-F5344CB8AC3E}">
        <p14:creationId xmlns:p14="http://schemas.microsoft.com/office/powerpoint/2010/main" val="156370109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55">
            <a:extLst xmlns:a="http://schemas.openxmlformats.org/drawingml/2006/main">
              <a:ext uri="{FF2B5EF4-FFF2-40B4-BE49-F238E27FC236}">
                <a16:creationId xmlns:a16="http://schemas.microsoft.com/office/drawing/2014/main" id="{2AE32811-25E3-4032-942F-C565072C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856">
            <a:extLst xmlns:a="http://schemas.openxmlformats.org/drawingml/2006/main">
              <a:ext uri="{FF2B5EF4-FFF2-40B4-BE49-F238E27FC236}">
                <a16:creationId xmlns:a16="http://schemas.microsoft.com/office/drawing/2014/main" id="{71486574-A220-49A2-B79C-012FC867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M11 社会学、政治学、制度分析与组织行为</a:t>
            </a:r>
          </a:p>
        </p:txBody>
      </p:sp>
      <p:sp>
        <p:nvSpPr>
          <p:cNvPr id="3" name="claim-857">
            <a:extLst xmlns:a="http://schemas.openxmlformats.org/drawingml/2006/main">
              <a:ext uri="{FF2B5EF4-FFF2-40B4-BE49-F238E27FC236}">
                <a16:creationId xmlns:a16="http://schemas.microsoft.com/office/drawing/2014/main" id="{422EE93B-B158-44E9-A44B-ACF10BE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把个人行为、组织流程与制度条件分层分析，找到权限内可改的环节。</a:t>
            </a:r>
          </a:p>
        </p:txBody>
      </p:sp>
      <p:sp>
        <p:nvSpPr>
          <p:cNvPr id="4" name="box-858">
            <a:extLst xmlns:a="http://schemas.openxmlformats.org/drawingml/2006/main">
              <a:ext uri="{FF2B5EF4-FFF2-40B4-BE49-F238E27FC236}">
                <a16:creationId xmlns:a16="http://schemas.microsoft.com/office/drawing/2014/main" id="{7AE8AF03-3BB2-4E79-9BA1-42944E1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59">
            <a:extLst xmlns:a="http://schemas.openxmlformats.org/drawingml/2006/main">
              <a:ext uri="{FF2B5EF4-FFF2-40B4-BE49-F238E27FC236}">
                <a16:creationId xmlns:a16="http://schemas.microsoft.com/office/drawing/2014/main" id="{F06A7F36-7E72-4E7C-BC53-8E0EA85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60">
            <a:extLst xmlns:a="http://schemas.openxmlformats.org/drawingml/2006/main">
              <a:ext uri="{FF2B5EF4-FFF2-40B4-BE49-F238E27FC236}">
                <a16:creationId xmlns:a16="http://schemas.microsoft.com/office/drawing/2014/main" id="{E7177340-E9A9-42CD-AC2E-BCBEF3BA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861">
            <a:extLst xmlns:a="http://schemas.openxmlformats.org/drawingml/2006/main">
              <a:ext uri="{FF2B5EF4-FFF2-40B4-BE49-F238E27FC236}">
                <a16:creationId xmlns:a16="http://schemas.microsoft.com/office/drawing/2014/main" id="{7E914304-8AC6-4672-A1A4-C001A23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54 / 91</a:t>
            </a:r>
          </a:p>
        </p:txBody>
      </p:sp>
      <p:sp>
        <p:nvSpPr>
          <p:cNvPr id="8" name="text-862">
            <a:extLst xmlns:a="http://schemas.openxmlformats.org/drawingml/2006/main">
              <a:ext uri="{FF2B5EF4-FFF2-40B4-BE49-F238E27FC236}">
                <a16:creationId xmlns:a16="http://schemas.microsoft.com/office/drawing/2014/main" id="{36CB0DC7-6382-4C47-892F-F07A51D8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863">
            <a:extLst xmlns:a="http://schemas.openxmlformats.org/drawingml/2006/main">
              <a:ext uri="{FF2B5EF4-FFF2-40B4-BE49-F238E27FC236}">
                <a16:creationId xmlns:a16="http://schemas.microsoft.com/office/drawing/2014/main" id="{2A6E92CB-F8E0-4DF8-8E3A-E7D66395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家庭、阶层、群体身份与组织</a:t>
            </a:r>
          </a:p>
        </p:txBody>
      </p:sp>
      <p:sp>
        <p:nvSpPr>
          <p:cNvPr id="10" name="text-864">
            <a:extLst xmlns:a="http://schemas.openxmlformats.org/drawingml/2006/main">
              <a:ext uri="{FF2B5EF4-FFF2-40B4-BE49-F238E27FC236}">
                <a16:creationId xmlns:a16="http://schemas.microsoft.com/office/drawing/2014/main" id="{1A316F60-FDCF-4BD9-90DD-082CD74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权力、合法性与官僚体系</a:t>
            </a:r>
          </a:p>
        </p:txBody>
      </p:sp>
      <p:sp>
        <p:nvSpPr>
          <p:cNvPr id="11" name="text-865">
            <a:extLst xmlns:a="http://schemas.openxmlformats.org/drawingml/2006/main">
              <a:ext uri="{FF2B5EF4-FFF2-40B4-BE49-F238E27FC236}">
                <a16:creationId xmlns:a16="http://schemas.microsoft.com/office/drawing/2014/main" id="{4B3EDF77-59FF-476A-AC54-B032A4E7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正式规则与非正式规则</a:t>
            </a:r>
          </a:p>
        </p:txBody>
      </p:sp>
      <p:sp>
        <p:nvSpPr>
          <p:cNvPr id="12" name="text-866">
            <a:extLst xmlns:a="http://schemas.openxmlformats.org/drawingml/2006/main">
              <a:ext uri="{FF2B5EF4-FFF2-40B4-BE49-F238E27FC236}">
                <a16:creationId xmlns:a16="http://schemas.microsoft.com/office/drawing/2014/main" id="{386A260C-744D-4939-91BF-39B35F5D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制度激励、组织惯性与协作</a:t>
            </a:r>
          </a:p>
        </p:txBody>
      </p:sp>
      <p:sp>
        <p:nvSpPr>
          <p:cNvPr id="13" name="text-867">
            <a:extLst xmlns:a="http://schemas.openxmlformats.org/drawingml/2006/main">
              <a:ext uri="{FF2B5EF4-FFF2-40B4-BE49-F238E27FC236}">
                <a16:creationId xmlns:a16="http://schemas.microsoft.com/office/drawing/2014/main" id="{47004600-50F7-4209-A7CF-FEB4D24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常用S2—S4、S7；按需跨用。</a:t>
            </a:r>
          </a:p>
        </p:txBody>
      </p:sp>
      <p:sp>
        <p:nvSpPr>
          <p:cNvPr id="14" name="text-868">
            <a:extLst xmlns:a="http://schemas.openxmlformats.org/drawingml/2006/main">
              <a:ext uri="{FF2B5EF4-FFF2-40B4-BE49-F238E27FC236}">
                <a16:creationId xmlns:a16="http://schemas.microsoft.com/office/drawing/2014/main" id="{B7044605-B961-4865-A6D7-5071FA9D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869">
            <a:extLst xmlns:a="http://schemas.openxmlformats.org/drawingml/2006/main">
              <a:ext uri="{FF2B5EF4-FFF2-40B4-BE49-F238E27FC236}">
                <a16:creationId xmlns:a16="http://schemas.microsoft.com/office/drawing/2014/main" id="{7BED8FD0-043A-4B0E-AB79-A14F8328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具体事件、正式流程、实际记录、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角色权限、考核和资源分配。</a:t>
            </a:r>
          </a:p>
        </p:txBody>
      </p:sp>
      <p:sp>
        <p:nvSpPr>
          <p:cNvPr id="16" name="text-870">
            <a:extLst xmlns:a="http://schemas.openxmlformats.org/drawingml/2006/main">
              <a:ext uri="{FF2B5EF4-FFF2-40B4-BE49-F238E27FC236}">
                <a16:creationId xmlns:a16="http://schemas.microsoft.com/office/drawing/2014/main" id="{0505F29D-6C16-4784-A9C3-489FC748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871">
            <a:extLst xmlns:a="http://schemas.openxmlformats.org/drawingml/2006/main">
              <a:ext uri="{FF2B5EF4-FFF2-40B4-BE49-F238E27FC236}">
                <a16:creationId xmlns:a16="http://schemas.microsoft.com/office/drawing/2014/main" id="{BD250F9C-F206-48FF-AAD1-5E7D67F9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分层定位问题；对照规定与实际；检查权责和信息断点；提出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可执行改进。</a:t>
            </a:r>
          </a:p>
        </p:txBody>
      </p:sp>
      <p:sp>
        <p:nvSpPr>
          <p:cNvPr id="18" name="text-872">
            <a:extLst xmlns:a="http://schemas.openxmlformats.org/drawingml/2006/main">
              <a:ext uri="{FF2B5EF4-FFF2-40B4-BE49-F238E27FC236}">
                <a16:creationId xmlns:a16="http://schemas.microsoft.com/office/drawing/2014/main" id="{F1EA1C4D-0848-4325-83F8-94EC3A60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873">
            <a:extLst xmlns:a="http://schemas.openxmlformats.org/drawingml/2006/main">
              <a:ext uri="{FF2B5EF4-FFF2-40B4-BE49-F238E27FC236}">
                <a16:creationId xmlns:a16="http://schemas.microsoft.com/office/drawing/2014/main" id="{2465D418-BDD1-4D39-A16E-7CE256ED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角色权限激励表、流程阻点、证据和参与条件。</a:t>
            </a:r>
          </a:p>
        </p:txBody>
      </p:sp>
      <p:sp>
        <p:nvSpPr>
          <p:cNvPr id="20" name="box-874">
            <a:extLst xmlns:a="http://schemas.openxmlformats.org/drawingml/2006/main">
              <a:ext uri="{FF2B5EF4-FFF2-40B4-BE49-F238E27FC236}">
                <a16:creationId xmlns:a16="http://schemas.microsoft.com/office/drawing/2014/main" id="{65C8BFE7-CA7A-43D8-B2FC-1201726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875">
            <a:extLst xmlns:a="http://schemas.openxmlformats.org/drawingml/2006/main">
              <a:ext uri="{FF2B5EF4-FFF2-40B4-BE49-F238E27FC236}">
                <a16:creationId xmlns:a16="http://schemas.microsoft.com/office/drawing/2014/main" id="{4D2625B6-351C-4E8E-AF9A-B2014EA5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876">
            <a:extLst xmlns:a="http://schemas.openxmlformats.org/drawingml/2006/main">
              <a:ext uri="{FF2B5EF4-FFF2-40B4-BE49-F238E27FC236}">
                <a16:creationId xmlns:a16="http://schemas.microsoft.com/office/drawing/2014/main" id="{07CD7600-DCC8-4E22-91A4-1FF07C9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合成：审批总延迟，先核对决策权、资料缺口和交接责任，再讨论增加提醒。</a:t>
            </a:r>
          </a:p>
        </p:txBody>
      </p:sp>
      <p:sp>
        <p:nvSpPr>
          <p:cNvPr id="23" name="text-877">
            <a:extLst xmlns:a="http://schemas.openxmlformats.org/drawingml/2006/main">
              <a:ext uri="{FF2B5EF4-FFF2-40B4-BE49-F238E27FC236}">
                <a16:creationId xmlns:a16="http://schemas.microsoft.com/office/drawing/2014/main" id="{70377C33-B138-4FC9-AE4F-A89A2AB3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878">
            <a:extLst xmlns:a="http://schemas.openxmlformats.org/drawingml/2006/main">
              <a:ext uri="{FF2B5EF4-FFF2-40B4-BE49-F238E27FC236}">
                <a16:creationId xmlns:a16="http://schemas.microsoft.com/office/drawing/2014/main" id="{04AFE9B5-9505-48AA-9A0A-93B0880E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职位不能证明动机；结构解释不替代事实，也不免除个人责任。</a:t>
            </a:r>
          </a:p>
        </p:txBody>
      </p:sp>
    </p:spTree>
    <p:extLst>
      <p:ext uri="{BB962C8B-B14F-4D97-AF65-F5344CB8AC3E}">
        <p14:creationId xmlns:p14="http://schemas.microsoft.com/office/powerpoint/2010/main" val="48164944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879">
            <a:extLst xmlns:a="http://schemas.openxmlformats.org/drawingml/2006/main">
              <a:ext uri="{FF2B5EF4-FFF2-40B4-BE49-F238E27FC236}">
                <a16:creationId xmlns:a16="http://schemas.microsoft.com/office/drawing/2014/main" id="{928A59BE-A560-43DB-929D-F32FBF9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880">
            <a:extLst xmlns:a="http://schemas.openxmlformats.org/drawingml/2006/main">
              <a:ext uri="{FF2B5EF4-FFF2-40B4-BE49-F238E27FC236}">
                <a16:creationId xmlns:a16="http://schemas.microsoft.com/office/drawing/2014/main" id="{D577DE84-2E55-4DAF-9584-28AEC0F6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M12 历史与思想史</a:t>
            </a:r>
          </a:p>
        </p:txBody>
      </p:sp>
      <p:sp>
        <p:nvSpPr>
          <p:cNvPr id="3" name="claim-881">
            <a:extLst xmlns:a="http://schemas.openxmlformats.org/drawingml/2006/main">
              <a:ext uri="{FF2B5EF4-FFF2-40B4-BE49-F238E27FC236}">
                <a16:creationId xmlns:a16="http://schemas.microsoft.com/office/drawing/2014/main" id="{B9A3A4F5-C72E-48AB-A0C1-252CB497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还原事情如何形成，辨认历史类比的共同机制与关键差异。</a:t>
            </a:r>
          </a:p>
        </p:txBody>
      </p:sp>
      <p:sp>
        <p:nvSpPr>
          <p:cNvPr id="4" name="box-882">
            <a:extLst xmlns:a="http://schemas.openxmlformats.org/drawingml/2006/main">
              <a:ext uri="{FF2B5EF4-FFF2-40B4-BE49-F238E27FC236}">
                <a16:creationId xmlns:a16="http://schemas.microsoft.com/office/drawing/2014/main" id="{9A50EF9A-3A9F-47CE-95DC-07DCEB8B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83">
            <a:extLst xmlns:a="http://schemas.openxmlformats.org/drawingml/2006/main">
              <a:ext uri="{FF2B5EF4-FFF2-40B4-BE49-F238E27FC236}">
                <a16:creationId xmlns:a16="http://schemas.microsoft.com/office/drawing/2014/main" id="{1A29AA87-F3EE-47DC-A381-BE3D4B8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84">
            <a:extLst xmlns:a="http://schemas.openxmlformats.org/drawingml/2006/main">
              <a:ext uri="{FF2B5EF4-FFF2-40B4-BE49-F238E27FC236}">
                <a16:creationId xmlns:a16="http://schemas.microsoft.com/office/drawing/2014/main" id="{9970A62B-FD35-4A16-805D-9C0589EA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885">
            <a:extLst xmlns:a="http://schemas.openxmlformats.org/drawingml/2006/main">
              <a:ext uri="{FF2B5EF4-FFF2-40B4-BE49-F238E27FC236}">
                <a16:creationId xmlns:a16="http://schemas.microsoft.com/office/drawing/2014/main" id="{2FEA1E99-47F3-4CDA-9F5E-58C35AE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55 / 91</a:t>
            </a:r>
          </a:p>
        </p:txBody>
      </p:sp>
      <p:sp>
        <p:nvSpPr>
          <p:cNvPr id="8" name="text-886">
            <a:extLst xmlns:a="http://schemas.openxmlformats.org/drawingml/2006/main">
              <a:ext uri="{FF2B5EF4-FFF2-40B4-BE49-F238E27FC236}">
                <a16:creationId xmlns:a16="http://schemas.microsoft.com/office/drawing/2014/main" id="{82D28F81-7D13-47EC-B58D-C3F025C2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887">
            <a:extLst xmlns:a="http://schemas.openxmlformats.org/drawingml/2006/main">
              <a:ext uri="{FF2B5EF4-FFF2-40B4-BE49-F238E27FC236}">
                <a16:creationId xmlns:a16="http://schemas.microsoft.com/office/drawing/2014/main" id="{8C257828-4822-4F50-94AF-ECA0E79E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中国史、世界史与中国近现代史；经济史、科技史与思想史；路径依赖、长期积累与偶然事件；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史料辨析、语境与周期解释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问题、时期地域、原始史料、可靠研究、来源背景和当前条件。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建必要时间线；分史料与后来的解释；比较机制及差异；保留争议与反例。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带来源时间线、类比适用表、争议和现实启示。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888">
            <a:extLst xmlns:a="http://schemas.openxmlformats.org/drawingml/2006/main">
              <a:ext uri="{FF2B5EF4-FFF2-40B4-BE49-F238E27FC236}">
                <a16:creationId xmlns:a16="http://schemas.microsoft.com/office/drawing/2014/main" id="{96126581-25D8-4B6A-A6D7-A4F8DB93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常用S2、S3、S5；按需跨用。</a:t>
            </a:r>
          </a:p>
        </p:txBody>
      </p:sp>
      <p:sp>
        <p:nvSpPr>
          <p:cNvPr id="12" name="box-889">
            <a:extLst xmlns:a="http://schemas.openxmlformats.org/drawingml/2006/main">
              <a:ext uri="{FF2B5EF4-FFF2-40B4-BE49-F238E27FC236}">
                <a16:creationId xmlns:a16="http://schemas.microsoft.com/office/drawing/2014/main" id="{52059F8C-305D-4DA2-9870-CE686B73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890">
            <a:extLst xmlns:a="http://schemas.openxmlformats.org/drawingml/2006/main">
              <a:ext uri="{FF2B5EF4-FFF2-40B4-BE49-F238E27FC236}">
                <a16:creationId xmlns:a16="http://schemas.microsoft.com/office/drawing/2014/main" id="{5C12D66F-6CC0-4FBD-A6B2-0A7A3A7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891">
            <a:extLst xmlns:a="http://schemas.openxmlformats.org/drawingml/2006/main">
              <a:ext uri="{FF2B5EF4-FFF2-40B4-BE49-F238E27FC236}">
                <a16:creationId xmlns:a16="http://schemas.microsoft.com/office/drawing/2014/main" id="{EBF61EBF-1C3A-4ADC-B611-ADAF7D9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合成：借旧技术转型理解新行业时，同时比较进入门槛、制度和需求的差异。</a:t>
            </a:r>
          </a:p>
        </p:txBody>
      </p:sp>
      <p:sp>
        <p:nvSpPr>
          <p:cNvPr id="15" name="text-892">
            <a:extLst xmlns:a="http://schemas.openxmlformats.org/drawingml/2006/main">
              <a:ext uri="{FF2B5EF4-FFF2-40B4-BE49-F238E27FC236}">
                <a16:creationId xmlns:a16="http://schemas.microsoft.com/office/drawing/2014/main" id="{FA8E2BF9-5AC9-4649-A1B0-63CE013E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893">
            <a:extLst xmlns:a="http://schemas.openxmlformats.org/drawingml/2006/main">
              <a:ext uri="{FF2B5EF4-FFF2-40B4-BE49-F238E27FC236}">
                <a16:creationId xmlns:a16="http://schemas.microsoft.com/office/drawing/2014/main" id="{BE3EE173-9CDE-4823-874F-642DC01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过去相似不意味着未来重演；不能用后见之明冒充当时知识。</a:t>
            </a:r>
          </a:p>
        </p:txBody>
      </p:sp>
    </p:spTree>
    <p:extLst>
      <p:ext uri="{BB962C8B-B14F-4D97-AF65-F5344CB8AC3E}">
        <p14:creationId xmlns:p14="http://schemas.microsoft.com/office/powerpoint/2010/main" val="3348032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94">
            <a:extLst xmlns:a="http://schemas.openxmlformats.org/drawingml/2006/main">
              <a:ext uri="{FF2B5EF4-FFF2-40B4-BE49-F238E27FC236}">
                <a16:creationId xmlns:a16="http://schemas.microsoft.com/office/drawing/2014/main" id="{7AF1206A-4343-410E-B414-C64F444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895">
            <a:extLst xmlns:a="http://schemas.openxmlformats.org/drawingml/2006/main">
              <a:ext uri="{FF2B5EF4-FFF2-40B4-BE49-F238E27FC236}">
                <a16:creationId xmlns:a16="http://schemas.microsoft.com/office/drawing/2014/main" id="{E2636D39-B493-43D4-BAFF-3A514BB5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M13 毛泽东思想中的调查研究、实践与矛盾分析</a:t>
            </a:r>
          </a:p>
        </p:txBody>
      </p:sp>
      <p:sp>
        <p:nvSpPr>
          <p:cNvPr id="3" name="claim-896">
            <a:extLst xmlns:a="http://schemas.openxmlformats.org/drawingml/2006/main">
              <a:ext uri="{FF2B5EF4-FFF2-40B4-BE49-F238E27FC236}">
                <a16:creationId xmlns:a16="http://schemas.microsoft.com/office/drawing/2014/main" id="{1F79F314-C608-40E6-A86D-03C8E1DE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从一线情况识别当前最重要的问题，用阶段试行检验并修正认识。</a:t>
            </a:r>
          </a:p>
        </p:txBody>
      </p:sp>
      <p:sp>
        <p:nvSpPr>
          <p:cNvPr id="4" name="box-897">
            <a:extLst xmlns:a="http://schemas.openxmlformats.org/drawingml/2006/main">
              <a:ext uri="{FF2B5EF4-FFF2-40B4-BE49-F238E27FC236}">
                <a16:creationId xmlns:a16="http://schemas.microsoft.com/office/drawing/2014/main" id="{0DFC5B39-DD0B-47B9-B3E4-558B707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898">
            <a:extLst xmlns:a="http://schemas.openxmlformats.org/drawingml/2006/main">
              <a:ext uri="{FF2B5EF4-FFF2-40B4-BE49-F238E27FC236}">
                <a16:creationId xmlns:a16="http://schemas.microsoft.com/office/drawing/2014/main" id="{829E4BF4-C69E-438D-9EBE-FC395408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899">
            <a:extLst xmlns:a="http://schemas.openxmlformats.org/drawingml/2006/main">
              <a:ext uri="{FF2B5EF4-FFF2-40B4-BE49-F238E27FC236}">
                <a16:creationId xmlns:a16="http://schemas.microsoft.com/office/drawing/2014/main" id="{92A671E0-C536-4644-9D03-57CF95C0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900">
            <a:extLst xmlns:a="http://schemas.openxmlformats.org/drawingml/2006/main">
              <a:ext uri="{FF2B5EF4-FFF2-40B4-BE49-F238E27FC236}">
                <a16:creationId xmlns:a16="http://schemas.microsoft.com/office/drawing/2014/main" id="{FED695EF-65DD-4F6C-8F5E-52847DD7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56 / 91</a:t>
            </a:r>
          </a:p>
        </p:txBody>
      </p:sp>
      <p:sp>
        <p:nvSpPr>
          <p:cNvPr id="8" name="text-901">
            <a:extLst xmlns:a="http://schemas.openxmlformats.org/drawingml/2006/main">
              <a:ext uri="{FF2B5EF4-FFF2-40B4-BE49-F238E27FC236}">
                <a16:creationId xmlns:a16="http://schemas.microsoft.com/office/drawing/2014/main" id="{C790F6F8-A359-48CF-A24C-50AA77C0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902">
            <a:extLst xmlns:a="http://schemas.openxmlformats.org/drawingml/2006/main">
              <a:ext uri="{FF2B5EF4-FFF2-40B4-BE49-F238E27FC236}">
                <a16:creationId xmlns:a16="http://schemas.microsoft.com/office/drawing/2014/main" id="{A30A4254-18C6-4113-B71F-36F3900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调查研究、实事求是与群众路线</a:t>
            </a:r>
          </a:p>
        </p:txBody>
      </p:sp>
      <p:sp>
        <p:nvSpPr>
          <p:cNvPr id="10" name="text-903">
            <a:extLst xmlns:a="http://schemas.openxmlformats.org/drawingml/2006/main">
              <a:ext uri="{FF2B5EF4-FFF2-40B4-BE49-F238E27FC236}">
                <a16:creationId xmlns:a16="http://schemas.microsoft.com/office/drawing/2014/main" id="{014FC00C-A4AA-4B5C-A957-C20C70E5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《实践论》与认识修正</a:t>
            </a:r>
          </a:p>
        </p:txBody>
      </p:sp>
      <p:sp>
        <p:nvSpPr>
          <p:cNvPr id="11" name="text-904">
            <a:extLst xmlns:a="http://schemas.openxmlformats.org/drawingml/2006/main">
              <a:ext uri="{FF2B5EF4-FFF2-40B4-BE49-F238E27FC236}">
                <a16:creationId xmlns:a16="http://schemas.microsoft.com/office/drawing/2014/main" id="{608A694A-F9EE-4C41-8E0B-3CBD8F1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矛盾分析、主要矛盾与具体条件</a:t>
            </a:r>
          </a:p>
        </p:txBody>
      </p:sp>
      <p:sp>
        <p:nvSpPr>
          <p:cNvPr id="12" name="text-905">
            <a:extLst xmlns:a="http://schemas.openxmlformats.org/drawingml/2006/main">
              <a:ext uri="{FF2B5EF4-FFF2-40B4-BE49-F238E27FC236}">
                <a16:creationId xmlns:a16="http://schemas.microsoft.com/office/drawing/2014/main" id="{B5200B56-DA3E-4922-B67D-269AD583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战略战术、阶段目标与实践反馈</a:t>
            </a:r>
          </a:p>
        </p:txBody>
      </p:sp>
      <p:sp>
        <p:nvSpPr>
          <p:cNvPr id="13" name="text-906">
            <a:extLst xmlns:a="http://schemas.openxmlformats.org/drawingml/2006/main">
              <a:ext uri="{FF2B5EF4-FFF2-40B4-BE49-F238E27FC236}">
                <a16:creationId xmlns:a16="http://schemas.microsoft.com/office/drawing/2014/main" id="{0F0FE43A-D4F3-4D2E-B31A-93D53B00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常用S1—S3、S7—S8；按需跨用。</a:t>
            </a:r>
          </a:p>
        </p:txBody>
      </p:sp>
      <p:sp>
        <p:nvSpPr>
          <p:cNvPr id="14" name="text-907">
            <a:extLst xmlns:a="http://schemas.openxmlformats.org/drawingml/2006/main">
              <a:ext uri="{FF2B5EF4-FFF2-40B4-BE49-F238E27FC236}">
                <a16:creationId xmlns:a16="http://schemas.microsoft.com/office/drawing/2014/main" id="{B680AA5F-B529-4C4C-A7CE-79A6E37C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908">
            <a:extLst xmlns:a="http://schemas.openxmlformats.org/drawingml/2006/main">
              <a:ext uri="{FF2B5EF4-FFF2-40B4-BE49-F238E27FC236}">
                <a16:creationId xmlns:a16="http://schemas.microsoft.com/office/drawing/2014/main" id="{C4172BB9-217C-4C47-98DF-67F20610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具体问题、历史语境、各方材料、实际限制与实践反馈。</a:t>
            </a:r>
          </a:p>
        </p:txBody>
      </p:sp>
      <p:sp>
        <p:nvSpPr>
          <p:cNvPr id="16" name="text-909">
            <a:extLst xmlns:a="http://schemas.openxmlformats.org/drawingml/2006/main">
              <a:ext uri="{FF2B5EF4-FFF2-40B4-BE49-F238E27FC236}">
                <a16:creationId xmlns:a16="http://schemas.microsoft.com/office/drawing/2014/main" id="{850C052A-3359-4076-B3AA-E8E4D64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9128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910">
            <a:extLst xmlns:a="http://schemas.openxmlformats.org/drawingml/2006/main">
              <a:ext uri="{FF2B5EF4-FFF2-40B4-BE49-F238E27FC236}">
                <a16:creationId xmlns:a16="http://schemas.microsoft.com/office/drawing/2014/main" id="{39934CA2-7D93-45A6-B6DC-8BA8C986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8703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调查不同位置与反例；比较主要问题候选；制定阶段目标；用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反馈改判断。</a:t>
            </a:r>
          </a:p>
        </p:txBody>
      </p:sp>
      <p:sp>
        <p:nvSpPr>
          <p:cNvPr id="18" name="text-911">
            <a:extLst xmlns:a="http://schemas.openxmlformats.org/drawingml/2006/main">
              <a:ext uri="{FF2B5EF4-FFF2-40B4-BE49-F238E27FC236}">
                <a16:creationId xmlns:a16="http://schemas.microsoft.com/office/drawing/2014/main" id="{38C3BC92-6011-4876-A422-7B0A47DC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3934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912">
            <a:extLst xmlns:a="http://schemas.openxmlformats.org/drawingml/2006/main">
              <a:ext uri="{FF2B5EF4-FFF2-40B4-BE49-F238E27FC236}">
                <a16:creationId xmlns:a16="http://schemas.microsoft.com/office/drawing/2014/main" id="{52D760AA-53C3-4395-859A-C44D76EE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3509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调查记录、重点问题证据、试行方案和修正日志。</a:t>
            </a:r>
          </a:p>
        </p:txBody>
      </p:sp>
      <p:sp>
        <p:nvSpPr>
          <p:cNvPr id="20" name="box-913">
            <a:extLst xmlns:a="http://schemas.openxmlformats.org/drawingml/2006/main">
              <a:ext uri="{FF2B5EF4-FFF2-40B4-BE49-F238E27FC236}">
                <a16:creationId xmlns:a16="http://schemas.microsoft.com/office/drawing/2014/main" id="{845B4154-A94D-4375-AFB1-E7E348ED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914">
            <a:extLst xmlns:a="http://schemas.openxmlformats.org/drawingml/2006/main">
              <a:ext uri="{FF2B5EF4-FFF2-40B4-BE49-F238E27FC236}">
                <a16:creationId xmlns:a16="http://schemas.microsoft.com/office/drawing/2014/main" id="{E5D4C956-0DCC-4463-973F-DE42E91A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915">
            <a:extLst xmlns:a="http://schemas.openxmlformats.org/drawingml/2006/main">
              <a:ext uri="{FF2B5EF4-FFF2-40B4-BE49-F238E27FC236}">
                <a16:creationId xmlns:a16="http://schemas.microsoft.com/office/drawing/2014/main" id="{15D74B50-B559-4FC6-943E-D629ECBA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合成：团队进度慢，先访问执行者与协作者，再检验瓶颈究竟是需求还是交接。</a:t>
            </a:r>
          </a:p>
        </p:txBody>
      </p:sp>
      <p:sp>
        <p:nvSpPr>
          <p:cNvPr id="23" name="text-916">
            <a:extLst xmlns:a="http://schemas.openxmlformats.org/drawingml/2006/main">
              <a:ext uri="{FF2B5EF4-FFF2-40B4-BE49-F238E27FC236}">
                <a16:creationId xmlns:a16="http://schemas.microsoft.com/office/drawing/2014/main" id="{1C25D75A-F6DA-4C1C-BFF9-80D268A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917">
            <a:extLst xmlns:a="http://schemas.openxmlformats.org/drawingml/2006/main">
              <a:ext uri="{FF2B5EF4-FFF2-40B4-BE49-F238E27FC236}">
                <a16:creationId xmlns:a16="http://schemas.microsoft.com/office/drawing/2014/main" id="{4BA63FFC-AC93-45F6-B02C-7FB4337C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主要矛盾是待检验判断；口号不能代替调查、因果证据和多目标取舍。</a:t>
            </a:r>
          </a:p>
        </p:txBody>
      </p:sp>
    </p:spTree>
    <p:extLst>
      <p:ext uri="{BB962C8B-B14F-4D97-AF65-F5344CB8AC3E}">
        <p14:creationId xmlns:p14="http://schemas.microsoft.com/office/powerpoint/2010/main" val="121773815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918">
            <a:extLst xmlns:a="http://schemas.openxmlformats.org/drawingml/2006/main">
              <a:ext uri="{FF2B5EF4-FFF2-40B4-BE49-F238E27FC236}">
                <a16:creationId xmlns:a16="http://schemas.microsoft.com/office/drawing/2014/main" id="{60970FD7-1F9C-4B33-A07B-E0FD41CD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919">
            <a:extLst xmlns:a="http://schemas.openxmlformats.org/drawingml/2006/main">
              <a:ext uri="{FF2B5EF4-FFF2-40B4-BE49-F238E27FC236}">
                <a16:creationId xmlns:a16="http://schemas.microsoft.com/office/drawing/2014/main" id="{FDF74F6E-7FC1-4750-82D2-6251CDDD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M14 系统科学、控制论与钱学森系统工程</a:t>
            </a:r>
          </a:p>
        </p:txBody>
      </p:sp>
      <p:sp>
        <p:nvSpPr>
          <p:cNvPr id="3" name="claim-920">
            <a:extLst xmlns:a="http://schemas.openxmlformats.org/drawingml/2006/main">
              <a:ext uri="{FF2B5EF4-FFF2-40B4-BE49-F238E27FC236}">
                <a16:creationId xmlns:a16="http://schemas.microsoft.com/office/drawing/2014/main" id="{EA35CE4C-7EF5-489D-8A5F-0DA8D7B8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看清跨领域影响、反馈和延迟，设计有上限、能观察、可调整的行动。</a:t>
            </a:r>
          </a:p>
        </p:txBody>
      </p:sp>
      <p:sp>
        <p:nvSpPr>
          <p:cNvPr id="4" name="box-921">
            <a:extLst xmlns:a="http://schemas.openxmlformats.org/drawingml/2006/main">
              <a:ext uri="{FF2B5EF4-FFF2-40B4-BE49-F238E27FC236}">
                <a16:creationId xmlns:a16="http://schemas.microsoft.com/office/drawing/2014/main" id="{B53E64A6-BC4C-467A-8257-68F99A8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922">
            <a:extLst xmlns:a="http://schemas.openxmlformats.org/drawingml/2006/main">
              <a:ext uri="{FF2B5EF4-FFF2-40B4-BE49-F238E27FC236}">
                <a16:creationId xmlns:a16="http://schemas.microsoft.com/office/drawing/2014/main" id="{D2002559-AA71-49C8-8564-00969CD8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923">
            <a:extLst xmlns:a="http://schemas.openxmlformats.org/drawingml/2006/main">
              <a:ext uri="{FF2B5EF4-FFF2-40B4-BE49-F238E27FC236}">
                <a16:creationId xmlns:a16="http://schemas.microsoft.com/office/drawing/2014/main" id="{325CE513-1871-4056-B60F-347146EB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924">
            <a:extLst xmlns:a="http://schemas.openxmlformats.org/drawingml/2006/main">
              <a:ext uri="{FF2B5EF4-FFF2-40B4-BE49-F238E27FC236}">
                <a16:creationId xmlns:a16="http://schemas.microsoft.com/office/drawing/2014/main" id="{508A5EC5-3663-4182-AA4A-06628983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57 / 91</a:t>
            </a:r>
          </a:p>
        </p:txBody>
      </p:sp>
      <p:sp>
        <p:nvSpPr>
          <p:cNvPr id="8" name="text-925">
            <a:extLst xmlns:a="http://schemas.openxmlformats.org/drawingml/2006/main">
              <a:ext uri="{FF2B5EF4-FFF2-40B4-BE49-F238E27FC236}">
                <a16:creationId xmlns:a16="http://schemas.microsoft.com/office/drawing/2014/main" id="{2F5E8A90-4BE3-46E5-8D70-896BBE68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926">
            <a:extLst xmlns:a="http://schemas.openxmlformats.org/drawingml/2006/main">
              <a:ext uri="{FF2B5EF4-FFF2-40B4-BE49-F238E27FC236}">
                <a16:creationId xmlns:a16="http://schemas.microsoft.com/office/drawing/2014/main" id="{6F9EC1F5-5D3F-4F97-A4D6-2CFCF7E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系统边界、层次、接口与存量流量；状态x、输入u、观测y、扰动d、噪声v；反馈、延迟、稳定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与鲁棒性；可达可控、可观测与模型条件；系统工程、开放复杂巨系统与综合集成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目标底线、边界、实际状态、指标、关系证据、延迟、权限与资源。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建最小关系模型；区分状态和指标；检查副作用；按观察窗口有上限试行。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变量表、反馈延迟图、干预测量对应和更新计划。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927">
            <a:extLst xmlns:a="http://schemas.openxmlformats.org/drawingml/2006/main">
              <a:ext uri="{FF2B5EF4-FFF2-40B4-BE49-F238E27FC236}">
                <a16:creationId xmlns:a16="http://schemas.microsoft.com/office/drawing/2014/main" id="{6CF79352-F5AA-460F-A1A3-8BFCBC3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贯穿S1—S8。</a:t>
            </a:r>
          </a:p>
        </p:txBody>
      </p:sp>
      <p:sp>
        <p:nvSpPr>
          <p:cNvPr id="12" name="box-928">
            <a:extLst xmlns:a="http://schemas.openxmlformats.org/drawingml/2006/main">
              <a:ext uri="{FF2B5EF4-FFF2-40B4-BE49-F238E27FC236}">
                <a16:creationId xmlns:a16="http://schemas.microsoft.com/office/drawing/2014/main" id="{E85C1234-A0B0-45F7-812D-CF7FE5C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929">
            <a:extLst xmlns:a="http://schemas.openxmlformats.org/drawingml/2006/main">
              <a:ext uri="{FF2B5EF4-FFF2-40B4-BE49-F238E27FC236}">
                <a16:creationId xmlns:a16="http://schemas.microsoft.com/office/drawing/2014/main" id="{0FA7A648-EC73-4995-B540-7680ECD5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930">
            <a:extLst xmlns:a="http://schemas.openxmlformats.org/drawingml/2006/main">
              <a:ext uri="{FF2B5EF4-FFF2-40B4-BE49-F238E27FC236}">
                <a16:creationId xmlns:a16="http://schemas.microsoft.com/office/drawing/2014/main" id="{EAE91817-E804-40EE-980C-AFB3349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合成：学习加时挤占睡眠，应观察恢复与成果，不能因短期无进步持续加码。</a:t>
            </a:r>
          </a:p>
        </p:txBody>
      </p:sp>
      <p:sp>
        <p:nvSpPr>
          <p:cNvPr id="15" name="text-931">
            <a:extLst xmlns:a="http://schemas.openxmlformats.org/drawingml/2006/main">
              <a:ext uri="{FF2B5EF4-FFF2-40B4-BE49-F238E27FC236}">
                <a16:creationId xmlns:a16="http://schemas.microsoft.com/office/drawing/2014/main" id="{7FED6565-98EC-4318-9644-223275AD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932">
            <a:extLst xmlns:a="http://schemas.openxmlformats.org/drawingml/2006/main">
              <a:ext uri="{FF2B5EF4-FFF2-40B4-BE49-F238E27FC236}">
                <a16:creationId xmlns:a16="http://schemas.microsoft.com/office/drawing/2014/main" id="{E7533864-1899-4307-9F48-F46361C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负反馈不保证稳定；生活类比不构成可控性证明；M14不掌握用户价值决定权。</a:t>
            </a:r>
          </a:p>
        </p:txBody>
      </p:sp>
    </p:spTree>
    <p:extLst>
      <p:ext uri="{BB962C8B-B14F-4D97-AF65-F5344CB8AC3E}">
        <p14:creationId xmlns:p14="http://schemas.microsoft.com/office/powerpoint/2010/main" val="27984657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933">
            <a:extLst xmlns:a="http://schemas.openxmlformats.org/drawingml/2006/main">
              <a:ext uri="{FF2B5EF4-FFF2-40B4-BE49-F238E27FC236}">
                <a16:creationId xmlns:a16="http://schemas.microsoft.com/office/drawing/2014/main" id="{1C17DAE8-18BC-4F1B-ABFA-4567C5BA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934">
            <a:extLst xmlns:a="http://schemas.openxmlformats.org/drawingml/2006/main">
              <a:ext uri="{FF2B5EF4-FFF2-40B4-BE49-F238E27FC236}">
                <a16:creationId xmlns:a16="http://schemas.microsoft.com/office/drawing/2014/main" id="{271BC6EB-4E29-4778-8693-A30B110E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M15 计算机、数据处理与信息安全</a:t>
            </a:r>
          </a:p>
        </p:txBody>
      </p:sp>
      <p:sp>
        <p:nvSpPr>
          <p:cNvPr id="3" name="claim-935">
            <a:extLst xmlns:a="http://schemas.openxmlformats.org/drawingml/2006/main">
              <a:ext uri="{FF2B5EF4-FFF2-40B4-BE49-F238E27FC236}">
                <a16:creationId xmlns:a16="http://schemas.microsoft.com/office/drawing/2014/main" id="{F3C5A45A-FF2B-42BB-8E6D-6607564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把资料处理成含义清楚、可核对、可复现并受权限约束的结果。</a:t>
            </a:r>
          </a:p>
        </p:txBody>
      </p:sp>
      <p:sp>
        <p:nvSpPr>
          <p:cNvPr id="4" name="box-936">
            <a:extLst xmlns:a="http://schemas.openxmlformats.org/drawingml/2006/main">
              <a:ext uri="{FF2B5EF4-FFF2-40B4-BE49-F238E27FC236}">
                <a16:creationId xmlns:a16="http://schemas.microsoft.com/office/drawing/2014/main" id="{EDC74986-1824-44AE-A1BC-0E41DF70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937">
            <a:extLst xmlns:a="http://schemas.openxmlformats.org/drawingml/2006/main">
              <a:ext uri="{FF2B5EF4-FFF2-40B4-BE49-F238E27FC236}">
                <a16:creationId xmlns:a16="http://schemas.microsoft.com/office/drawing/2014/main" id="{7017AE5C-58AE-462D-8D6D-743AC8D3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938">
            <a:extLst xmlns:a="http://schemas.openxmlformats.org/drawingml/2006/main">
              <a:ext uri="{FF2B5EF4-FFF2-40B4-BE49-F238E27FC236}">
                <a16:creationId xmlns:a16="http://schemas.microsoft.com/office/drawing/2014/main" id="{6135B086-104E-4376-8D79-0A6F94B5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939">
            <a:extLst xmlns:a="http://schemas.openxmlformats.org/drawingml/2006/main">
              <a:ext uri="{FF2B5EF4-FFF2-40B4-BE49-F238E27FC236}">
                <a16:creationId xmlns:a16="http://schemas.microsoft.com/office/drawing/2014/main" id="{1DDEFBDB-0551-4917-ABBB-61FDC257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58 / 91</a:t>
            </a:r>
          </a:p>
        </p:txBody>
      </p:sp>
      <p:sp>
        <p:nvSpPr>
          <p:cNvPr id="8" name="text-940">
            <a:extLst xmlns:a="http://schemas.openxmlformats.org/drawingml/2006/main">
              <a:ext uri="{FF2B5EF4-FFF2-40B4-BE49-F238E27FC236}">
                <a16:creationId xmlns:a16="http://schemas.microsoft.com/office/drawing/2014/main" id="{EC3EC90F-83D4-45DD-86DC-1D260D0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941">
            <a:extLst xmlns:a="http://schemas.openxmlformats.org/drawingml/2006/main">
              <a:ext uri="{FF2B5EF4-FFF2-40B4-BE49-F238E27FC236}">
                <a16:creationId xmlns:a16="http://schemas.microsoft.com/office/drawing/2014/main" id="{4061C984-3E0C-420B-A140-FDF4A6C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Excel、SQL、Python与基础算法</a:t>
            </a:r>
          </a:p>
        </p:txBody>
      </p:sp>
      <p:sp>
        <p:nvSpPr>
          <p:cNvPr id="10" name="text-942">
            <a:extLst xmlns:a="http://schemas.openxmlformats.org/drawingml/2006/main">
              <a:ext uri="{FF2B5EF4-FFF2-40B4-BE49-F238E27FC236}">
                <a16:creationId xmlns:a16="http://schemas.microsoft.com/office/drawing/2014/main" id="{99819145-1A95-466A-86C5-81EB551B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数据清洗、字典与可视化</a:t>
            </a:r>
          </a:p>
        </p:txBody>
      </p:sp>
      <p:sp>
        <p:nvSpPr>
          <p:cNvPr id="11" name="text-943">
            <a:extLst xmlns:a="http://schemas.openxmlformats.org/drawingml/2006/main">
              <a:ext uri="{FF2B5EF4-FFF2-40B4-BE49-F238E27FC236}">
                <a16:creationId xmlns:a16="http://schemas.microsoft.com/office/drawing/2014/main" id="{230B921E-23FF-46DC-9808-2D90D18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数据库、网络与信息安全</a:t>
            </a:r>
          </a:p>
        </p:txBody>
      </p:sp>
      <p:sp>
        <p:nvSpPr>
          <p:cNvPr id="12" name="text-944">
            <a:extLst xmlns:a="http://schemas.openxmlformats.org/drawingml/2006/main">
              <a:ext uri="{FF2B5EF4-FFF2-40B4-BE49-F238E27FC236}">
                <a16:creationId xmlns:a16="http://schemas.microsoft.com/office/drawing/2014/main" id="{6AD566AA-04F8-48AD-86F4-246B6C6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来源、权限、备份与可复现流程</a:t>
            </a:r>
          </a:p>
        </p:txBody>
      </p:sp>
      <p:sp>
        <p:nvSpPr>
          <p:cNvPr id="13" name="text-945">
            <a:extLst xmlns:a="http://schemas.openxmlformats.org/drawingml/2006/main">
              <a:ext uri="{FF2B5EF4-FFF2-40B4-BE49-F238E27FC236}">
                <a16:creationId xmlns:a16="http://schemas.microsoft.com/office/drawing/2014/main" id="{3391161C-36F3-4D33-8B07-35D6D17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常用S2、S4、S7、S8；按需跨用。</a:t>
            </a:r>
          </a:p>
        </p:txBody>
      </p:sp>
      <p:sp>
        <p:nvSpPr>
          <p:cNvPr id="14" name="text-946">
            <a:extLst xmlns:a="http://schemas.openxmlformats.org/drawingml/2006/main">
              <a:ext uri="{FF2B5EF4-FFF2-40B4-BE49-F238E27FC236}">
                <a16:creationId xmlns:a16="http://schemas.microsoft.com/office/drawing/2014/main" id="{DCD019AA-3A44-45D0-AD6B-D2CC64F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947">
            <a:extLst xmlns:a="http://schemas.openxmlformats.org/drawingml/2006/main">
              <a:ext uri="{FF2B5EF4-FFF2-40B4-BE49-F238E27FC236}">
                <a16:creationId xmlns:a16="http://schemas.microsoft.com/office/drawing/2014/main" id="{85DFEE6B-AA93-4D53-B5ED-912B009D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授权数据、字段格式、目标、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环境、质量标准和保存访问限制。</a:t>
            </a:r>
          </a:p>
        </p:txBody>
      </p:sp>
      <p:sp>
        <p:nvSpPr>
          <p:cNvPr id="16" name="text-948">
            <a:extLst xmlns:a="http://schemas.openxmlformats.org/drawingml/2006/main">
              <a:ext uri="{FF2B5EF4-FFF2-40B4-BE49-F238E27FC236}">
                <a16:creationId xmlns:a16="http://schemas.microsoft.com/office/drawing/2014/main" id="{C390212E-85B7-4D7D-8A5A-A77AFFD9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949">
            <a:extLst xmlns:a="http://schemas.openxmlformats.org/drawingml/2006/main">
              <a:ext uri="{FF2B5EF4-FFF2-40B4-BE49-F238E27FC236}">
                <a16:creationId xmlns:a16="http://schemas.microsoft.com/office/drawing/2014/main" id="{C0385B1A-90FC-44D2-8777-6BF79620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保留原始记录；查缺失重复和单位；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运行转换；抽样核对与汇总勾稽。</a:t>
            </a:r>
          </a:p>
        </p:txBody>
      </p:sp>
      <p:sp>
        <p:nvSpPr>
          <p:cNvPr id="18" name="text-950">
            <a:extLst xmlns:a="http://schemas.openxmlformats.org/drawingml/2006/main">
              <a:ext uri="{FF2B5EF4-FFF2-40B4-BE49-F238E27FC236}">
                <a16:creationId xmlns:a16="http://schemas.microsoft.com/office/drawing/2014/main" id="{D4C450F0-0071-4310-9306-8108FE00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951">
            <a:extLst xmlns:a="http://schemas.openxmlformats.org/drawingml/2006/main">
              <a:ext uri="{FF2B5EF4-FFF2-40B4-BE49-F238E27FC236}">
                <a16:creationId xmlns:a16="http://schemas.microsoft.com/office/drawing/2014/main" id="{D7D26981-4F3E-4867-BA8B-5DD88F1B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数据字典、处理记录、代码公式、核对结果及恢复说明。</a:t>
            </a:r>
          </a:p>
        </p:txBody>
      </p:sp>
      <p:sp>
        <p:nvSpPr>
          <p:cNvPr id="20" name="box-952">
            <a:extLst xmlns:a="http://schemas.openxmlformats.org/drawingml/2006/main">
              <a:ext uri="{FF2B5EF4-FFF2-40B4-BE49-F238E27FC236}">
                <a16:creationId xmlns:a16="http://schemas.microsoft.com/office/drawing/2014/main" id="{95631FEB-EA1C-4BDB-A9C6-1C79723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953">
            <a:extLst xmlns:a="http://schemas.openxmlformats.org/drawingml/2006/main">
              <a:ext uri="{FF2B5EF4-FFF2-40B4-BE49-F238E27FC236}">
                <a16:creationId xmlns:a16="http://schemas.microsoft.com/office/drawing/2014/main" id="{8A367DB9-9446-468D-AAA0-80BFA93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954">
            <a:extLst xmlns:a="http://schemas.openxmlformats.org/drawingml/2006/main">
              <a:ext uri="{FF2B5EF4-FFF2-40B4-BE49-F238E27FC236}">
                <a16:creationId xmlns:a16="http://schemas.microsoft.com/office/drawing/2014/main" id="{6AFC1842-973A-48D3-AFAD-B9B311F6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合成：合并月支出表前统一币种和日期；空白金额保留未知，不能静默填零。</a:t>
            </a:r>
          </a:p>
        </p:txBody>
      </p:sp>
      <p:sp>
        <p:nvSpPr>
          <p:cNvPr id="23" name="text-955">
            <a:extLst xmlns:a="http://schemas.openxmlformats.org/drawingml/2006/main">
              <a:ext uri="{FF2B5EF4-FFF2-40B4-BE49-F238E27FC236}">
                <a16:creationId xmlns:a16="http://schemas.microsoft.com/office/drawing/2014/main" id="{33AE93F6-A159-4477-9B5F-BEF9039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956">
            <a:extLst xmlns:a="http://schemas.openxmlformats.org/drawingml/2006/main">
              <a:ext uri="{FF2B5EF4-FFF2-40B4-BE49-F238E27FC236}">
                <a16:creationId xmlns:a16="http://schemas.microsoft.com/office/drawing/2014/main" id="{1D3C7916-CED7-406D-93EE-F490AEF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程序跑通不等于业务含义正确；不得扩大授权采集或绕过访问限制。</a:t>
            </a:r>
          </a:p>
        </p:txBody>
      </p:sp>
    </p:spTree>
    <p:extLst>
      <p:ext uri="{BB962C8B-B14F-4D97-AF65-F5344CB8AC3E}">
        <p14:creationId xmlns:p14="http://schemas.microsoft.com/office/powerpoint/2010/main" val="128247069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957">
            <a:extLst xmlns:a="http://schemas.openxmlformats.org/drawingml/2006/main">
              <a:ext uri="{FF2B5EF4-FFF2-40B4-BE49-F238E27FC236}">
                <a16:creationId xmlns:a16="http://schemas.microsoft.com/office/drawing/2014/main" id="{DDEFB7F2-F634-429D-882C-87931B8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958">
            <a:extLst xmlns:a="http://schemas.openxmlformats.org/drawingml/2006/main">
              <a:ext uri="{FF2B5EF4-FFF2-40B4-BE49-F238E27FC236}">
                <a16:creationId xmlns:a16="http://schemas.microsoft.com/office/drawing/2014/main" id="{62E0E3B1-04F4-4A55-9477-4EDC807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M16 机器学习、大模型与自动化</a:t>
            </a:r>
          </a:p>
        </p:txBody>
      </p:sp>
      <p:sp>
        <p:nvSpPr>
          <p:cNvPr id="3" name="claim-959">
            <a:extLst xmlns:a="http://schemas.openxmlformats.org/drawingml/2006/main">
              <a:ext uri="{FF2B5EF4-FFF2-40B4-BE49-F238E27FC236}">
                <a16:creationId xmlns:a16="http://schemas.microsoft.com/office/drawing/2014/main" id="{6EB657FE-8117-46DE-849C-4A452333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先用真实样例验证AI的价值和失败方式，再把适合的任务接入流程。</a:t>
            </a:r>
          </a:p>
        </p:txBody>
      </p:sp>
      <p:sp>
        <p:nvSpPr>
          <p:cNvPr id="4" name="box-960">
            <a:extLst xmlns:a="http://schemas.openxmlformats.org/drawingml/2006/main">
              <a:ext uri="{FF2B5EF4-FFF2-40B4-BE49-F238E27FC236}">
                <a16:creationId xmlns:a16="http://schemas.microsoft.com/office/drawing/2014/main" id="{79DBD97C-A02F-4658-BCF7-EF75785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961">
            <a:extLst xmlns:a="http://schemas.openxmlformats.org/drawingml/2006/main">
              <a:ext uri="{FF2B5EF4-FFF2-40B4-BE49-F238E27FC236}">
                <a16:creationId xmlns:a16="http://schemas.microsoft.com/office/drawing/2014/main" id="{19A9BB78-C0D4-41AA-9476-D1BE9ECB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962">
            <a:extLst xmlns:a="http://schemas.openxmlformats.org/drawingml/2006/main">
              <a:ext uri="{FF2B5EF4-FFF2-40B4-BE49-F238E27FC236}">
                <a16:creationId xmlns:a16="http://schemas.microsoft.com/office/drawing/2014/main" id="{07A04AC7-6196-46E3-A0EE-79192C6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963">
            <a:extLst xmlns:a="http://schemas.openxmlformats.org/drawingml/2006/main">
              <a:ext uri="{FF2B5EF4-FFF2-40B4-BE49-F238E27FC236}">
                <a16:creationId xmlns:a16="http://schemas.microsoft.com/office/drawing/2014/main" id="{67EB30B8-7E34-409C-81A9-6949E8D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59 / 91</a:t>
            </a:r>
          </a:p>
        </p:txBody>
      </p:sp>
      <p:sp>
        <p:nvSpPr>
          <p:cNvPr id="8" name="text-964">
            <a:extLst xmlns:a="http://schemas.openxmlformats.org/drawingml/2006/main">
              <a:ext uri="{FF2B5EF4-FFF2-40B4-BE49-F238E27FC236}">
                <a16:creationId xmlns:a16="http://schemas.microsoft.com/office/drawing/2014/main" id="{0437B9B7-FFCB-4CC1-80F4-D358038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965">
            <a:extLst xmlns:a="http://schemas.openxmlformats.org/drawingml/2006/main">
              <a:ext uri="{FF2B5EF4-FFF2-40B4-BE49-F238E27FC236}">
                <a16:creationId xmlns:a16="http://schemas.microsoft.com/office/drawing/2014/main" id="{EE413335-8668-4FF3-AE42-5B6C5AB5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训练、推理、泛化与机器学习；大模型、检索增强与工具流程；泄漏、偏差、幻觉与错误推断；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隐私、权限、评价与运行监控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任务、代表样例、正确结果或评价法、错误成本、工具数据和授权。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建简单基线；选流程；用未参与设计的样例评价；设失败处理和监控。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任务规范、基线、评价结果、失败案例和权限说明。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966">
            <a:extLst xmlns:a="http://schemas.openxmlformats.org/drawingml/2006/main">
              <a:ext uri="{FF2B5EF4-FFF2-40B4-BE49-F238E27FC236}">
                <a16:creationId xmlns:a16="http://schemas.microsoft.com/office/drawing/2014/main" id="{8F794BC8-D7E7-4475-B36C-E102259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常用S2—S4、S7—S8；按需跨用。</a:t>
            </a:r>
          </a:p>
        </p:txBody>
      </p:sp>
      <p:sp>
        <p:nvSpPr>
          <p:cNvPr id="12" name="box-967">
            <a:extLst xmlns:a="http://schemas.openxmlformats.org/drawingml/2006/main">
              <a:ext uri="{FF2B5EF4-FFF2-40B4-BE49-F238E27FC236}">
                <a16:creationId xmlns:a16="http://schemas.microsoft.com/office/drawing/2014/main" id="{33BD4E2F-2841-4776-AAE1-63EC103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968">
            <a:extLst xmlns:a="http://schemas.openxmlformats.org/drawingml/2006/main">
              <a:ext uri="{FF2B5EF4-FFF2-40B4-BE49-F238E27FC236}">
                <a16:creationId xmlns:a16="http://schemas.microsoft.com/office/drawing/2014/main" id="{974007F1-609F-4585-A7CE-FF9723A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969">
            <a:extLst xmlns:a="http://schemas.openxmlformats.org/drawingml/2006/main">
              <a:ext uri="{FF2B5EF4-FFF2-40B4-BE49-F238E27FC236}">
                <a16:creationId xmlns:a16="http://schemas.microsoft.com/office/drawing/2014/main" id="{0796AF13-1716-4449-ABB5-F9C526BE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合成：让AI抽取会议任务，先检查漏项与责任人误配，再决定哪些结果需人工确认。</a:t>
            </a:r>
          </a:p>
        </p:txBody>
      </p:sp>
      <p:sp>
        <p:nvSpPr>
          <p:cNvPr id="15" name="text-970">
            <a:extLst xmlns:a="http://schemas.openxmlformats.org/drawingml/2006/main">
              <a:ext uri="{FF2B5EF4-FFF2-40B4-BE49-F238E27FC236}">
                <a16:creationId xmlns:a16="http://schemas.microsoft.com/office/drawing/2014/main" id="{F87A3035-5FC7-4168-B5CE-FC8FABFB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971">
            <a:extLst xmlns:a="http://schemas.openxmlformats.org/drawingml/2006/main">
              <a:ext uri="{FF2B5EF4-FFF2-40B4-BE49-F238E27FC236}">
                <a16:creationId xmlns:a16="http://schemas.microsoft.com/office/drawing/2014/main" id="{DCA363ED-66E4-49AD-8D62-E6E9457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流畅和多代理一致不代表事实；提示词不等于训练，未运行不能称完成。</a:t>
            </a:r>
          </a:p>
        </p:txBody>
      </p:sp>
    </p:spTree>
    <p:extLst>
      <p:ext uri="{BB962C8B-B14F-4D97-AF65-F5344CB8AC3E}">
        <p14:creationId xmlns:p14="http://schemas.microsoft.com/office/powerpoint/2010/main" val="206089453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972">
            <a:extLst xmlns:a="http://schemas.openxmlformats.org/drawingml/2006/main">
              <a:ext uri="{FF2B5EF4-FFF2-40B4-BE49-F238E27FC236}">
                <a16:creationId xmlns:a16="http://schemas.microsoft.com/office/drawing/2014/main" id="{91ADA334-FF18-4F7D-873B-C5CE97E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973">
            <a:extLst xmlns:a="http://schemas.openxmlformats.org/drawingml/2006/main">
              <a:ext uri="{FF2B5EF4-FFF2-40B4-BE49-F238E27FC236}">
                <a16:creationId xmlns:a16="http://schemas.microsoft.com/office/drawing/2014/main" id="{4E7BF432-835C-4B19-92C9-AA88C66A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M17 语言表达、沟通与谈判</a:t>
            </a:r>
          </a:p>
        </p:txBody>
      </p:sp>
      <p:sp>
        <p:nvSpPr>
          <p:cNvPr id="3" name="claim-974">
            <a:extLst xmlns:a="http://schemas.openxmlformats.org/drawingml/2006/main">
              <a:ext uri="{FF2B5EF4-FFF2-40B4-BE49-F238E27FC236}">
                <a16:creationId xmlns:a16="http://schemas.microsoft.com/office/drawing/2014/main" id="{ABEA8E72-B39D-4D32-B769-586333F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理解对方需要判断什么，把事实、主张和请求表达清楚并核对约定。</a:t>
            </a:r>
          </a:p>
        </p:txBody>
      </p:sp>
      <p:sp>
        <p:nvSpPr>
          <p:cNvPr id="4" name="box-975">
            <a:extLst xmlns:a="http://schemas.openxmlformats.org/drawingml/2006/main">
              <a:ext uri="{FF2B5EF4-FFF2-40B4-BE49-F238E27FC236}">
                <a16:creationId xmlns:a16="http://schemas.microsoft.com/office/drawing/2014/main" id="{45710E42-E58E-4438-B93B-876AABC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976">
            <a:extLst xmlns:a="http://schemas.openxmlformats.org/drawingml/2006/main">
              <a:ext uri="{FF2B5EF4-FFF2-40B4-BE49-F238E27FC236}">
                <a16:creationId xmlns:a16="http://schemas.microsoft.com/office/drawing/2014/main" id="{AA26D8D7-EC32-407E-BA69-F770B51C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977">
            <a:extLst xmlns:a="http://schemas.openxmlformats.org/drawingml/2006/main">
              <a:ext uri="{FF2B5EF4-FFF2-40B4-BE49-F238E27FC236}">
                <a16:creationId xmlns:a16="http://schemas.microsoft.com/office/drawing/2014/main" id="{8B594737-3EDD-4F45-A235-90CB134F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978">
            <a:extLst xmlns:a="http://schemas.openxmlformats.org/drawingml/2006/main">
              <a:ext uri="{FF2B5EF4-FFF2-40B4-BE49-F238E27FC236}">
                <a16:creationId xmlns:a16="http://schemas.microsoft.com/office/drawing/2014/main" id="{26452745-9D38-45A7-A668-7ACF8E60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60 / 91</a:t>
            </a:r>
          </a:p>
        </p:txBody>
      </p:sp>
      <p:sp>
        <p:nvSpPr>
          <p:cNvPr id="8" name="text-979">
            <a:extLst xmlns:a="http://schemas.openxmlformats.org/drawingml/2006/main">
              <a:ext uri="{FF2B5EF4-FFF2-40B4-BE49-F238E27FC236}">
                <a16:creationId xmlns:a16="http://schemas.microsoft.com/office/drawing/2014/main" id="{CF25302B-19B7-4328-957E-8C6679C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980">
            <a:extLst xmlns:a="http://schemas.openxmlformats.org/drawingml/2006/main">
              <a:ext uri="{FF2B5EF4-FFF2-40B4-BE49-F238E27FC236}">
                <a16:creationId xmlns:a16="http://schemas.microsoft.com/office/drawing/2014/main" id="{53BAAF37-75FE-492A-BDE8-D8F808E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阅读、写作、提问与倾听</a:t>
            </a:r>
          </a:p>
        </p:txBody>
      </p:sp>
      <p:sp>
        <p:nvSpPr>
          <p:cNvPr id="10" name="text-981">
            <a:extLst xmlns:a="http://schemas.openxmlformats.org/drawingml/2006/main">
              <a:ext uri="{FF2B5EF4-FFF2-40B4-BE49-F238E27FC236}">
                <a16:creationId xmlns:a16="http://schemas.microsoft.com/office/drawing/2014/main" id="{6D30F2BC-35D5-44AF-BDF8-EEEF0CA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演讲、结构化表达与多长度稿件</a:t>
            </a:r>
          </a:p>
        </p:txBody>
      </p:sp>
      <p:sp>
        <p:nvSpPr>
          <p:cNvPr id="11" name="text-982">
            <a:extLst xmlns:a="http://schemas.openxmlformats.org/drawingml/2006/main">
              <a:ext uri="{FF2B5EF4-FFF2-40B4-BE49-F238E27FC236}">
                <a16:creationId xmlns:a16="http://schemas.microsoft.com/office/drawing/2014/main" id="{CAEA485D-D746-436B-93B6-1E87723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谈判、说服、利益与底线</a:t>
            </a:r>
          </a:p>
        </p:txBody>
      </p:sp>
      <p:sp>
        <p:nvSpPr>
          <p:cNvPr id="12" name="text-983">
            <a:extLst xmlns:a="http://schemas.openxmlformats.org/drawingml/2006/main">
              <a:ext uri="{FF2B5EF4-FFF2-40B4-BE49-F238E27FC236}">
                <a16:creationId xmlns:a16="http://schemas.microsoft.com/office/drawing/2014/main" id="{77746B2A-B2F4-4AA9-AA5A-A816D80D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冲突处理、理解检查与约定</a:t>
            </a:r>
          </a:p>
        </p:txBody>
      </p:sp>
      <p:sp>
        <p:nvSpPr>
          <p:cNvPr id="13" name="text-984">
            <a:extLst xmlns:a="http://schemas.openxmlformats.org/drawingml/2006/main">
              <a:ext uri="{FF2B5EF4-FFF2-40B4-BE49-F238E27FC236}">
                <a16:creationId xmlns:a16="http://schemas.microsoft.com/office/drawing/2014/main" id="{18521A45-3A4C-4AF9-B83F-D3B47122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常用S1—S3、S6—S7；按需跨用。</a:t>
            </a:r>
          </a:p>
        </p:txBody>
      </p:sp>
      <p:sp>
        <p:nvSpPr>
          <p:cNvPr id="14" name="text-985">
            <a:extLst xmlns:a="http://schemas.openxmlformats.org/drawingml/2006/main">
              <a:ext uri="{FF2B5EF4-FFF2-40B4-BE49-F238E27FC236}">
                <a16:creationId xmlns:a16="http://schemas.microsoft.com/office/drawing/2014/main" id="{04568252-0A78-436B-8A8A-0916974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986">
            <a:extLst xmlns:a="http://schemas.openxmlformats.org/drawingml/2006/main">
              <a:ext uri="{FF2B5EF4-FFF2-40B4-BE49-F238E27FC236}">
                <a16:creationId xmlns:a16="http://schemas.microsoft.com/office/drawing/2014/main" id="{E7946FAD-F907-41A2-B3D1-61BD4B2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对象场景、交流目标、已知顾虑、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事实材料、立场和关系时间限制。</a:t>
            </a:r>
          </a:p>
        </p:txBody>
      </p:sp>
      <p:sp>
        <p:nvSpPr>
          <p:cNvPr id="16" name="text-987">
            <a:extLst xmlns:a="http://schemas.openxmlformats.org/drawingml/2006/main">
              <a:ext uri="{FF2B5EF4-FFF2-40B4-BE49-F238E27FC236}">
                <a16:creationId xmlns:a16="http://schemas.microsoft.com/office/drawing/2014/main" id="{F168523F-760B-4B41-A0CF-F89383B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988">
            <a:extLst xmlns:a="http://schemas.openxmlformats.org/drawingml/2006/main">
              <a:ext uri="{FF2B5EF4-FFF2-40B4-BE49-F238E27FC236}">
                <a16:creationId xmlns:a16="http://schemas.microsoft.com/office/drawing/2014/main" id="{C7469BFE-255D-4292-A244-E4C179A7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复述关切；组织主张证据和请求；准备诚实回应；核对理解、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责任与后续。</a:t>
            </a:r>
          </a:p>
        </p:txBody>
      </p:sp>
      <p:sp>
        <p:nvSpPr>
          <p:cNvPr id="18" name="text-989">
            <a:extLst xmlns:a="http://schemas.openxmlformats.org/drawingml/2006/main">
              <a:ext uri="{FF2B5EF4-FFF2-40B4-BE49-F238E27FC236}">
                <a16:creationId xmlns:a16="http://schemas.microsoft.com/office/drawing/2014/main" id="{0C84789B-5D2D-420A-B350-324D6C74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990">
            <a:extLst xmlns:a="http://schemas.openxmlformats.org/drawingml/2006/main">
              <a:ext uri="{FF2B5EF4-FFF2-40B4-BE49-F238E27FC236}">
                <a16:creationId xmlns:a16="http://schemas.microsoft.com/office/drawing/2014/main" id="{59F89DCD-98E0-496A-B9D8-CE2D5E73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具体稿件、提问清单、谈判条件和约定记录。</a:t>
            </a:r>
          </a:p>
        </p:txBody>
      </p:sp>
      <p:sp>
        <p:nvSpPr>
          <p:cNvPr id="20" name="box-991">
            <a:extLst xmlns:a="http://schemas.openxmlformats.org/drawingml/2006/main">
              <a:ext uri="{FF2B5EF4-FFF2-40B4-BE49-F238E27FC236}">
                <a16:creationId xmlns:a16="http://schemas.microsoft.com/office/drawing/2014/main" id="{1FB85EA4-895D-4D33-925F-90E0772D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992">
            <a:extLst xmlns:a="http://schemas.openxmlformats.org/drawingml/2006/main">
              <a:ext uri="{FF2B5EF4-FFF2-40B4-BE49-F238E27FC236}">
                <a16:creationId xmlns:a16="http://schemas.microsoft.com/office/drawing/2014/main" id="{9C7F0F49-65DA-451C-A616-F1BEFC8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993">
            <a:extLst xmlns:a="http://schemas.openxmlformats.org/drawingml/2006/main">
              <a:ext uri="{FF2B5EF4-FFF2-40B4-BE49-F238E27FC236}">
                <a16:creationId xmlns:a16="http://schemas.microsoft.com/office/drawing/2014/main" id="{A54C97BB-859A-461D-ACF0-A4C9F49D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合成：申请调整排班时，说明实际困难、可交换时段和请求，确认对方理解。</a:t>
            </a:r>
          </a:p>
        </p:txBody>
      </p:sp>
      <p:sp>
        <p:nvSpPr>
          <p:cNvPr id="23" name="text-994">
            <a:extLst xmlns:a="http://schemas.openxmlformats.org/drawingml/2006/main">
              <a:ext uri="{FF2B5EF4-FFF2-40B4-BE49-F238E27FC236}">
                <a16:creationId xmlns:a16="http://schemas.microsoft.com/office/drawing/2014/main" id="{A52E5562-102B-4706-B06A-1F6EEBA1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995">
            <a:extLst xmlns:a="http://schemas.openxmlformats.org/drawingml/2006/main">
              <a:ext uri="{FF2B5EF4-FFF2-40B4-BE49-F238E27FC236}">
                <a16:creationId xmlns:a16="http://schemas.microsoft.com/office/drawing/2014/main" id="{CB83D542-3EB3-4F77-9FEF-1C2E834B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表达清晰不保证内容真实或对方接受；外发仍需已有授权。</a:t>
            </a:r>
          </a:p>
        </p:txBody>
      </p:sp>
    </p:spTree>
    <p:extLst>
      <p:ext uri="{BB962C8B-B14F-4D97-AF65-F5344CB8AC3E}">
        <p14:creationId xmlns:p14="http://schemas.microsoft.com/office/powerpoint/2010/main" val="139362657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996">
            <a:extLst xmlns:a="http://schemas.openxmlformats.org/drawingml/2006/main">
              <a:ext uri="{FF2B5EF4-FFF2-40B4-BE49-F238E27FC236}">
                <a16:creationId xmlns:a16="http://schemas.microsoft.com/office/drawing/2014/main" id="{1B3BFEA0-1B7A-4FB3-8218-D7E2E6F6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997">
            <a:extLst xmlns:a="http://schemas.openxmlformats.org/drawingml/2006/main">
              <a:ext uri="{FF2B5EF4-FFF2-40B4-BE49-F238E27FC236}">
                <a16:creationId xmlns:a16="http://schemas.microsoft.com/office/drawing/2014/main" id="{5CFB5F22-E3F5-4636-92EF-2B542AF7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M18 管理与执行</a:t>
            </a:r>
          </a:p>
        </p:txBody>
      </p:sp>
      <p:sp>
        <p:nvSpPr>
          <p:cNvPr id="3" name="claim-998">
            <a:extLst xmlns:a="http://schemas.openxmlformats.org/drawingml/2006/main">
              <a:ext uri="{FF2B5EF4-FFF2-40B4-BE49-F238E27FC236}">
                <a16:creationId xmlns:a16="http://schemas.microsoft.com/office/drawing/2014/main" id="{719F9083-B621-472F-97A6-5937285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把目标变成有责任、依赖、验收和反馈的实际工作。</a:t>
            </a:r>
          </a:p>
        </p:txBody>
      </p:sp>
      <p:sp>
        <p:nvSpPr>
          <p:cNvPr id="4" name="box-999">
            <a:extLst xmlns:a="http://schemas.openxmlformats.org/drawingml/2006/main">
              <a:ext uri="{FF2B5EF4-FFF2-40B4-BE49-F238E27FC236}">
                <a16:creationId xmlns:a16="http://schemas.microsoft.com/office/drawing/2014/main" id="{191A86B0-D6DD-4A18-A100-6E6ECD3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00">
            <a:extLst xmlns:a="http://schemas.openxmlformats.org/drawingml/2006/main">
              <a:ext uri="{FF2B5EF4-FFF2-40B4-BE49-F238E27FC236}">
                <a16:creationId xmlns:a16="http://schemas.microsoft.com/office/drawing/2014/main" id="{30EEB291-7EDA-40D4-A1BE-FDA51FB4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01">
            <a:extLst xmlns:a="http://schemas.openxmlformats.org/drawingml/2006/main">
              <a:ext uri="{FF2B5EF4-FFF2-40B4-BE49-F238E27FC236}">
                <a16:creationId xmlns:a16="http://schemas.microsoft.com/office/drawing/2014/main" id="{55182FEC-7968-461D-B88C-C03C9C98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02">
            <a:extLst xmlns:a="http://schemas.openxmlformats.org/drawingml/2006/main">
              <a:ext uri="{FF2B5EF4-FFF2-40B4-BE49-F238E27FC236}">
                <a16:creationId xmlns:a16="http://schemas.microsoft.com/office/drawing/2014/main" id="{D0E670F5-91A4-4D3F-B46A-EA1947A4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61 / 91</a:t>
            </a:r>
          </a:p>
        </p:txBody>
      </p:sp>
      <p:sp>
        <p:nvSpPr>
          <p:cNvPr id="8" name="text-1003">
            <a:extLst xmlns:a="http://schemas.openxmlformats.org/drawingml/2006/main">
              <a:ext uri="{FF2B5EF4-FFF2-40B4-BE49-F238E27FC236}">
                <a16:creationId xmlns:a16="http://schemas.microsoft.com/office/drawing/2014/main" id="{BAC88C57-1493-4D13-9FEB-85EFDA75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1004">
            <a:extLst xmlns:a="http://schemas.openxmlformats.org/drawingml/2006/main">
              <a:ext uri="{FF2B5EF4-FFF2-40B4-BE49-F238E27FC236}">
                <a16:creationId xmlns:a16="http://schemas.microsoft.com/office/drawing/2014/main" id="{1A73A6EE-F406-43EC-89BB-778D86B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目标设定、任务分解与优先级；项目、流程、会议与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协作；授权、责任与反馈；风险管理、缓冲与复盘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认可的目标、完成标准、期限、资源、责任人、依赖和已有承诺。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定义成果和下一步；安排依赖与缓冲；记录阻碍和证据；据结果修改计划。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目标行动表、责任验收标准、时间依赖、风险应对和复盘变更。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1005">
            <a:extLst xmlns:a="http://schemas.openxmlformats.org/drawingml/2006/main">
              <a:ext uri="{FF2B5EF4-FFF2-40B4-BE49-F238E27FC236}">
                <a16:creationId xmlns:a16="http://schemas.microsoft.com/office/drawing/2014/main" id="{EA9E97B8-8BDF-442B-B868-8890F3B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常用S3、S4、S7、S8；按需跨用。</a:t>
            </a:r>
          </a:p>
        </p:txBody>
      </p:sp>
      <p:sp>
        <p:nvSpPr>
          <p:cNvPr id="12" name="box-1006">
            <a:extLst xmlns:a="http://schemas.openxmlformats.org/drawingml/2006/main">
              <a:ext uri="{FF2B5EF4-FFF2-40B4-BE49-F238E27FC236}">
                <a16:creationId xmlns:a16="http://schemas.microsoft.com/office/drawing/2014/main" id="{E63ECB04-1167-47C9-B8BC-B8DD5F0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1007">
            <a:extLst xmlns:a="http://schemas.openxmlformats.org/drawingml/2006/main">
              <a:ext uri="{FF2B5EF4-FFF2-40B4-BE49-F238E27FC236}">
                <a16:creationId xmlns:a16="http://schemas.microsoft.com/office/drawing/2014/main" id="{2120F3D5-1F49-4123-B6D6-FE3018F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1008">
            <a:extLst xmlns:a="http://schemas.openxmlformats.org/drawingml/2006/main">
              <a:ext uri="{FF2B5EF4-FFF2-40B4-BE49-F238E27FC236}">
                <a16:creationId xmlns:a16="http://schemas.microsoft.com/office/drawing/2014/main" id="{11F8794A-FFF4-400F-872E-51E32323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合成：把“学会SQL”改为“完成一份可复算查询报告”，再拆资料、查询和核对任务。</a:t>
            </a:r>
          </a:p>
        </p:txBody>
      </p:sp>
      <p:sp>
        <p:nvSpPr>
          <p:cNvPr id="15" name="text-1009">
            <a:extLst xmlns:a="http://schemas.openxmlformats.org/drawingml/2006/main">
              <a:ext uri="{FF2B5EF4-FFF2-40B4-BE49-F238E27FC236}">
                <a16:creationId xmlns:a16="http://schemas.microsoft.com/office/drawing/2014/main" id="{91B9AC52-6287-4D26-BFA0-0E621B9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1010">
            <a:extLst xmlns:a="http://schemas.openxmlformats.org/drawingml/2006/main">
              <a:ext uri="{FF2B5EF4-FFF2-40B4-BE49-F238E27FC236}">
                <a16:creationId xmlns:a16="http://schemas.microsoft.com/office/drawing/2014/main" id="{CACCB4B0-C2E3-4902-A609-956418D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日期过去不等于完成；忙碌时长不是成果，记录负担也有成本。</a:t>
            </a:r>
          </a:p>
        </p:txBody>
      </p:sp>
    </p:spTree>
    <p:extLst>
      <p:ext uri="{BB962C8B-B14F-4D97-AF65-F5344CB8AC3E}">
        <p14:creationId xmlns:p14="http://schemas.microsoft.com/office/powerpoint/2010/main" val="166096168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011">
            <a:extLst xmlns:a="http://schemas.openxmlformats.org/drawingml/2006/main">
              <a:ext uri="{FF2B5EF4-FFF2-40B4-BE49-F238E27FC236}">
                <a16:creationId xmlns:a16="http://schemas.microsoft.com/office/drawing/2014/main" id="{BDB2AA7A-73C3-4F0F-8C0F-F464C60C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012">
            <a:extLst xmlns:a="http://schemas.openxmlformats.org/drawingml/2006/main">
              <a:ext uri="{FF2B5EF4-FFF2-40B4-BE49-F238E27FC236}">
                <a16:creationId xmlns:a16="http://schemas.microsoft.com/office/drawing/2014/main" id="{6D84F8FB-662E-4DCD-B872-5D9CECD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M19 个人财务</a:t>
            </a:r>
          </a:p>
        </p:txBody>
      </p:sp>
      <p:sp>
        <p:nvSpPr>
          <p:cNvPr id="3" name="claim-1013">
            <a:extLst xmlns:a="http://schemas.openxmlformats.org/drawingml/2006/main">
              <a:ext uri="{FF2B5EF4-FFF2-40B4-BE49-F238E27FC236}">
                <a16:creationId xmlns:a16="http://schemas.microsoft.com/office/drawing/2014/main" id="{D972B327-9272-4AB4-AEE4-4CB62D12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先看现金流和责任能否承受变化，再比较支出、保障与投资选择。</a:t>
            </a:r>
          </a:p>
        </p:txBody>
      </p:sp>
      <p:sp>
        <p:nvSpPr>
          <p:cNvPr id="4" name="box-1014">
            <a:extLst xmlns:a="http://schemas.openxmlformats.org/drawingml/2006/main">
              <a:ext uri="{FF2B5EF4-FFF2-40B4-BE49-F238E27FC236}">
                <a16:creationId xmlns:a16="http://schemas.microsoft.com/office/drawing/2014/main" id="{92CA6B4B-DE55-4DC7-A666-E651BA5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15">
            <a:extLst xmlns:a="http://schemas.openxmlformats.org/drawingml/2006/main">
              <a:ext uri="{FF2B5EF4-FFF2-40B4-BE49-F238E27FC236}">
                <a16:creationId xmlns:a16="http://schemas.microsoft.com/office/drawing/2014/main" id="{FB69FC05-81E4-4E72-B4A6-3252A75C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16">
            <a:extLst xmlns:a="http://schemas.openxmlformats.org/drawingml/2006/main">
              <a:ext uri="{FF2B5EF4-FFF2-40B4-BE49-F238E27FC236}">
                <a16:creationId xmlns:a16="http://schemas.microsoft.com/office/drawing/2014/main" id="{7740B181-18FB-4B6A-9B00-9338928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17">
            <a:extLst xmlns:a="http://schemas.openxmlformats.org/drawingml/2006/main">
              <a:ext uri="{FF2B5EF4-FFF2-40B4-BE49-F238E27FC236}">
                <a16:creationId xmlns:a16="http://schemas.microsoft.com/office/drawing/2014/main" id="{B3B2E1D9-7BAC-4691-BBBC-34A6C148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62 / 91</a:t>
            </a:r>
          </a:p>
        </p:txBody>
      </p:sp>
      <p:sp>
        <p:nvSpPr>
          <p:cNvPr id="8" name="text-1018">
            <a:extLst xmlns:a="http://schemas.openxmlformats.org/drawingml/2006/main">
              <a:ext uri="{FF2B5EF4-FFF2-40B4-BE49-F238E27FC236}">
                <a16:creationId xmlns:a16="http://schemas.microsoft.com/office/drawing/2014/main" id="{BEA39C88-9F9B-4F57-884B-CE57FF8F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1019">
            <a:extLst xmlns:a="http://schemas.openxmlformats.org/drawingml/2006/main">
              <a:ext uri="{FF2B5EF4-FFF2-40B4-BE49-F238E27FC236}">
                <a16:creationId xmlns:a16="http://schemas.microsoft.com/office/drawing/2014/main" id="{C1F71D25-8F79-41A9-96D6-D7A11F78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收入消费、预算与现金流</a:t>
            </a:r>
          </a:p>
        </p:txBody>
      </p:sp>
      <p:sp>
        <p:nvSpPr>
          <p:cNvPr id="10" name="text-1020">
            <a:extLst xmlns:a="http://schemas.openxmlformats.org/drawingml/2006/main">
              <a:ext uri="{FF2B5EF4-FFF2-40B4-BE49-F238E27FC236}">
                <a16:creationId xmlns:a16="http://schemas.microsoft.com/office/drawing/2014/main" id="{C23E7987-1A70-4A2F-B0B5-1F352990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资产负债、复利与通胀</a:t>
            </a:r>
          </a:p>
        </p:txBody>
      </p:sp>
      <p:sp>
        <p:nvSpPr>
          <p:cNvPr id="11" name="text-1021">
            <a:extLst xmlns:a="http://schemas.openxmlformats.org/drawingml/2006/main">
              <a:ext uri="{FF2B5EF4-FFF2-40B4-BE49-F238E27FC236}">
                <a16:creationId xmlns:a16="http://schemas.microsoft.com/office/drawing/2014/main" id="{BB5A7F26-5635-4081-B71F-A4823F35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保险、债券、股票与指数基金</a:t>
            </a:r>
          </a:p>
        </p:txBody>
      </p:sp>
      <p:sp>
        <p:nvSpPr>
          <p:cNvPr id="12" name="text-1022">
            <a:extLst xmlns:a="http://schemas.openxmlformats.org/drawingml/2006/main">
              <a:ext uri="{FF2B5EF4-FFF2-40B4-BE49-F238E27FC236}">
                <a16:creationId xmlns:a16="http://schemas.microsoft.com/office/drawing/2014/main" id="{A01B14C8-7F01-47C2-AA07-BF424BA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资产配置、风险收益、流动性与骗局</a:t>
            </a:r>
          </a:p>
        </p:txBody>
      </p:sp>
      <p:sp>
        <p:nvSpPr>
          <p:cNvPr id="13" name="text-1023">
            <a:extLst xmlns:a="http://schemas.openxmlformats.org/drawingml/2006/main">
              <a:ext uri="{FF2B5EF4-FFF2-40B4-BE49-F238E27FC236}">
                <a16:creationId xmlns:a16="http://schemas.microsoft.com/office/drawing/2014/main" id="{7B67A7BD-B150-4C01-B8F5-751B126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常用S1—S4、S8；按需跨用。</a:t>
            </a:r>
          </a:p>
        </p:txBody>
      </p:sp>
      <p:sp>
        <p:nvSpPr>
          <p:cNvPr id="14" name="text-1024">
            <a:extLst xmlns:a="http://schemas.openxmlformats.org/drawingml/2006/main">
              <a:ext uri="{FF2B5EF4-FFF2-40B4-BE49-F238E27FC236}">
                <a16:creationId xmlns:a16="http://schemas.microsoft.com/office/drawing/2014/main" id="{89EE2A28-8281-4892-8FE1-92C26C86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1025">
            <a:extLst xmlns:a="http://schemas.openxmlformats.org/drawingml/2006/main">
              <a:ext uri="{FF2B5EF4-FFF2-40B4-BE49-F238E27FC236}">
                <a16:creationId xmlns:a16="http://schemas.microsoft.com/office/drawing/2014/main" id="{4082000B-E038-4F06-9BB2-D49EE936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必要收支区间、可用资产、债务期限、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家庭责任、用款时间和风险边界。</a:t>
            </a:r>
          </a:p>
        </p:txBody>
      </p:sp>
      <p:sp>
        <p:nvSpPr>
          <p:cNvPr id="16" name="text-1026">
            <a:extLst xmlns:a="http://schemas.openxmlformats.org/drawingml/2006/main">
              <a:ext uri="{FF2B5EF4-FFF2-40B4-BE49-F238E27FC236}">
                <a16:creationId xmlns:a16="http://schemas.microsoft.com/office/drawing/2014/main" id="{460B62CE-890D-41E9-80F5-9184254F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1027">
            <a:extLst xmlns:a="http://schemas.openxmlformats.org/drawingml/2006/main">
              <a:ext uri="{FF2B5EF4-FFF2-40B4-BE49-F238E27FC236}">
                <a16:creationId xmlns:a16="http://schemas.microsoft.com/office/drawing/2014/main" id="{6C54D684-2AB0-4B04-9137-C71C210E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列收支偿付；测试收入下降和资金锁定；比总成本、流动性、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风险与条款。</a:t>
            </a:r>
          </a:p>
        </p:txBody>
      </p:sp>
      <p:sp>
        <p:nvSpPr>
          <p:cNvPr id="18" name="text-1028">
            <a:extLst xmlns:a="http://schemas.openxmlformats.org/drawingml/2006/main">
              <a:ext uri="{FF2B5EF4-FFF2-40B4-BE49-F238E27FC236}">
                <a16:creationId xmlns:a16="http://schemas.microsoft.com/office/drawing/2014/main" id="{A6673069-C752-42E1-B8D8-67B9E750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1029">
            <a:extLst xmlns:a="http://schemas.openxmlformats.org/drawingml/2006/main">
              <a:ext uri="{FF2B5EF4-FFF2-40B4-BE49-F238E27FC236}">
                <a16:creationId xmlns:a16="http://schemas.microsoft.com/office/drawing/2014/main" id="{CE58BC5C-18E9-4906-AEB8-59F8FC2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现金负债摘要、风险情景、方案限制和待核实条款。</a:t>
            </a:r>
          </a:p>
        </p:txBody>
      </p:sp>
      <p:sp>
        <p:nvSpPr>
          <p:cNvPr id="20" name="box-1030">
            <a:extLst xmlns:a="http://schemas.openxmlformats.org/drawingml/2006/main">
              <a:ext uri="{FF2B5EF4-FFF2-40B4-BE49-F238E27FC236}">
                <a16:creationId xmlns:a16="http://schemas.microsoft.com/office/drawing/2014/main" id="{253773D9-8C18-45CC-A140-5C5628C1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1031">
            <a:extLst xmlns:a="http://schemas.openxmlformats.org/drawingml/2006/main">
              <a:ext uri="{FF2B5EF4-FFF2-40B4-BE49-F238E27FC236}">
                <a16:creationId xmlns:a16="http://schemas.microsoft.com/office/drawing/2014/main" id="{E723DD74-4514-45AB-B202-5445DC9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1032">
            <a:extLst xmlns:a="http://schemas.openxmlformats.org/drawingml/2006/main">
              <a:ext uri="{FF2B5EF4-FFF2-40B4-BE49-F238E27FC236}">
                <a16:creationId xmlns:a16="http://schemas.microsoft.com/office/drawing/2014/main" id="{A86B90D0-3907-4E55-B8DF-F3B54A57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合成：考虑停工进修前，检验收入中断时必要支出与到期偿付是否仍可覆盖。</a:t>
            </a:r>
          </a:p>
        </p:txBody>
      </p:sp>
      <p:sp>
        <p:nvSpPr>
          <p:cNvPr id="23" name="text-1033">
            <a:extLst xmlns:a="http://schemas.openxmlformats.org/drawingml/2006/main">
              <a:ext uri="{FF2B5EF4-FFF2-40B4-BE49-F238E27FC236}">
                <a16:creationId xmlns:a16="http://schemas.microsoft.com/office/drawing/2014/main" id="{F3FC331C-4E44-409D-98ED-E381193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1034">
            <a:extLst xmlns:a="http://schemas.openxmlformats.org/drawingml/2006/main">
              <a:ext uri="{FF2B5EF4-FFF2-40B4-BE49-F238E27FC236}">
                <a16:creationId xmlns:a16="http://schemas.microsoft.com/office/drawing/2014/main" id="{28A2B47F-E6A1-4590-A9D7-60729F5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不承诺收益；不预设统一应急金月数或资产比例适合每个人。</a:t>
            </a:r>
          </a:p>
        </p:txBody>
      </p:sp>
    </p:spTree>
    <p:extLst>
      <p:ext uri="{BB962C8B-B14F-4D97-AF65-F5344CB8AC3E}">
        <p14:creationId xmlns:p14="http://schemas.microsoft.com/office/powerpoint/2010/main" val="208964469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035">
            <a:extLst xmlns:a="http://schemas.openxmlformats.org/drawingml/2006/main">
              <a:ext uri="{FF2B5EF4-FFF2-40B4-BE49-F238E27FC236}">
                <a16:creationId xmlns:a16="http://schemas.microsoft.com/office/drawing/2014/main" id="{7B53970D-EBA6-48B4-B5B4-7A55D54E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036">
            <a:extLst xmlns:a="http://schemas.openxmlformats.org/drawingml/2006/main">
              <a:ext uri="{FF2B5EF4-FFF2-40B4-BE49-F238E27FC236}">
                <a16:creationId xmlns:a16="http://schemas.microsoft.com/office/drawing/2014/main" id="{3AA97AB2-1A2F-46E5-B9FD-22777A77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M20 法律基础</a:t>
            </a:r>
          </a:p>
        </p:txBody>
      </p:sp>
      <p:sp>
        <p:nvSpPr>
          <p:cNvPr id="3" name="claim-1037">
            <a:extLst xmlns:a="http://schemas.openxmlformats.org/drawingml/2006/main">
              <a:ext uri="{FF2B5EF4-FFF2-40B4-BE49-F238E27FC236}">
                <a16:creationId xmlns:a16="http://schemas.microsoft.com/office/drawing/2014/main" id="{40177783-FB29-42BA-B7A6-A1BBAC0D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把事实、规则、证据和程序分清楚，找到关键责任与期限。</a:t>
            </a:r>
          </a:p>
        </p:txBody>
      </p:sp>
      <p:sp>
        <p:nvSpPr>
          <p:cNvPr id="4" name="box-1038">
            <a:extLst xmlns:a="http://schemas.openxmlformats.org/drawingml/2006/main">
              <a:ext uri="{FF2B5EF4-FFF2-40B4-BE49-F238E27FC236}">
                <a16:creationId xmlns:a16="http://schemas.microsoft.com/office/drawing/2014/main" id="{A60EB9E3-33D4-4796-B259-7B462ACA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39">
            <a:extLst xmlns:a="http://schemas.openxmlformats.org/drawingml/2006/main">
              <a:ext uri="{FF2B5EF4-FFF2-40B4-BE49-F238E27FC236}">
                <a16:creationId xmlns:a16="http://schemas.microsoft.com/office/drawing/2014/main" id="{22FDAFC1-1BBF-4EAE-8D6A-C5E758DD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40">
            <a:extLst xmlns:a="http://schemas.openxmlformats.org/drawingml/2006/main">
              <a:ext uri="{FF2B5EF4-FFF2-40B4-BE49-F238E27FC236}">
                <a16:creationId xmlns:a16="http://schemas.microsoft.com/office/drawing/2014/main" id="{1663FFDD-A5DC-4D89-A99F-E438282E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41">
            <a:extLst xmlns:a="http://schemas.openxmlformats.org/drawingml/2006/main">
              <a:ext uri="{FF2B5EF4-FFF2-40B4-BE49-F238E27FC236}">
                <a16:creationId xmlns:a16="http://schemas.microsoft.com/office/drawing/2014/main" id="{6B7C4102-611A-48C9-9AA0-AD21C36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63 / 91</a:t>
            </a:r>
          </a:p>
        </p:txBody>
      </p:sp>
      <p:sp>
        <p:nvSpPr>
          <p:cNvPr id="8" name="text-1042">
            <a:extLst xmlns:a="http://schemas.openxmlformats.org/drawingml/2006/main">
              <a:ext uri="{FF2B5EF4-FFF2-40B4-BE49-F238E27FC236}">
                <a16:creationId xmlns:a16="http://schemas.microsoft.com/office/drawing/2014/main" id="{88358A7E-FB0E-4D03-A615-49DCD68F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1043">
            <a:extLst xmlns:a="http://schemas.openxmlformats.org/drawingml/2006/main">
              <a:ext uri="{FF2B5EF4-FFF2-40B4-BE49-F238E27FC236}">
                <a16:creationId xmlns:a16="http://schemas.microsoft.com/office/drawing/2014/main" id="{F799C66C-77ED-46B0-B60A-865F4239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宪法、民法、合同与侵权；劳动法、公司法、刑法与行政法；权利、义务、证据与责任；程序、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管辖、时效与适用版本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地区、事件日期、文本材料、当事人角色、目的与可能截止期限。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列事实时间线；查现行官方规则及适用条件；整理证据、路径和专业核实问题。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官方规则来源、证据清单、程序期限和待核实事项。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1044">
            <a:extLst xmlns:a="http://schemas.openxmlformats.org/drawingml/2006/main">
              <a:ext uri="{FF2B5EF4-FFF2-40B4-BE49-F238E27FC236}">
                <a16:creationId xmlns:a16="http://schemas.microsoft.com/office/drawing/2014/main" id="{EC56D809-66F0-445C-B4D3-D92F9B19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常用S1、S2、S4、S7；按需跨用。</a:t>
            </a:r>
          </a:p>
        </p:txBody>
      </p:sp>
      <p:sp>
        <p:nvSpPr>
          <p:cNvPr id="12" name="box-1045">
            <a:extLst xmlns:a="http://schemas.openxmlformats.org/drawingml/2006/main">
              <a:ext uri="{FF2B5EF4-FFF2-40B4-BE49-F238E27FC236}">
                <a16:creationId xmlns:a16="http://schemas.microsoft.com/office/drawing/2014/main" id="{C4BFF2CD-807D-4488-AB52-6811CFBD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1046">
            <a:extLst xmlns:a="http://schemas.openxmlformats.org/drawingml/2006/main">
              <a:ext uri="{FF2B5EF4-FFF2-40B4-BE49-F238E27FC236}">
                <a16:creationId xmlns:a16="http://schemas.microsoft.com/office/drawing/2014/main" id="{DF96C900-4BFB-4B2C-921D-0F22AC84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1047">
            <a:extLst xmlns:a="http://schemas.openxmlformats.org/drawingml/2006/main">
              <a:ext uri="{FF2B5EF4-FFF2-40B4-BE49-F238E27FC236}">
                <a16:creationId xmlns:a16="http://schemas.microsoft.com/office/drawing/2014/main" id="{69A9DDAC-2B4C-4ECE-B993-601AAEF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合成：收到合作合同，先圈出交付、付款、违约和争议条款，再核对适用规则。</a:t>
            </a:r>
          </a:p>
        </p:txBody>
      </p:sp>
      <p:sp>
        <p:nvSpPr>
          <p:cNvPr id="15" name="text-1048">
            <a:extLst xmlns:a="http://schemas.openxmlformats.org/drawingml/2006/main">
              <a:ext uri="{FF2B5EF4-FFF2-40B4-BE49-F238E27FC236}">
                <a16:creationId xmlns:a16="http://schemas.microsoft.com/office/drawing/2014/main" id="{6951CBD1-BE1E-40C8-8EDE-AFEE95AD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1049">
            <a:extLst xmlns:a="http://schemas.openxmlformats.org/drawingml/2006/main">
              <a:ext uri="{FF2B5EF4-FFF2-40B4-BE49-F238E27FC236}">
                <a16:creationId xmlns:a16="http://schemas.microsoft.com/office/drawing/2014/main" id="{331B0DAD-9E66-4318-B335-DF7A1FE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通用摘要不能代替个案判断；道德赞同不证明合法，不能保证结果。</a:t>
            </a:r>
          </a:p>
        </p:txBody>
      </p:sp>
    </p:spTree>
    <p:extLst>
      <p:ext uri="{BB962C8B-B14F-4D97-AF65-F5344CB8AC3E}">
        <p14:creationId xmlns:p14="http://schemas.microsoft.com/office/powerpoint/2010/main" val="169080293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050">
            <a:extLst xmlns:a="http://schemas.openxmlformats.org/drawingml/2006/main">
              <a:ext uri="{FF2B5EF4-FFF2-40B4-BE49-F238E27FC236}">
                <a16:creationId xmlns:a16="http://schemas.microsoft.com/office/drawing/2014/main" id="{2CCD2694-23A8-4BC3-A894-55454A6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051">
            <a:extLst xmlns:a="http://schemas.openxmlformats.org/drawingml/2006/main">
              <a:ext uri="{FF2B5EF4-FFF2-40B4-BE49-F238E27FC236}">
                <a16:creationId xmlns:a16="http://schemas.microsoft.com/office/drawing/2014/main" id="{8916F169-2B79-4555-BBE2-A6ED487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M21 健康基础</a:t>
            </a:r>
          </a:p>
        </p:txBody>
      </p:sp>
      <p:sp>
        <p:nvSpPr>
          <p:cNvPr id="3" name="claim-1052">
            <a:extLst xmlns:a="http://schemas.openxmlformats.org/drawingml/2006/main">
              <a:ext uri="{FF2B5EF4-FFF2-40B4-BE49-F238E27FC236}">
                <a16:creationId xmlns:a16="http://schemas.microsoft.com/office/drawing/2014/main" id="{99FA3F35-30C7-41EC-90F6-3E81AFF6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用适用证据支持可持续生活调整，把身体承受力纳入所有计划。</a:t>
            </a:r>
          </a:p>
        </p:txBody>
      </p:sp>
      <p:sp>
        <p:nvSpPr>
          <p:cNvPr id="4" name="box-1053">
            <a:extLst xmlns:a="http://schemas.openxmlformats.org/drawingml/2006/main">
              <a:ext uri="{FF2B5EF4-FFF2-40B4-BE49-F238E27FC236}">
                <a16:creationId xmlns:a16="http://schemas.microsoft.com/office/drawing/2014/main" id="{3753D291-F1EB-4744-9FCC-B1314A5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54">
            <a:extLst xmlns:a="http://schemas.openxmlformats.org/drawingml/2006/main">
              <a:ext uri="{FF2B5EF4-FFF2-40B4-BE49-F238E27FC236}">
                <a16:creationId xmlns:a16="http://schemas.microsoft.com/office/drawing/2014/main" id="{560478E8-EDD0-40C8-9F53-1B691A3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55">
            <a:extLst xmlns:a="http://schemas.openxmlformats.org/drawingml/2006/main">
              <a:ext uri="{FF2B5EF4-FFF2-40B4-BE49-F238E27FC236}">
                <a16:creationId xmlns:a16="http://schemas.microsoft.com/office/drawing/2014/main" id="{DA38F6EF-677C-4AFB-9A24-1D9CF7A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56">
            <a:extLst xmlns:a="http://schemas.openxmlformats.org/drawingml/2006/main">
              <a:ext uri="{FF2B5EF4-FFF2-40B4-BE49-F238E27FC236}">
                <a16:creationId xmlns:a16="http://schemas.microsoft.com/office/drawing/2014/main" id="{1FB8FFAF-A3AC-4457-B474-B52609D0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64 / 91</a:t>
            </a:r>
          </a:p>
        </p:txBody>
      </p:sp>
      <p:sp>
        <p:nvSpPr>
          <p:cNvPr id="8" name="text-1057">
            <a:extLst xmlns:a="http://schemas.openxmlformats.org/drawingml/2006/main">
              <a:ext uri="{FF2B5EF4-FFF2-40B4-BE49-F238E27FC236}">
                <a16:creationId xmlns:a16="http://schemas.microsoft.com/office/drawing/2014/main" id="{BFD6DBEE-BD29-45B9-9A04-D4B06F9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1058">
            <a:extLst xmlns:a="http://schemas.openxmlformats.org/drawingml/2006/main">
              <a:ext uri="{FF2B5EF4-FFF2-40B4-BE49-F238E27FC236}">
                <a16:creationId xmlns:a16="http://schemas.microsoft.com/office/drawing/2014/main" id="{AFAF9651-65E9-4E2F-AA4E-8884D110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运动、力量训练与有氧能力</a:t>
            </a:r>
          </a:p>
        </p:txBody>
      </p:sp>
      <p:sp>
        <p:nvSpPr>
          <p:cNvPr id="10" name="text-1059">
            <a:extLst xmlns:a="http://schemas.openxmlformats.org/drawingml/2006/main">
              <a:ext uri="{FF2B5EF4-FFF2-40B4-BE49-F238E27FC236}">
                <a16:creationId xmlns:a16="http://schemas.microsoft.com/office/drawing/2014/main" id="{754C3AB1-9555-44AE-8DE7-21A88AB6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营养、睡眠与压力</a:t>
            </a:r>
          </a:p>
        </p:txBody>
      </p:sp>
      <p:sp>
        <p:nvSpPr>
          <p:cNvPr id="11" name="text-1060">
            <a:extLst xmlns:a="http://schemas.openxmlformats.org/drawingml/2006/main">
              <a:ext uri="{FF2B5EF4-FFF2-40B4-BE49-F238E27FC236}">
                <a16:creationId xmlns:a16="http://schemas.microsoft.com/office/drawing/2014/main" id="{0D074556-8C1B-4EA7-A824-53B8BF55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成瘾与慢性病风险</a:t>
            </a:r>
          </a:p>
        </p:txBody>
      </p:sp>
      <p:sp>
        <p:nvSpPr>
          <p:cNvPr id="12" name="text-1061">
            <a:extLst xmlns:a="http://schemas.openxmlformats.org/drawingml/2006/main">
              <a:ext uri="{FF2B5EF4-FFF2-40B4-BE49-F238E27FC236}">
                <a16:creationId xmlns:a16="http://schemas.microsoft.com/office/drawing/2014/main" id="{E0B6259B-1A99-4811-9FB0-318D6756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医学证据、适用人群与生活质量</a:t>
            </a:r>
          </a:p>
        </p:txBody>
      </p:sp>
      <p:sp>
        <p:nvSpPr>
          <p:cNvPr id="13" name="text-1062">
            <a:extLst xmlns:a="http://schemas.openxmlformats.org/drawingml/2006/main">
              <a:ext uri="{FF2B5EF4-FFF2-40B4-BE49-F238E27FC236}">
                <a16:creationId xmlns:a16="http://schemas.microsoft.com/office/drawing/2014/main" id="{B98B7B59-6D08-481F-BFE4-916CF766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常用S1—S4、S7—S8；按需跨用。</a:t>
            </a:r>
          </a:p>
        </p:txBody>
      </p:sp>
      <p:sp>
        <p:nvSpPr>
          <p:cNvPr id="14" name="text-1063">
            <a:extLst xmlns:a="http://schemas.openxmlformats.org/drawingml/2006/main">
              <a:ext uri="{FF2B5EF4-FFF2-40B4-BE49-F238E27FC236}">
                <a16:creationId xmlns:a16="http://schemas.microsoft.com/office/drawing/2014/main" id="{9DC1149F-42C7-40CF-A0E3-B945BB65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1064">
            <a:extLst xmlns:a="http://schemas.openxmlformats.org/drawingml/2006/main">
              <a:ext uri="{FF2B5EF4-FFF2-40B4-BE49-F238E27FC236}">
                <a16:creationId xmlns:a16="http://schemas.microsoft.com/office/drawing/2014/main" id="{C58A8D5C-8220-411F-9ECE-D01F3A0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相关情况、目标、既有医嘱、活动限制、习惯和环境。</a:t>
            </a:r>
          </a:p>
        </p:txBody>
      </p:sp>
      <p:sp>
        <p:nvSpPr>
          <p:cNvPr id="16" name="text-1065">
            <a:extLst xmlns:a="http://schemas.openxmlformats.org/drawingml/2006/main">
              <a:ext uri="{FF2B5EF4-FFF2-40B4-BE49-F238E27FC236}">
                <a16:creationId xmlns:a16="http://schemas.microsoft.com/office/drawing/2014/main" id="{4B2F81B7-8D24-4849-9ACA-A287C5C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9128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1066">
            <a:extLst xmlns:a="http://schemas.openxmlformats.org/drawingml/2006/main">
              <a:ext uri="{FF2B5EF4-FFF2-40B4-BE49-F238E27FC236}">
                <a16:creationId xmlns:a16="http://schemas.microsoft.com/office/drawing/2014/main" id="{FB95F1F4-1BBB-4152-A0A3-E85258E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8703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区分生活规划与疾病问题；查适用指南；渐进调整；约定观察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和停止条件。</a:t>
            </a:r>
          </a:p>
        </p:txBody>
      </p:sp>
      <p:sp>
        <p:nvSpPr>
          <p:cNvPr id="18" name="text-1067">
            <a:extLst xmlns:a="http://schemas.openxmlformats.org/drawingml/2006/main">
              <a:ext uri="{FF2B5EF4-FFF2-40B4-BE49-F238E27FC236}">
                <a16:creationId xmlns:a16="http://schemas.microsoft.com/office/drawing/2014/main" id="{91AA1DF7-B9E7-454D-811F-B795A9FC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3934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1068">
            <a:extLst xmlns:a="http://schemas.openxmlformats.org/drawingml/2006/main">
              <a:ext uri="{FF2B5EF4-FFF2-40B4-BE49-F238E27FC236}">
                <a16:creationId xmlns:a16="http://schemas.microsoft.com/office/drawing/2014/main" id="{69471BB1-3B70-44B6-A580-D7DB8BEA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3509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证据与范围、生活调整、观察停止条件及需评估事项。</a:t>
            </a:r>
          </a:p>
        </p:txBody>
      </p:sp>
      <p:sp>
        <p:nvSpPr>
          <p:cNvPr id="20" name="box-1069">
            <a:extLst xmlns:a="http://schemas.openxmlformats.org/drawingml/2006/main">
              <a:ext uri="{FF2B5EF4-FFF2-40B4-BE49-F238E27FC236}">
                <a16:creationId xmlns:a16="http://schemas.microsoft.com/office/drawing/2014/main" id="{C381C71B-BBC5-4882-A3FC-F492DEEE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1070">
            <a:extLst xmlns:a="http://schemas.openxmlformats.org/drawingml/2006/main">
              <a:ext uri="{FF2B5EF4-FFF2-40B4-BE49-F238E27FC236}">
                <a16:creationId xmlns:a16="http://schemas.microsoft.com/office/drawing/2014/main" id="{7D165F56-94EB-4993-824E-789123C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1071">
            <a:extLst xmlns:a="http://schemas.openxmlformats.org/drawingml/2006/main">
              <a:ext uri="{FF2B5EF4-FFF2-40B4-BE49-F238E27FC236}">
                <a16:creationId xmlns:a16="http://schemas.microsoft.com/office/drawing/2014/main" id="{185930B9-C046-4978-A50C-DD320F0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合成：增加学习安排时同步检查睡眠与恢复；出现不适时重新评估负担。</a:t>
            </a:r>
          </a:p>
        </p:txBody>
      </p:sp>
      <p:sp>
        <p:nvSpPr>
          <p:cNvPr id="23" name="text-1072">
            <a:extLst xmlns:a="http://schemas.openxmlformats.org/drawingml/2006/main">
              <a:ext uri="{FF2B5EF4-FFF2-40B4-BE49-F238E27FC236}">
                <a16:creationId xmlns:a16="http://schemas.microsoft.com/office/drawing/2014/main" id="{0A1D64C0-60C8-44BD-8751-83B77A6E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1073">
            <a:extLst xmlns:a="http://schemas.openxmlformats.org/drawingml/2006/main">
              <a:ext uri="{FF2B5EF4-FFF2-40B4-BE49-F238E27FC236}">
                <a16:creationId xmlns:a16="http://schemas.microsoft.com/office/drawing/2014/main" id="{3A04DB57-8E50-4ACE-8654-2CC3A7E9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聊天记录不能作确定诊断；群体建议未必适合特定疾病、用药或状态。</a:t>
            </a:r>
          </a:p>
        </p:txBody>
      </p:sp>
    </p:spTree>
    <p:extLst>
      <p:ext uri="{BB962C8B-B14F-4D97-AF65-F5344CB8AC3E}">
        <p14:creationId xmlns:p14="http://schemas.microsoft.com/office/powerpoint/2010/main" val="42120064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074">
            <a:extLst xmlns:a="http://schemas.openxmlformats.org/drawingml/2006/main">
              <a:ext uri="{FF2B5EF4-FFF2-40B4-BE49-F238E27FC236}">
                <a16:creationId xmlns:a16="http://schemas.microsoft.com/office/drawing/2014/main" id="{A257723C-2DD3-4BBD-A9F2-E36BF8A3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075">
            <a:extLst xmlns:a="http://schemas.openxmlformats.org/drawingml/2006/main">
              <a:ext uri="{FF2B5EF4-FFF2-40B4-BE49-F238E27FC236}">
                <a16:creationId xmlns:a16="http://schemas.microsoft.com/office/drawing/2014/main" id="{02EAD055-9BD4-4CBB-8E2C-50307FF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M22 英语与原始资料检索</a:t>
            </a:r>
          </a:p>
        </p:txBody>
      </p:sp>
      <p:sp>
        <p:nvSpPr>
          <p:cNvPr id="3" name="claim-1076">
            <a:extLst xmlns:a="http://schemas.openxmlformats.org/drawingml/2006/main">
              <a:ext uri="{FF2B5EF4-FFF2-40B4-BE49-F238E27FC236}">
                <a16:creationId xmlns:a16="http://schemas.microsoft.com/office/drawing/2014/main" id="{AF907972-8A82-4BF3-B42D-8C655668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把问题变成检索式，读懂关键原文，并如实记录实际访问深度。</a:t>
            </a:r>
          </a:p>
        </p:txBody>
      </p:sp>
      <p:sp>
        <p:nvSpPr>
          <p:cNvPr id="4" name="box-1077">
            <a:extLst xmlns:a="http://schemas.openxmlformats.org/drawingml/2006/main">
              <a:ext uri="{FF2B5EF4-FFF2-40B4-BE49-F238E27FC236}">
                <a16:creationId xmlns:a16="http://schemas.microsoft.com/office/drawing/2014/main" id="{D17F510F-E812-40C8-80FE-92248AF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78">
            <a:extLst xmlns:a="http://schemas.openxmlformats.org/drawingml/2006/main">
              <a:ext uri="{FF2B5EF4-FFF2-40B4-BE49-F238E27FC236}">
                <a16:creationId xmlns:a16="http://schemas.microsoft.com/office/drawing/2014/main" id="{7CCC427F-4581-4BBA-8168-28F66FB6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79">
            <a:extLst xmlns:a="http://schemas.openxmlformats.org/drawingml/2006/main">
              <a:ext uri="{FF2B5EF4-FFF2-40B4-BE49-F238E27FC236}">
                <a16:creationId xmlns:a16="http://schemas.microsoft.com/office/drawing/2014/main" id="{AD3E5572-5C89-40C9-A951-FE65C89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80">
            <a:extLst xmlns:a="http://schemas.openxmlformats.org/drawingml/2006/main">
              <a:ext uri="{FF2B5EF4-FFF2-40B4-BE49-F238E27FC236}">
                <a16:creationId xmlns:a16="http://schemas.microsoft.com/office/drawing/2014/main" id="{5544B5BF-F955-457E-994F-56D0AF41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65 / 91</a:t>
            </a:r>
          </a:p>
        </p:txBody>
      </p:sp>
      <p:sp>
        <p:nvSpPr>
          <p:cNvPr id="8" name="text-1081">
            <a:extLst xmlns:a="http://schemas.openxmlformats.org/drawingml/2006/main">
              <a:ext uri="{FF2B5EF4-FFF2-40B4-BE49-F238E27FC236}">
                <a16:creationId xmlns:a16="http://schemas.microsoft.com/office/drawing/2014/main" id="{A6C17EB0-2CB0-4577-933B-2BFBA09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97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1082">
            <a:extLst xmlns:a="http://schemas.openxmlformats.org/drawingml/2006/main">
              <a:ext uri="{FF2B5EF4-FFF2-40B4-BE49-F238E27FC236}">
                <a16:creationId xmlns:a16="http://schemas.microsoft.com/office/drawing/2014/main" id="{78A0A4BB-A168-40A4-AABC-A38A4918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95500"/>
            <a:ext cx="9324975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中英文关键词、同义词与限定条件；教材、论文、技术文档与公开课；阅读听力、术语与翻译；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原始来源、版本、范围与访问状态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876550"/>
          <a:ext xmlns:a="http://schemas.openxmlformats.org/drawingml/2006/main" cx="109728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93154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问题、已有关键词、资料类型、访问范围、日期要求和语言水平。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处理方法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设计检索；核对作者日期版本；取相关原文；检查条件与否定；对应主张出处。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交付物</a:t>
                      </a:r>
                    </a:p>
                  </a:txBody>
                  <a:tcPr marL="152400" marR="152400" marT="95250" marB="95250">
                    <a:solidFill>
                      <a:srgbClr val="F0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检索式、访问记录、术语表、主张出处对应与疑点。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1083">
            <a:extLst xmlns:a="http://schemas.openxmlformats.org/drawingml/2006/main">
              <a:ext uri="{FF2B5EF4-FFF2-40B4-BE49-F238E27FC236}">
                <a16:creationId xmlns:a16="http://schemas.microsoft.com/office/drawing/2014/main" id="{E23052EB-0AF8-4266-A3F6-E60C342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贯穿S1—S8；通常从S2开始。</a:t>
            </a:r>
          </a:p>
        </p:txBody>
      </p:sp>
      <p:sp>
        <p:nvSpPr>
          <p:cNvPr id="12" name="box-1084">
            <a:extLst xmlns:a="http://schemas.openxmlformats.org/drawingml/2006/main">
              <a:ext uri="{FF2B5EF4-FFF2-40B4-BE49-F238E27FC236}">
                <a16:creationId xmlns:a16="http://schemas.microsoft.com/office/drawing/2014/main" id="{43C7B991-C1E6-44DE-A400-470D48E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3" name="text-1085">
            <a:extLst xmlns:a="http://schemas.openxmlformats.org/drawingml/2006/main">
              <a:ext uri="{FF2B5EF4-FFF2-40B4-BE49-F238E27FC236}">
                <a16:creationId xmlns:a16="http://schemas.microsoft.com/office/drawing/2014/main" id="{A6F8EBD8-568E-4134-A171-B3C2A725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14" name="text-1086">
            <a:extLst xmlns:a="http://schemas.openxmlformats.org/drawingml/2006/main">
              <a:ext uri="{FF2B5EF4-FFF2-40B4-BE49-F238E27FC236}">
                <a16:creationId xmlns:a16="http://schemas.microsoft.com/office/drawing/2014/main" id="{3E2DA490-7D78-4F35-955C-0F7090A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合成：查一项软件功能时，检索官方版本文档，并记录是否真正取得正文。</a:t>
            </a:r>
          </a:p>
        </p:txBody>
      </p:sp>
      <p:sp>
        <p:nvSpPr>
          <p:cNvPr id="15" name="text-1087">
            <a:extLst xmlns:a="http://schemas.openxmlformats.org/drawingml/2006/main">
              <a:ext uri="{FF2B5EF4-FFF2-40B4-BE49-F238E27FC236}">
                <a16:creationId xmlns:a16="http://schemas.microsoft.com/office/drawing/2014/main" id="{47B5DE89-3530-4F46-8862-1752F3BC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16" name="text-1088">
            <a:extLst xmlns:a="http://schemas.openxmlformats.org/drawingml/2006/main">
              <a:ext uri="{FF2B5EF4-FFF2-40B4-BE49-F238E27FC236}">
                <a16:creationId xmlns:a16="http://schemas.microsoft.com/office/drawing/2014/main" id="{09DCBFBE-A776-434D-82B1-8E9C58E5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英文不天然更可靠；标题、摘要和自动翻译不等于读完原文。</a:t>
            </a:r>
          </a:p>
        </p:txBody>
      </p:sp>
    </p:spTree>
    <p:extLst>
      <p:ext uri="{BB962C8B-B14F-4D97-AF65-F5344CB8AC3E}">
        <p14:creationId xmlns:p14="http://schemas.microsoft.com/office/powerpoint/2010/main" val="213017472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089">
            <a:extLst xmlns:a="http://schemas.openxmlformats.org/drawingml/2006/main">
              <a:ext uri="{FF2B5EF4-FFF2-40B4-BE49-F238E27FC236}">
                <a16:creationId xmlns:a16="http://schemas.microsoft.com/office/drawing/2014/main" id="{7A505A78-6F06-4D11-9740-AAB4A8C8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090">
            <a:extLst xmlns:a="http://schemas.openxmlformats.org/drawingml/2006/main">
              <a:ext uri="{FF2B5EF4-FFF2-40B4-BE49-F238E27FC236}">
                <a16:creationId xmlns:a16="http://schemas.microsoft.com/office/drawing/2014/main" id="{2B24063E-0D74-4A60-8936-973A4306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M23 文学、艺术、音乐、美学与伦理</a:t>
            </a:r>
          </a:p>
        </p:txBody>
      </p:sp>
      <p:sp>
        <p:nvSpPr>
          <p:cNvPr id="3" name="claim-1091">
            <a:extLst xmlns:a="http://schemas.openxmlformats.org/drawingml/2006/main">
              <a:ext uri="{FF2B5EF4-FFF2-40B4-BE49-F238E27FC236}">
                <a16:creationId xmlns:a16="http://schemas.microsoft.com/office/drawing/2014/main" id="{8A4C9031-6CCA-4FF5-B133-6C0E4665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检视什么值得追求、谁受到影响，以及哪些价值不应被效率分数覆盖。</a:t>
            </a:r>
          </a:p>
        </p:txBody>
      </p:sp>
      <p:sp>
        <p:nvSpPr>
          <p:cNvPr id="4" name="box-1092">
            <a:extLst xmlns:a="http://schemas.openxmlformats.org/drawingml/2006/main">
              <a:ext uri="{FF2B5EF4-FFF2-40B4-BE49-F238E27FC236}">
                <a16:creationId xmlns:a16="http://schemas.microsoft.com/office/drawing/2014/main" id="{7568C40A-2154-4159-9874-2BFD442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093">
            <a:extLst xmlns:a="http://schemas.openxmlformats.org/drawingml/2006/main">
              <a:ext uri="{FF2B5EF4-FFF2-40B4-BE49-F238E27FC236}">
                <a16:creationId xmlns:a16="http://schemas.microsoft.com/office/drawing/2014/main" id="{C343D232-B527-4C4A-9446-698C5DF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094">
            <a:extLst xmlns:a="http://schemas.openxmlformats.org/drawingml/2006/main">
              <a:ext uri="{FF2B5EF4-FFF2-40B4-BE49-F238E27FC236}">
                <a16:creationId xmlns:a16="http://schemas.microsoft.com/office/drawing/2014/main" id="{1EA8ADAC-E986-4C2D-B30D-058DCBC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095">
            <a:extLst xmlns:a="http://schemas.openxmlformats.org/drawingml/2006/main">
              <a:ext uri="{FF2B5EF4-FFF2-40B4-BE49-F238E27FC236}">
                <a16:creationId xmlns:a16="http://schemas.microsoft.com/office/drawing/2014/main" id="{78C3C20F-7424-41A6-9A86-B190411C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66 / 91</a:t>
            </a:r>
          </a:p>
        </p:txBody>
      </p:sp>
      <p:sp>
        <p:nvSpPr>
          <p:cNvPr id="8" name="text-1096">
            <a:extLst xmlns:a="http://schemas.openxmlformats.org/drawingml/2006/main">
              <a:ext uri="{FF2B5EF4-FFF2-40B4-BE49-F238E27FC236}">
                <a16:creationId xmlns:a16="http://schemas.microsoft.com/office/drawing/2014/main" id="{F21042D2-5B9D-4C4F-830D-2922BCD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429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知识体系</a:t>
            </a:r>
          </a:p>
        </p:txBody>
      </p:sp>
      <p:sp>
        <p:nvSpPr>
          <p:cNvPr id="9" name="text-1097">
            <a:extLst xmlns:a="http://schemas.openxmlformats.org/drawingml/2006/main">
              <a:ext uri="{FF2B5EF4-FFF2-40B4-BE49-F238E27FC236}">
                <a16:creationId xmlns:a16="http://schemas.microsoft.com/office/drawing/2014/main" id="{806DD19A-BC94-4C42-B376-34D5AD6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文学、艺术、音乐与美学</a:t>
            </a:r>
          </a:p>
        </p:txBody>
      </p:sp>
      <p:sp>
        <p:nvSpPr>
          <p:cNvPr id="10" name="text-1098">
            <a:extLst xmlns:a="http://schemas.openxmlformats.org/drawingml/2006/main">
              <a:ext uri="{FF2B5EF4-FFF2-40B4-BE49-F238E27FC236}">
                <a16:creationId xmlns:a16="http://schemas.microsoft.com/office/drawing/2014/main" id="{038B0819-23DB-40FC-BC04-DD9CD0CC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0078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情感、尊严、悲剧、欲望与意义</a:t>
            </a:r>
          </a:p>
        </p:txBody>
      </p:sp>
      <p:sp>
        <p:nvSpPr>
          <p:cNvPr id="11" name="text-1099">
            <a:extLst xmlns:a="http://schemas.openxmlformats.org/drawingml/2006/main">
              <a:ext uri="{FF2B5EF4-FFF2-40B4-BE49-F238E27FC236}">
                <a16:creationId xmlns:a16="http://schemas.microsoft.com/office/drawing/2014/main" id="{B0C0BD8A-FB79-43CF-9495-CF16FFE2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981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后果、义务、权利与关系责任</a:t>
            </a:r>
          </a:p>
        </p:txBody>
      </p:sp>
      <p:sp>
        <p:nvSpPr>
          <p:cNvPr id="12" name="text-1100">
            <a:extLst xmlns:a="http://schemas.openxmlformats.org/drawingml/2006/main">
              <a:ext uri="{FF2B5EF4-FFF2-40B4-BE49-F238E27FC236}">
                <a16:creationId xmlns:a16="http://schemas.microsoft.com/office/drawing/2014/main" id="{7FCE8598-D7F2-49C2-B6F2-A58CB0E4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3884"/>
            <a:ext cx="42862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关怀、公平、自主与价值冲突</a:t>
            </a:r>
          </a:p>
        </p:txBody>
      </p:sp>
      <p:sp>
        <p:nvSpPr>
          <p:cNvPr id="13" name="text-1101">
            <a:extLst xmlns:a="http://schemas.openxmlformats.org/drawingml/2006/main">
              <a:ext uri="{FF2B5EF4-FFF2-40B4-BE49-F238E27FC236}">
                <a16:creationId xmlns:a16="http://schemas.microsoft.com/office/drawing/2014/main" id="{01D6BBB2-4EA2-446A-BA4B-166F1E11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371975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伦理价值贯穿S1—S8；文学艺术按需。</a:t>
            </a:r>
          </a:p>
        </p:txBody>
      </p:sp>
      <p:sp>
        <p:nvSpPr>
          <p:cNvPr id="14" name="text-1102">
            <a:extLst xmlns:a="http://schemas.openxmlformats.org/drawingml/2006/main">
              <a:ext uri="{FF2B5EF4-FFF2-40B4-BE49-F238E27FC236}">
                <a16:creationId xmlns:a16="http://schemas.microsoft.com/office/drawing/2014/main" id="{CEE5FB7A-7912-4ED3-8DAA-6C76FFA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输入</a:t>
            </a:r>
          </a:p>
        </p:txBody>
      </p:sp>
      <p:sp>
        <p:nvSpPr>
          <p:cNvPr id="15" name="text-1103">
            <a:extLst xmlns:a="http://schemas.openxmlformats.org/drawingml/2006/main">
              <a:ext uri="{FF2B5EF4-FFF2-40B4-BE49-F238E27FC236}">
                <a16:creationId xmlns:a16="http://schemas.microsoft.com/office/drawing/2014/main" id="{3912CC12-11C7-43EF-99CF-6E85B3F9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用户重视的事、不可牺牲边界、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受影响者、具体情境与相关作品。</a:t>
            </a:r>
          </a:p>
        </p:txBody>
      </p:sp>
      <p:sp>
        <p:nvSpPr>
          <p:cNvPr id="16" name="text-1104">
            <a:extLst xmlns:a="http://schemas.openxmlformats.org/drawingml/2006/main">
              <a:ext uri="{FF2B5EF4-FFF2-40B4-BE49-F238E27FC236}">
                <a16:creationId xmlns:a16="http://schemas.microsoft.com/office/drawing/2014/main" id="{95C69AC3-A35F-4C64-AEF8-102DD341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781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处理方法</a:t>
            </a:r>
          </a:p>
        </p:txBody>
      </p:sp>
      <p:sp>
        <p:nvSpPr>
          <p:cNvPr id="17" name="text-1105">
            <a:extLst xmlns:a="http://schemas.openxmlformats.org/drawingml/2006/main">
              <a:ext uri="{FF2B5EF4-FFF2-40B4-BE49-F238E27FC236}">
                <a16:creationId xmlns:a16="http://schemas.microsoft.com/office/drawing/2014/main" id="{417AFF57-B786-42D9-8F00-8FC16337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0356"/>
            <a:ext cx="61722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澄清价值；从不同伦理角度检查冲突；必要时分析作品；呈现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仍需用户取舍之处。</a:t>
            </a:r>
          </a:p>
        </p:txBody>
      </p:sp>
      <p:sp>
        <p:nvSpPr>
          <p:cNvPr id="18" name="text-1106">
            <a:extLst xmlns:a="http://schemas.openxmlformats.org/drawingml/2006/main">
              <a:ext uri="{FF2B5EF4-FFF2-40B4-BE49-F238E27FC236}">
                <a16:creationId xmlns:a16="http://schemas.microsoft.com/office/drawing/2014/main" id="{945C5D14-EF0A-4F89-BA14-22D910C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15587"/>
            <a:ext cx="61722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交付物</a:t>
            </a:r>
          </a:p>
        </p:txBody>
      </p:sp>
      <p:sp>
        <p:nvSpPr>
          <p:cNvPr id="19" name="text-1107">
            <a:extLst xmlns:a="http://schemas.openxmlformats.org/drawingml/2006/main">
              <a:ext uri="{FF2B5EF4-FFF2-40B4-BE49-F238E27FC236}">
                <a16:creationId xmlns:a16="http://schemas.microsoft.com/office/drawing/2014/main" id="{F6769C30-B702-415D-915C-532171C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25162"/>
            <a:ext cx="61722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价值边界、受影响者、尚存冲突；按需附作品分析。</a:t>
            </a:r>
          </a:p>
        </p:txBody>
      </p:sp>
      <p:sp>
        <p:nvSpPr>
          <p:cNvPr id="20" name="box-1108">
            <a:extLst xmlns:a="http://schemas.openxmlformats.org/drawingml/2006/main">
              <a:ext uri="{FF2B5EF4-FFF2-40B4-BE49-F238E27FC236}">
                <a16:creationId xmlns:a16="http://schemas.microsoft.com/office/drawing/2014/main" id="{CA421AEB-4B4D-49C6-B12B-E9B6CE0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1" name="text-1109">
            <a:extLst xmlns:a="http://schemas.openxmlformats.org/drawingml/2006/main">
              <a:ext uri="{FF2B5EF4-FFF2-40B4-BE49-F238E27FC236}">
                <a16:creationId xmlns:a16="http://schemas.microsoft.com/office/drawing/2014/main" id="{4A203788-0943-4D6B-AC7C-0A8CC408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示例</a:t>
            </a:r>
          </a:p>
        </p:txBody>
      </p:sp>
      <p:sp>
        <p:nvSpPr>
          <p:cNvPr id="22" name="text-1110">
            <a:extLst xmlns:a="http://schemas.openxmlformats.org/drawingml/2006/main">
              <a:ext uri="{FF2B5EF4-FFF2-40B4-BE49-F238E27FC236}">
                <a16:creationId xmlns:a16="http://schemas.microsoft.com/office/drawing/2014/main" id="{77DABA4E-470B-42AB-B2B7-A3758976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合成：高薪机会压缩照顾家人的时间，应呈现责任与成长取舍，由用户决定。</a:t>
            </a:r>
          </a:p>
        </p:txBody>
      </p:sp>
      <p:sp>
        <p:nvSpPr>
          <p:cNvPr id="23" name="text-1111">
            <a:extLst xmlns:a="http://schemas.openxmlformats.org/drawingml/2006/main">
              <a:ext uri="{FF2B5EF4-FFF2-40B4-BE49-F238E27FC236}">
                <a16:creationId xmlns:a16="http://schemas.microsoft.com/office/drawing/2014/main" id="{B3017483-270E-4188-881B-2E88A359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85725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边界</a:t>
            </a:r>
          </a:p>
        </p:txBody>
      </p:sp>
      <p:sp>
        <p:nvSpPr>
          <p:cNvPr id="24" name="text-1112">
            <a:extLst xmlns:a="http://schemas.openxmlformats.org/drawingml/2006/main">
              <a:ext uri="{FF2B5EF4-FFF2-40B4-BE49-F238E27FC236}">
                <a16:creationId xmlns:a16="http://schemas.microsoft.com/office/drawing/2014/main" id="{77126864-2B3B-4406-B3BC-EFFBED34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48350"/>
            <a:ext cx="100203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价值分歧不能只靠总分；作品不是社会实验，AI不能代替用户定义人生意义。</a:t>
            </a:r>
          </a:p>
        </p:txBody>
      </p:sp>
    </p:spTree>
    <p:extLst>
      <p:ext uri="{BB962C8B-B14F-4D97-AF65-F5344CB8AC3E}">
        <p14:creationId xmlns:p14="http://schemas.microsoft.com/office/powerpoint/2010/main" val="54815732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113">
            <a:extLst xmlns:a="http://schemas.openxmlformats.org/drawingml/2006/main">
              <a:ext uri="{FF2B5EF4-FFF2-40B4-BE49-F238E27FC236}">
                <a16:creationId xmlns:a16="http://schemas.microsoft.com/office/drawing/2014/main" id="{E4CF4776-BBE8-4BAE-9AE7-DCD3457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114">
            <a:extLst xmlns:a="http://schemas.openxmlformats.org/drawingml/2006/main">
              <a:ext uri="{FF2B5EF4-FFF2-40B4-BE49-F238E27FC236}">
                <a16:creationId xmlns:a16="http://schemas.microsoft.com/office/drawing/2014/main" id="{F8BA4F7D-74CA-4087-B87E-6CFB2BCD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知识沿流程反复进入：前四步</a:t>
            </a:r>
          </a:p>
        </p:txBody>
      </p:sp>
      <p:sp>
        <p:nvSpPr>
          <p:cNvPr id="3" name="box-1115">
            <a:extLst xmlns:a="http://schemas.openxmlformats.org/drawingml/2006/main">
              <a:ext uri="{FF2B5EF4-FFF2-40B4-BE49-F238E27FC236}">
                <a16:creationId xmlns:a16="http://schemas.microsoft.com/office/drawing/2014/main" id="{46DC13BC-8D3F-4BB6-BC1E-EFB25B5A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116">
            <a:extLst xmlns:a="http://schemas.openxmlformats.org/drawingml/2006/main">
              <a:ext uri="{FF2B5EF4-FFF2-40B4-BE49-F238E27FC236}">
                <a16:creationId xmlns:a16="http://schemas.microsoft.com/office/drawing/2014/main" id="{D7AECF35-E37A-41FB-9996-177CBA2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117">
            <a:extLst xmlns:a="http://schemas.openxmlformats.org/drawingml/2006/main">
              <a:ext uri="{FF2B5EF4-FFF2-40B4-BE49-F238E27FC236}">
                <a16:creationId xmlns:a16="http://schemas.microsoft.com/office/drawing/2014/main" id="{CFBA39C0-9D43-46BB-B0DC-55F475D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118">
            <a:extLst xmlns:a="http://schemas.openxmlformats.org/drawingml/2006/main">
              <a:ext uri="{FF2B5EF4-FFF2-40B4-BE49-F238E27FC236}">
                <a16:creationId xmlns:a16="http://schemas.microsoft.com/office/drawing/2014/main" id="{AC5A0835-D7DD-4990-8D9B-E94B96B4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67 / 91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6686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阶段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主要知识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对应产物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9086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S1 定义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逻辑、认识论、决策、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伦理、心理、系统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目标与约束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086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S2 事实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科学方法、调查、统计、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历史、检索、数据AI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证据账本与未知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086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S3 方案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决策、系统工程、经济、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博弈、制度与政治经济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真实备选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S4 比较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数学、统计、运筹、决策及领域约束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可行组合与反转条件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32144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119">
            <a:extLst xmlns:a="http://schemas.openxmlformats.org/drawingml/2006/main">
              <a:ext uri="{FF2B5EF4-FFF2-40B4-BE49-F238E27FC236}">
                <a16:creationId xmlns:a16="http://schemas.microsoft.com/office/drawing/2014/main" id="{63D7FBC4-01E1-47C3-8587-947DE38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05 共享能力模块</a:t>
            </a:r>
          </a:p>
        </p:txBody>
      </p:sp>
      <p:sp>
        <p:nvSpPr>
          <p:cNvPr id="2" name="slide-title-1120">
            <a:extLst xmlns:a="http://schemas.openxmlformats.org/drawingml/2006/main">
              <a:ext uri="{FF2B5EF4-FFF2-40B4-BE49-F238E27FC236}">
                <a16:creationId xmlns:a16="http://schemas.microsoft.com/office/drawing/2014/main" id="{58982787-0553-400B-A517-1AC9C193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知识沿流程反复进入：后四步</a:t>
            </a:r>
          </a:p>
        </p:txBody>
      </p:sp>
      <p:sp>
        <p:nvSpPr>
          <p:cNvPr id="3" name="box-1121">
            <a:extLst xmlns:a="http://schemas.openxmlformats.org/drawingml/2006/main">
              <a:ext uri="{FF2B5EF4-FFF2-40B4-BE49-F238E27FC236}">
                <a16:creationId xmlns:a16="http://schemas.microsoft.com/office/drawing/2014/main" id="{2C2D4850-3A39-4453-877F-F37CACF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122">
            <a:extLst xmlns:a="http://schemas.openxmlformats.org/drawingml/2006/main">
              <a:ext uri="{FF2B5EF4-FFF2-40B4-BE49-F238E27FC236}">
                <a16:creationId xmlns:a16="http://schemas.microsoft.com/office/drawing/2014/main" id="{E8F185D2-32F8-447D-9386-41B7D398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123">
            <a:extLst xmlns:a="http://schemas.openxmlformats.org/drawingml/2006/main">
              <a:ext uri="{FF2B5EF4-FFF2-40B4-BE49-F238E27FC236}">
                <a16:creationId xmlns:a16="http://schemas.microsoft.com/office/drawing/2014/main" id="{4C155D4B-907E-470E-A339-A2A6695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124">
            <a:extLst xmlns:a="http://schemas.openxmlformats.org/drawingml/2006/main">
              <a:ext uri="{FF2B5EF4-FFF2-40B4-BE49-F238E27FC236}">
                <a16:creationId xmlns:a16="http://schemas.microsoft.com/office/drawing/2014/main" id="{23A7FCBE-D3D7-49B1-8049-826F5D7B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68 / 91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6686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阶段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主要知识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对应产物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9086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S5 复核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逻辑、科学方法、统计、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因果、心理与领域知识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反例与复核记录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S6 取舍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决策、伦理、心理、沟通、谈判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条件建议与实际选择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086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S7 执行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管理、运筹、组织、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沟通、行为与自动化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行动和真实状态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086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S8 反馈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统计、因果实验、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控制、调查与管理复盘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结果差异与新版本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83061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125">
            <a:extLst xmlns:a="http://schemas.openxmlformats.org/drawingml/2006/main">
              <a:ext uri="{FF2B5EF4-FFF2-40B4-BE49-F238E27FC236}">
                <a16:creationId xmlns:a16="http://schemas.microsoft.com/office/drawing/2014/main" id="{0D24D0AD-5CCD-4BA2-B7BE-762760E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06 协作与复核</a:t>
            </a:r>
          </a:p>
        </p:txBody>
      </p:sp>
      <p:sp>
        <p:nvSpPr>
          <p:cNvPr id="2" name="slide-title-1126">
            <a:extLst xmlns:a="http://schemas.openxmlformats.org/drawingml/2006/main">
              <a:ext uri="{FF2B5EF4-FFF2-40B4-BE49-F238E27FC236}">
                <a16:creationId xmlns:a16="http://schemas.microsoft.com/office/drawing/2014/main" id="{8ED23C0B-AF2B-4307-9AEB-A5B85E7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派工由具体问题和产物决定</a:t>
            </a:r>
          </a:p>
        </p:txBody>
      </p:sp>
      <p:sp>
        <p:nvSpPr>
          <p:cNvPr id="3" name="claim-1127">
            <a:extLst xmlns:a="http://schemas.openxmlformats.org/drawingml/2006/main">
              <a:ext uri="{FF2B5EF4-FFF2-40B4-BE49-F238E27FC236}">
                <a16:creationId xmlns:a16="http://schemas.microsoft.com/office/drawing/2014/main" id="{B4945154-A9F6-4C54-8BB8-334EF4A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独立任务可以并行，依赖上一步结果的工作按顺序推进。</a:t>
            </a:r>
          </a:p>
        </p:txBody>
      </p:sp>
      <p:sp>
        <p:nvSpPr>
          <p:cNvPr id="4" name="box-1128">
            <a:extLst xmlns:a="http://schemas.openxmlformats.org/drawingml/2006/main">
              <a:ext uri="{FF2B5EF4-FFF2-40B4-BE49-F238E27FC236}">
                <a16:creationId xmlns:a16="http://schemas.microsoft.com/office/drawing/2014/main" id="{05192D32-581E-420B-A4AB-ECDDE46A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129">
            <a:extLst xmlns:a="http://schemas.openxmlformats.org/drawingml/2006/main">
              <a:ext uri="{FF2B5EF4-FFF2-40B4-BE49-F238E27FC236}">
                <a16:creationId xmlns:a16="http://schemas.microsoft.com/office/drawing/2014/main" id="{BAA8020A-754F-4948-9573-C4A12503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130">
            <a:extLst xmlns:a="http://schemas.openxmlformats.org/drawingml/2006/main">
              <a:ext uri="{FF2B5EF4-FFF2-40B4-BE49-F238E27FC236}">
                <a16:creationId xmlns:a16="http://schemas.microsoft.com/office/drawing/2014/main" id="{3F09AD77-B1EA-434A-AB78-C3439C60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131">
            <a:extLst xmlns:a="http://schemas.openxmlformats.org/drawingml/2006/main">
              <a:ext uri="{FF2B5EF4-FFF2-40B4-BE49-F238E27FC236}">
                <a16:creationId xmlns:a16="http://schemas.microsoft.com/office/drawing/2014/main" id="{9528BD90-C925-4B07-B6DB-1A5D06B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69 / 91</a:t>
            </a:r>
          </a:p>
        </p:txBody>
      </p:sp>
      <p:sp>
        <p:nvSpPr>
          <p:cNvPr id="8" name="text-1132">
            <a:extLst xmlns:a="http://schemas.openxmlformats.org/drawingml/2006/main">
              <a:ext uri="{FF2B5EF4-FFF2-40B4-BE49-F238E27FC236}">
                <a16:creationId xmlns:a16="http://schemas.microsoft.com/office/drawing/2014/main" id="{45553EED-72DC-4746-9688-43CEFE2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1133">
            <a:extLst xmlns:a="http://schemas.openxmlformats.org/drawingml/2006/main">
              <a:ext uri="{FF2B5EF4-FFF2-40B4-BE49-F238E27FC236}">
                <a16:creationId xmlns:a16="http://schemas.microsoft.com/office/drawing/2014/main" id="{886D74D7-8C1D-46BB-AFC9-D107A73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1134">
            <a:extLst xmlns:a="http://schemas.openxmlformats.org/drawingml/2006/main">
              <a:ext uri="{FF2B5EF4-FFF2-40B4-BE49-F238E27FC236}">
                <a16:creationId xmlns:a16="http://schemas.microsoft.com/office/drawing/2014/main" id="{869D5962-1277-43F8-B171-949E57E1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先拆问题</a:t>
            </a:r>
          </a:p>
        </p:txBody>
      </p:sp>
      <p:sp>
        <p:nvSpPr>
          <p:cNvPr id="11" name="text-1135">
            <a:extLst xmlns:a="http://schemas.openxmlformats.org/drawingml/2006/main">
              <a:ext uri="{FF2B5EF4-FFF2-40B4-BE49-F238E27FC236}">
                <a16:creationId xmlns:a16="http://schemas.microsoft.com/office/drawing/2014/main" id="{6259195F-89F9-4219-9374-6D222E7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定义阶段、输入版本、子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问题、相关约束与允许行动。</a:t>
            </a:r>
          </a:p>
        </p:txBody>
      </p:sp>
      <p:sp>
        <p:nvSpPr>
          <p:cNvPr id="12" name="text-1136">
            <a:extLst xmlns:a="http://schemas.openxmlformats.org/drawingml/2006/main">
              <a:ext uri="{FF2B5EF4-FFF2-40B4-BE49-F238E27FC236}">
                <a16:creationId xmlns:a16="http://schemas.microsoft.com/office/drawing/2014/main" id="{28BF483E-C1A8-42F7-A8F0-7A7BDCAE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1137">
            <a:extLst xmlns:a="http://schemas.openxmlformats.org/drawingml/2006/main">
              <a:ext uri="{FF2B5EF4-FFF2-40B4-BE49-F238E27FC236}">
                <a16:creationId xmlns:a16="http://schemas.microsoft.com/office/drawing/2014/main" id="{490813AE-6532-4BB3-8943-FB3D552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1138">
            <a:extLst xmlns:a="http://schemas.openxmlformats.org/drawingml/2006/main">
              <a:ext uri="{FF2B5EF4-FFF2-40B4-BE49-F238E27FC236}">
                <a16:creationId xmlns:a16="http://schemas.microsoft.com/office/drawing/2014/main" id="{1F4C9212-D76B-41F4-8761-3A518D5F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再选模块</a:t>
            </a:r>
          </a:p>
        </p:txBody>
      </p:sp>
      <p:sp>
        <p:nvSpPr>
          <p:cNvPr id="15" name="text-1139">
            <a:extLst xmlns:a="http://schemas.openxmlformats.org/drawingml/2006/main">
              <a:ext uri="{FF2B5EF4-FFF2-40B4-BE49-F238E27FC236}">
                <a16:creationId xmlns:a16="http://schemas.microsoft.com/office/drawing/2014/main" id="{33E0F497-0875-45BB-A0A3-42251A1E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选择最少必要的领域和能力，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不把学科名当任务书。</a:t>
            </a:r>
          </a:p>
        </p:txBody>
      </p:sp>
      <p:sp>
        <p:nvSpPr>
          <p:cNvPr id="16" name="text-1140">
            <a:extLst xmlns:a="http://schemas.openxmlformats.org/drawingml/2006/main">
              <a:ext uri="{FF2B5EF4-FFF2-40B4-BE49-F238E27FC236}">
                <a16:creationId xmlns:a16="http://schemas.microsoft.com/office/drawing/2014/main" id="{841DA063-0C66-4DC2-AA5E-C607F6F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1141">
            <a:extLst xmlns:a="http://schemas.openxmlformats.org/drawingml/2006/main">
              <a:ext uri="{FF2B5EF4-FFF2-40B4-BE49-F238E27FC236}">
                <a16:creationId xmlns:a16="http://schemas.microsoft.com/office/drawing/2014/main" id="{125B53D1-78FF-4724-946C-C4D14289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1142">
            <a:extLst xmlns:a="http://schemas.openxmlformats.org/drawingml/2006/main">
              <a:ext uri="{FF2B5EF4-FFF2-40B4-BE49-F238E27FC236}">
                <a16:creationId xmlns:a16="http://schemas.microsoft.com/office/drawing/2014/main" id="{D68F3923-5365-4F34-ADB0-914477B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验收产物</a:t>
            </a:r>
          </a:p>
        </p:txBody>
      </p:sp>
      <p:sp>
        <p:nvSpPr>
          <p:cNvPr id="19" name="text-1143">
            <a:extLst xmlns:a="http://schemas.openxmlformats.org/drawingml/2006/main">
              <a:ext uri="{FF2B5EF4-FFF2-40B4-BE49-F238E27FC236}">
                <a16:creationId xmlns:a16="http://schemas.microsoft.com/office/drawing/2014/main" id="{DC12B4E4-6803-4B65-8F05-C6F5656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检查实际方法、依据、计算、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局限及是否回答了问题。</a:t>
            </a:r>
          </a:p>
        </p:txBody>
      </p:sp>
    </p:spTree>
    <p:extLst>
      <p:ext uri="{BB962C8B-B14F-4D97-AF65-F5344CB8AC3E}">
        <p14:creationId xmlns:p14="http://schemas.microsoft.com/office/powerpoint/2010/main" val="500251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144">
            <a:extLst xmlns:a="http://schemas.openxmlformats.org/drawingml/2006/main">
              <a:ext uri="{FF2B5EF4-FFF2-40B4-BE49-F238E27FC236}">
                <a16:creationId xmlns:a16="http://schemas.microsoft.com/office/drawing/2014/main" id="{51F93614-DE56-472D-89FD-E2129D1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06 协作与复核</a:t>
            </a:r>
          </a:p>
        </p:txBody>
      </p:sp>
      <p:sp>
        <p:nvSpPr>
          <p:cNvPr id="2" name="slide-title-1145">
            <a:extLst xmlns:a="http://schemas.openxmlformats.org/drawingml/2006/main">
              <a:ext uri="{FF2B5EF4-FFF2-40B4-BE49-F238E27FC236}">
                <a16:creationId xmlns:a16="http://schemas.microsoft.com/office/drawing/2014/main" id="{3895B746-E339-4AF1-9EC5-827A782E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协作契约让任务可检查</a:t>
            </a:r>
          </a:p>
        </p:txBody>
      </p:sp>
      <p:sp>
        <p:nvSpPr>
          <p:cNvPr id="3" name="box-1146">
            <a:extLst xmlns:a="http://schemas.openxmlformats.org/drawingml/2006/main">
              <a:ext uri="{FF2B5EF4-FFF2-40B4-BE49-F238E27FC236}">
                <a16:creationId xmlns:a16="http://schemas.microsoft.com/office/drawing/2014/main" id="{980FA033-B87D-4E13-9C64-3829F932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147">
            <a:extLst xmlns:a="http://schemas.openxmlformats.org/drawingml/2006/main">
              <a:ext uri="{FF2B5EF4-FFF2-40B4-BE49-F238E27FC236}">
                <a16:creationId xmlns:a16="http://schemas.microsoft.com/office/drawing/2014/main" id="{15EE8C09-0B9C-434F-8A9B-9F72B1F1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148">
            <a:extLst xmlns:a="http://schemas.openxmlformats.org/drawingml/2006/main">
              <a:ext uri="{FF2B5EF4-FFF2-40B4-BE49-F238E27FC236}">
                <a16:creationId xmlns:a16="http://schemas.microsoft.com/office/drawing/2014/main" id="{F7C3EDDE-07B0-41DA-A6D7-2A24ABB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149">
            <a:extLst xmlns:a="http://schemas.openxmlformats.org/drawingml/2006/main">
              <a:ext uri="{FF2B5EF4-FFF2-40B4-BE49-F238E27FC236}">
                <a16:creationId xmlns:a16="http://schemas.microsoft.com/office/drawing/2014/main" id="{61BFF12A-8D5F-4DA1-B92D-3AECFEA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70 / 91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环节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必须明确什么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任务ID、决定ID、S阶段、输入版本、子问题与证据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边界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真实目标与硬约束、允许行动、预期产物和依赖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输出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适用性、实际输入、方法产物、来源对应、局限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反驳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最强反对理由、反转条件、阻断性缺口与下一步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验收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版本是否匹配、计算可否复算、引文是否支持结论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95933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150">
            <a:extLst xmlns:a="http://schemas.openxmlformats.org/drawingml/2006/main">
              <a:ext uri="{FF2B5EF4-FFF2-40B4-BE49-F238E27FC236}">
                <a16:creationId xmlns:a16="http://schemas.microsoft.com/office/drawing/2014/main" id="{E2F9F8C2-C36D-4628-9A15-DFD5F96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06 协作与复核</a:t>
            </a:r>
          </a:p>
        </p:txBody>
      </p:sp>
      <p:sp>
        <p:nvSpPr>
          <p:cNvPr id="2" name="slide-title-1151">
            <a:extLst xmlns:a="http://schemas.openxmlformats.org/drawingml/2006/main">
              <a:ext uri="{FF2B5EF4-FFF2-40B4-BE49-F238E27FC236}">
                <a16:creationId xmlns:a16="http://schemas.microsoft.com/office/drawing/2014/main" id="{32C66F82-7B1D-493A-B4E6-218118C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R01负责发现错误与遗漏</a:t>
            </a:r>
          </a:p>
        </p:txBody>
      </p:sp>
      <p:sp>
        <p:nvSpPr>
          <p:cNvPr id="3" name="box-1152">
            <a:extLst xmlns:a="http://schemas.openxmlformats.org/drawingml/2006/main">
              <a:ext uri="{FF2B5EF4-FFF2-40B4-BE49-F238E27FC236}">
                <a16:creationId xmlns:a16="http://schemas.microsoft.com/office/drawing/2014/main" id="{0BF3CC39-28BB-41D7-8FB9-0AF28D03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153">
            <a:extLst xmlns:a="http://schemas.openxmlformats.org/drawingml/2006/main">
              <a:ext uri="{FF2B5EF4-FFF2-40B4-BE49-F238E27FC236}">
                <a16:creationId xmlns:a16="http://schemas.microsoft.com/office/drawing/2014/main" id="{AA470F76-5572-4CB8-994B-DD585CF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154">
            <a:extLst xmlns:a="http://schemas.openxmlformats.org/drawingml/2006/main">
              <a:ext uri="{FF2B5EF4-FFF2-40B4-BE49-F238E27FC236}">
                <a16:creationId xmlns:a16="http://schemas.microsoft.com/office/drawing/2014/main" id="{D7EE3A84-86A9-42AD-A715-F694D6B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155">
            <a:extLst xmlns:a="http://schemas.openxmlformats.org/drawingml/2006/main">
              <a:ext uri="{FF2B5EF4-FFF2-40B4-BE49-F238E27FC236}">
                <a16:creationId xmlns:a16="http://schemas.microsoft.com/office/drawing/2014/main" id="{9CC7405F-FCCA-4D37-A123-C6A93B8B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71 / 91</a:t>
            </a:r>
          </a:p>
        </p:txBody>
      </p:sp>
      <p:sp>
        <p:nvSpPr>
          <p:cNvPr id="7" name="subhead-1156">
            <a:extLst xmlns:a="http://schemas.openxmlformats.org/drawingml/2006/main">
              <a:ext uri="{FF2B5EF4-FFF2-40B4-BE49-F238E27FC236}">
                <a16:creationId xmlns:a16="http://schemas.microsoft.com/office/drawing/2014/main" id="{AC5D2E61-AB01-4CE2-ACDC-13C8C152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检查证据</a:t>
            </a:r>
          </a:p>
        </p:txBody>
      </p:sp>
      <p:sp>
        <p:nvSpPr>
          <p:cNvPr id="8" name="text-1157">
            <a:extLst xmlns:a="http://schemas.openxmlformats.org/drawingml/2006/main">
              <a:ext uri="{FF2B5EF4-FFF2-40B4-BE49-F238E27FC236}">
                <a16:creationId xmlns:a16="http://schemas.microsoft.com/office/drawing/2014/main" id="{461E56B2-AEA8-41BF-9A34-EB1C2845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来源是否支持主张？样本、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时间和适用范围是否一致？</a:t>
            </a:r>
          </a:p>
        </p:txBody>
      </p:sp>
      <p:sp>
        <p:nvSpPr>
          <p:cNvPr id="9" name="subhead-1158">
            <a:extLst xmlns:a="http://schemas.openxmlformats.org/drawingml/2006/main">
              <a:ext uri="{FF2B5EF4-FFF2-40B4-BE49-F238E27FC236}">
                <a16:creationId xmlns:a16="http://schemas.microsoft.com/office/drawing/2014/main" id="{D0260960-7598-4D02-809E-9CEEB4D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检查方法</a:t>
            </a:r>
          </a:p>
        </p:txBody>
      </p:sp>
      <p:sp>
        <p:nvSpPr>
          <p:cNvPr id="10" name="text-1159">
            <a:extLst xmlns:a="http://schemas.openxmlformats.org/drawingml/2006/main">
              <a:ext uri="{FF2B5EF4-FFF2-40B4-BE49-F238E27FC236}">
                <a16:creationId xmlns:a16="http://schemas.microsoft.com/office/drawing/2014/main" id="{6B8B8EF4-CFDA-4E2C-96D3-B052CC69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有没有计算错误、相关因果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混淆、循环论证或虚构概率？</a:t>
            </a:r>
          </a:p>
        </p:txBody>
      </p:sp>
      <p:sp>
        <p:nvSpPr>
          <p:cNvPr id="11" name="subhead-1160">
            <a:extLst xmlns:a="http://schemas.openxmlformats.org/drawingml/2006/main">
              <a:ext uri="{FF2B5EF4-FFF2-40B4-BE49-F238E27FC236}">
                <a16:creationId xmlns:a16="http://schemas.microsoft.com/office/drawing/2014/main" id="{80CC748D-134A-472B-8BC2-9E462506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检查整体</a:t>
            </a:r>
          </a:p>
        </p:txBody>
      </p:sp>
      <p:sp>
        <p:nvSpPr>
          <p:cNvPr id="12" name="text-1161">
            <a:extLst xmlns:a="http://schemas.openxmlformats.org/drawingml/2006/main">
              <a:ext uri="{FF2B5EF4-FFF2-40B4-BE49-F238E27FC236}">
                <a16:creationId xmlns:a16="http://schemas.microsoft.com/office/drawing/2014/main" id="{1000BDCC-7ABD-4B77-9FFF-99C1BBF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是否遗漏真实选项、重复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记账、跨域损害与结果延迟？</a:t>
            </a:r>
          </a:p>
        </p:txBody>
      </p:sp>
      <p:sp>
        <p:nvSpPr>
          <p:cNvPr id="13" name="subhead-1162">
            <a:extLst xmlns:a="http://schemas.openxmlformats.org/drawingml/2006/main">
              <a:ext uri="{FF2B5EF4-FFF2-40B4-BE49-F238E27FC236}">
                <a16:creationId xmlns:a16="http://schemas.microsoft.com/office/drawing/2014/main" id="{22D9E74A-B236-4320-9FD6-1B01C92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形成处理意见</a:t>
            </a:r>
          </a:p>
        </p:txBody>
      </p:sp>
      <p:sp>
        <p:nvSpPr>
          <p:cNvPr id="14" name="text-1163">
            <a:extLst xmlns:a="http://schemas.openxmlformats.org/drawingml/2006/main">
              <a:ext uri="{FF2B5EF4-FFF2-40B4-BE49-F238E27FC236}">
                <a16:creationId xmlns:a16="http://schemas.microsoft.com/office/drawing/2014/main" id="{7587FCD4-2F44-413B-A44E-AD5E45D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指出缺口、返工位置及条件；通过只对当前范围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与版本有效。</a:t>
            </a:r>
          </a:p>
        </p:txBody>
      </p:sp>
    </p:spTree>
    <p:extLst>
      <p:ext uri="{BB962C8B-B14F-4D97-AF65-F5344CB8AC3E}">
        <p14:creationId xmlns:p14="http://schemas.microsoft.com/office/powerpoint/2010/main" val="156834465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164">
            <a:extLst xmlns:a="http://schemas.openxmlformats.org/drawingml/2006/main">
              <a:ext uri="{FF2B5EF4-FFF2-40B4-BE49-F238E27FC236}">
                <a16:creationId xmlns:a16="http://schemas.microsoft.com/office/drawing/2014/main" id="{A74487B2-AD84-419B-9E4C-393884E5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165">
            <a:extLst xmlns:a="http://schemas.openxmlformats.org/drawingml/2006/main">
              <a:ext uri="{FF2B5EF4-FFF2-40B4-BE49-F238E27FC236}">
                <a16:creationId xmlns:a16="http://schemas.microsoft.com/office/drawing/2014/main" id="{B24FBC73-8057-4414-A140-75DB4AB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个人状态需要跨次运行保存</a:t>
            </a:r>
          </a:p>
        </p:txBody>
      </p:sp>
      <p:sp>
        <p:nvSpPr>
          <p:cNvPr id="3" name="claim-1166">
            <a:extLst xmlns:a="http://schemas.openxmlformats.org/drawingml/2006/main">
              <a:ext uri="{FF2B5EF4-FFF2-40B4-BE49-F238E27FC236}">
                <a16:creationId xmlns:a16="http://schemas.microsoft.com/office/drawing/2014/main" id="{6D1044B3-2A9F-4EA0-86AA-EBFAF094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方法库与个人记录分开；聊天记忆不能单独承担状态库。</a:t>
            </a:r>
          </a:p>
        </p:txBody>
      </p:sp>
      <p:sp>
        <p:nvSpPr>
          <p:cNvPr id="4" name="box-1167">
            <a:extLst xmlns:a="http://schemas.openxmlformats.org/drawingml/2006/main">
              <a:ext uri="{FF2B5EF4-FFF2-40B4-BE49-F238E27FC236}">
                <a16:creationId xmlns:a16="http://schemas.microsoft.com/office/drawing/2014/main" id="{D38EE373-E5AA-47B1-A92A-F8E09BB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168">
            <a:extLst xmlns:a="http://schemas.openxmlformats.org/drawingml/2006/main">
              <a:ext uri="{FF2B5EF4-FFF2-40B4-BE49-F238E27FC236}">
                <a16:creationId xmlns:a16="http://schemas.microsoft.com/office/drawing/2014/main" id="{D3C3DF46-3CAF-4717-AD87-8D387919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169">
            <a:extLst xmlns:a="http://schemas.openxmlformats.org/drawingml/2006/main">
              <a:ext uri="{FF2B5EF4-FFF2-40B4-BE49-F238E27FC236}">
                <a16:creationId xmlns:a16="http://schemas.microsoft.com/office/drawing/2014/main" id="{EFE29E58-59F2-4372-A05F-24D84D36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170">
            <a:extLst xmlns:a="http://schemas.openxmlformats.org/drawingml/2006/main">
              <a:ext uri="{FF2B5EF4-FFF2-40B4-BE49-F238E27FC236}">
                <a16:creationId xmlns:a16="http://schemas.microsoft.com/office/drawing/2014/main" id="{6E77F598-0483-4642-83B4-D1F3F618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72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记录集合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典型内容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目标与约束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目标版本、底线、承诺、授权与关注领域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事实与快照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原始来源、观察时间、候选事实、推断与更正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问题与建议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待问缺口、已答状态、建议内容及用户选择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行动与结果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任务ID、实际执行、原预测、观察窗口与新结果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运行与通知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触发事件、成功读取、写入、送达、失败与重试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00568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171">
            <a:extLst xmlns:a="http://schemas.openxmlformats.org/drawingml/2006/main">
              <a:ext uri="{FF2B5EF4-FFF2-40B4-BE49-F238E27FC236}">
                <a16:creationId xmlns:a16="http://schemas.microsoft.com/office/drawing/2014/main" id="{59071174-2862-481B-B0ED-C665F7A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172">
            <a:extLst xmlns:a="http://schemas.openxmlformats.org/drawingml/2006/main">
              <a:ext uri="{FF2B5EF4-FFF2-40B4-BE49-F238E27FC236}">
                <a16:creationId xmlns:a16="http://schemas.microsoft.com/office/drawing/2014/main" id="{B697D08B-535E-4220-84E0-23E0AE8A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每个数据入口都要标明覆盖范围</a:t>
            </a:r>
          </a:p>
        </p:txBody>
      </p:sp>
      <p:sp>
        <p:nvSpPr>
          <p:cNvPr id="3" name="box-1173">
            <a:extLst xmlns:a="http://schemas.openxmlformats.org/drawingml/2006/main">
              <a:ext uri="{FF2B5EF4-FFF2-40B4-BE49-F238E27FC236}">
                <a16:creationId xmlns:a16="http://schemas.microsoft.com/office/drawing/2014/main" id="{4F5B11BB-1D3B-4FB7-8B92-7E5B5B96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174">
            <a:extLst xmlns:a="http://schemas.openxmlformats.org/drawingml/2006/main">
              <a:ext uri="{FF2B5EF4-FFF2-40B4-BE49-F238E27FC236}">
                <a16:creationId xmlns:a16="http://schemas.microsoft.com/office/drawing/2014/main" id="{0074AB7E-CB22-481E-901E-4802B12F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175">
            <a:extLst xmlns:a="http://schemas.openxmlformats.org/drawingml/2006/main">
              <a:ext uri="{FF2B5EF4-FFF2-40B4-BE49-F238E27FC236}">
                <a16:creationId xmlns:a16="http://schemas.microsoft.com/office/drawing/2014/main" id="{A2CF0E52-596A-4CBF-849D-1E485EC4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176">
            <a:extLst xmlns:a="http://schemas.openxmlformats.org/drawingml/2006/main">
              <a:ext uri="{FF2B5EF4-FFF2-40B4-BE49-F238E27FC236}">
                <a16:creationId xmlns:a16="http://schemas.microsoft.com/office/drawing/2014/main" id="{4565A9D6-530F-450F-858F-83B6A7B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73 / 91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入口类型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可以支持的内容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需要保留的边界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用户短答与语音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目标、偏好、体验和缺口补充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陈述可能需澄清，允许范围与暂不回答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用户提供的文件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计划、项目资料、明确的事实记录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核对时间、单位与版本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已授权连接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工具实际返回的字段和更新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插件目录可见不代表连接成功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自动抽取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从资料中识别候选事件、时间和任务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重要歧义不能直接变成正式事实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模型推断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基于现有证据提出解释或情景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推断必须与直接记录分开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47238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177">
            <a:extLst xmlns:a="http://schemas.openxmlformats.org/drawingml/2006/main">
              <a:ext uri="{FF2B5EF4-FFF2-40B4-BE49-F238E27FC236}">
                <a16:creationId xmlns:a16="http://schemas.microsoft.com/office/drawing/2014/main" id="{ADF3DEA0-4B98-470D-AFD7-9D618266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178">
            <a:extLst xmlns:a="http://schemas.openxmlformats.org/drawingml/2006/main">
              <a:ext uri="{FF2B5EF4-FFF2-40B4-BE49-F238E27FC236}">
                <a16:creationId xmlns:a16="http://schemas.microsoft.com/office/drawing/2014/main" id="{0DC27F81-B063-4A15-BD9A-E8C029C4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主动服务由真实触发开始</a:t>
            </a:r>
          </a:p>
        </p:txBody>
      </p:sp>
      <p:sp>
        <p:nvSpPr>
          <p:cNvPr id="3" name="claim-1179">
            <a:extLst xmlns:a="http://schemas.openxmlformats.org/drawingml/2006/main">
              <a:ext uri="{FF2B5EF4-FFF2-40B4-BE49-F238E27FC236}">
                <a16:creationId xmlns:a16="http://schemas.microsoft.com/office/drawing/2014/main" id="{163575FA-7278-4412-AC29-A249A9F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主动意味着真实触发后推进闭环，不是宣称持续后台在线。</a:t>
            </a:r>
          </a:p>
        </p:txBody>
      </p:sp>
      <p:sp>
        <p:nvSpPr>
          <p:cNvPr id="4" name="box-1180">
            <a:extLst xmlns:a="http://schemas.openxmlformats.org/drawingml/2006/main">
              <a:ext uri="{FF2B5EF4-FFF2-40B4-BE49-F238E27FC236}">
                <a16:creationId xmlns:a16="http://schemas.microsoft.com/office/drawing/2014/main" id="{C415D567-C549-41D3-BD0C-4FB24FA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181">
            <a:extLst xmlns:a="http://schemas.openxmlformats.org/drawingml/2006/main">
              <a:ext uri="{FF2B5EF4-FFF2-40B4-BE49-F238E27FC236}">
                <a16:creationId xmlns:a16="http://schemas.microsoft.com/office/drawing/2014/main" id="{35850877-28FC-431E-BF34-396C95FC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182">
            <a:extLst xmlns:a="http://schemas.openxmlformats.org/drawingml/2006/main">
              <a:ext uri="{FF2B5EF4-FFF2-40B4-BE49-F238E27FC236}">
                <a16:creationId xmlns:a16="http://schemas.microsoft.com/office/drawing/2014/main" id="{17DF1F7E-5309-43D8-B9AF-03219788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183">
            <a:extLst xmlns:a="http://schemas.openxmlformats.org/drawingml/2006/main">
              <a:ext uri="{FF2B5EF4-FFF2-40B4-BE49-F238E27FC236}">
                <a16:creationId xmlns:a16="http://schemas.microsoft.com/office/drawing/2014/main" id="{56FB1FA1-0EAD-45F7-B31B-7E5E3CC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74 / 91</a:t>
            </a:r>
          </a:p>
        </p:txBody>
      </p:sp>
      <p:sp>
        <p:nvSpPr>
          <p:cNvPr id="8" name="text-1184">
            <a:extLst xmlns:a="http://schemas.openxmlformats.org/drawingml/2006/main">
              <a:ext uri="{FF2B5EF4-FFF2-40B4-BE49-F238E27FC236}">
                <a16:creationId xmlns:a16="http://schemas.microsoft.com/office/drawing/2014/main" id="{4AFC2CAC-8875-49EE-B074-52EEC29F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</a:t>
            </a:r>
          </a:p>
        </p:txBody>
      </p:sp>
      <p:sp>
        <p:nvSpPr>
          <p:cNvPr id="9" name="text-1185">
            <a:extLst xmlns:a="http://schemas.openxmlformats.org/drawingml/2006/main">
              <a:ext uri="{FF2B5EF4-FFF2-40B4-BE49-F238E27FC236}">
                <a16:creationId xmlns:a16="http://schemas.microsoft.com/office/drawing/2014/main" id="{C9D44019-D7BF-4EB0-B184-D64A962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触发后恢复目标、约束、授权及未结事项，读取相关来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源并更新快照。</a:t>
            </a:r>
          </a:p>
        </p:txBody>
      </p:sp>
      <p:sp>
        <p:nvSpPr>
          <p:cNvPr id="10" name="text-1186">
            <a:extLst xmlns:a="http://schemas.openxmlformats.org/drawingml/2006/main">
              <a:ext uri="{FF2B5EF4-FFF2-40B4-BE49-F238E27FC236}">
                <a16:creationId xmlns:a16="http://schemas.microsoft.com/office/drawing/2014/main" id="{6E78E13B-B326-4BD5-9F5D-439B644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228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2</a:t>
            </a:r>
          </a:p>
        </p:txBody>
      </p:sp>
      <p:sp>
        <p:nvSpPr>
          <p:cNvPr id="11" name="text-1187">
            <a:extLst xmlns:a="http://schemas.openxmlformats.org/drawingml/2006/main">
              <a:ext uri="{FF2B5EF4-FFF2-40B4-BE49-F238E27FC236}">
                <a16:creationId xmlns:a16="http://schemas.microsoft.com/office/drawing/2014/main" id="{E017CC05-C090-42E5-9AE2-4EF0BBC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7228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先判断新事实是否改变下一步：缺关键证据则补问，证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据足够则给方案，无实质变化则等待。</a:t>
            </a:r>
          </a:p>
        </p:txBody>
      </p:sp>
      <p:sp>
        <p:nvSpPr>
          <p:cNvPr id="12" name="text-1188">
            <a:extLst xmlns:a="http://schemas.openxmlformats.org/drawingml/2006/main">
              <a:ext uri="{FF2B5EF4-FFF2-40B4-BE49-F238E27FC236}">
                <a16:creationId xmlns:a16="http://schemas.microsoft.com/office/drawing/2014/main" id="{BCCB96BF-3B69-40F4-9451-8B894138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906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3</a:t>
            </a:r>
          </a:p>
        </p:txBody>
      </p:sp>
      <p:sp>
        <p:nvSpPr>
          <p:cNvPr id="13" name="text-1189">
            <a:extLst xmlns:a="http://schemas.openxmlformats.org/drawingml/2006/main">
              <a:ext uri="{FF2B5EF4-FFF2-40B4-BE49-F238E27FC236}">
                <a16:creationId xmlns:a16="http://schemas.microsoft.com/office/drawing/2014/main" id="{77A0AA15-FD7C-4F45-AE30-D757D39D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906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已选择且实际开始的行动，在观察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窗口成熟后检查效果，继续更新。</a:t>
            </a:r>
          </a:p>
        </p:txBody>
      </p:sp>
      <p:sp>
        <p:nvSpPr>
          <p:cNvPr id="14" name="subhead-1190">
            <a:extLst xmlns:a="http://schemas.openxmlformats.org/drawingml/2006/main">
              <a:ext uri="{FF2B5EF4-FFF2-40B4-BE49-F238E27FC236}">
                <a16:creationId xmlns:a16="http://schemas.microsoft.com/office/drawing/2014/main" id="{03560E31-158E-4A91-B2B0-F41F2E0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产品运行要求</a:t>
            </a:r>
          </a:p>
        </p:txBody>
      </p:sp>
      <p:sp>
        <p:nvSpPr>
          <p:cNvPr id="15" name="text-1191">
            <a:extLst xmlns:a="http://schemas.openxmlformats.org/drawingml/2006/main">
              <a:ext uri="{FF2B5EF4-FFF2-40B4-BE49-F238E27FC236}">
                <a16:creationId xmlns:a16="http://schemas.microsoft.com/office/drawing/2014/main" id="{BD22AD9F-0C71-4A76-BAB7-49BA728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6802"/>
            <a:ext cx="42291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需真实触发器、数据接入、持久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状态与统一通知四类基础设施；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它们不是新增常驻AI角色。</a:t>
            </a:r>
          </a:p>
        </p:txBody>
      </p:sp>
      <p:sp>
        <p:nvSpPr>
          <p:cNvPr id="16" name="subhead-1192">
            <a:extLst xmlns:a="http://schemas.openxmlformats.org/drawingml/2006/main">
              <a:ext uri="{FF2B5EF4-FFF2-40B4-BE49-F238E27FC236}">
                <a16:creationId xmlns:a16="http://schemas.microsoft.com/office/drawing/2014/main" id="{4DEA5A82-4D14-4F32-A015-7FF6A51E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88461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当前落实范围</a:t>
            </a:r>
          </a:p>
        </p:txBody>
      </p:sp>
      <p:sp>
        <p:nvSpPr>
          <p:cNvPr id="17" name="text-1193">
            <a:extLst xmlns:a="http://schemas.openxmlformats.org/drawingml/2006/main">
              <a:ext uri="{FF2B5EF4-FFF2-40B4-BE49-F238E27FC236}">
                <a16:creationId xmlns:a16="http://schemas.microsoft.com/office/drawing/2014/main" id="{D093EA3A-61D1-4358-AB32-13A7EF63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0713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已存在协议和设置模板；所读材料未证明任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何个人连接、任务、状态库或通知已启用。</a:t>
            </a:r>
          </a:p>
        </p:txBody>
      </p:sp>
      <p:sp>
        <p:nvSpPr>
          <p:cNvPr id="18" name="box-1194">
            <a:extLst xmlns:a="http://schemas.openxmlformats.org/drawingml/2006/main">
              <a:ext uri="{FF2B5EF4-FFF2-40B4-BE49-F238E27FC236}">
                <a16:creationId xmlns:a16="http://schemas.microsoft.com/office/drawing/2014/main" id="{82245159-3C46-4A32-A3F8-0C7D7485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9" name="text-1195">
            <a:extLst xmlns:a="http://schemas.openxmlformats.org/drawingml/2006/main">
              <a:ext uri="{FF2B5EF4-FFF2-40B4-BE49-F238E27FC236}">
                <a16:creationId xmlns:a16="http://schemas.microsoft.com/office/drawing/2014/main" id="{6CFCAFEE-133C-4E7D-9E99-9AB32DD7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完整跑通读取→记录→建议→送达，才可声明该范围已启用。</a:t>
            </a:r>
          </a:p>
        </p:txBody>
      </p:sp>
    </p:spTree>
    <p:extLst>
      <p:ext uri="{BB962C8B-B14F-4D97-AF65-F5344CB8AC3E}">
        <p14:creationId xmlns:p14="http://schemas.microsoft.com/office/powerpoint/2010/main" val="40055016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1196">
            <a:extLst xmlns:a="http://schemas.openxmlformats.org/drawingml/2006/main">
              <a:ext uri="{FF2B5EF4-FFF2-40B4-BE49-F238E27FC236}">
                <a16:creationId xmlns:a16="http://schemas.microsoft.com/office/drawing/2014/main" id="{7B80AACE-7C12-4523-B44A-A61B38BF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197">
            <a:extLst xmlns:a="http://schemas.openxmlformats.org/drawingml/2006/main">
              <a:ext uri="{FF2B5EF4-FFF2-40B4-BE49-F238E27FC236}">
                <a16:creationId xmlns:a16="http://schemas.microsoft.com/office/drawing/2014/main" id="{65776085-918F-4584-ABC1-D196F404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主动读取保留数据来源与边界</a:t>
            </a:r>
          </a:p>
        </p:txBody>
      </p:sp>
      <p:sp>
        <p:nvSpPr>
          <p:cNvPr id="3" name="claim-1198">
            <a:extLst xmlns:a="http://schemas.openxmlformats.org/drawingml/2006/main">
              <a:ext uri="{FF2B5EF4-FFF2-40B4-BE49-F238E27FC236}">
                <a16:creationId xmlns:a16="http://schemas.microsoft.com/office/drawing/2014/main" id="{880FF7A8-A958-4121-B670-4A6EC4C1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只读取与当前目标相关、实际可用且已有授权的数据。</a:t>
            </a:r>
          </a:p>
        </p:txBody>
      </p:sp>
      <p:sp>
        <p:nvSpPr>
          <p:cNvPr id="4" name="box-1199">
            <a:extLst xmlns:a="http://schemas.openxmlformats.org/drawingml/2006/main">
              <a:ext uri="{FF2B5EF4-FFF2-40B4-BE49-F238E27FC236}">
                <a16:creationId xmlns:a16="http://schemas.microsoft.com/office/drawing/2014/main" id="{FD83D63F-B987-473B-9EF6-67C866F6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00">
            <a:extLst xmlns:a="http://schemas.openxmlformats.org/drawingml/2006/main">
              <a:ext uri="{FF2B5EF4-FFF2-40B4-BE49-F238E27FC236}">
                <a16:creationId xmlns:a16="http://schemas.microsoft.com/office/drawing/2014/main" id="{B42F2407-9AAC-4235-8205-BC2DE9AB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01">
            <a:extLst xmlns:a="http://schemas.openxmlformats.org/drawingml/2006/main">
              <a:ext uri="{FF2B5EF4-FFF2-40B4-BE49-F238E27FC236}">
                <a16:creationId xmlns:a16="http://schemas.microsoft.com/office/drawing/2014/main" id="{F16F339A-FBD4-48EB-A486-895868A4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02">
            <a:extLst xmlns:a="http://schemas.openxmlformats.org/drawingml/2006/main">
              <a:ext uri="{FF2B5EF4-FFF2-40B4-BE49-F238E27FC236}">
                <a16:creationId xmlns:a16="http://schemas.microsoft.com/office/drawing/2014/main" id="{9E8E7F27-510F-433E-ACA8-A158B5E7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75 / 91</a:t>
            </a:r>
          </a:p>
        </p:txBody>
      </p:sp>
      <p:sp>
        <p:nvSpPr>
          <p:cNvPr id="8" name="text-1203">
            <a:extLst xmlns:a="http://schemas.openxmlformats.org/drawingml/2006/main">
              <a:ext uri="{FF2B5EF4-FFF2-40B4-BE49-F238E27FC236}">
                <a16:creationId xmlns:a16="http://schemas.microsoft.com/office/drawing/2014/main" id="{72C9125E-E7F8-4BC2-8DC2-8C6914B3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</a:t>
            </a:r>
          </a:p>
        </p:txBody>
      </p:sp>
      <p:sp>
        <p:nvSpPr>
          <p:cNvPr id="9" name="text-1204">
            <a:extLst xmlns:a="http://schemas.openxmlformats.org/drawingml/2006/main">
              <a:ext uri="{FF2B5EF4-FFF2-40B4-BE49-F238E27FC236}">
                <a16:creationId xmlns:a16="http://schemas.microsoft.com/office/drawing/2014/main" id="{3985B7C0-3750-4323-8CBE-32707FD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入口包括用户输入、明确提供的文件，以及授权范围内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的真实连接；插件出现在目录不等于已连接。</a:t>
            </a:r>
          </a:p>
        </p:txBody>
      </p:sp>
      <p:sp>
        <p:nvSpPr>
          <p:cNvPr id="10" name="text-1205">
            <a:extLst xmlns:a="http://schemas.openxmlformats.org/drawingml/2006/main">
              <a:ext uri="{FF2B5EF4-FFF2-40B4-BE49-F238E27FC236}">
                <a16:creationId xmlns:a16="http://schemas.microsoft.com/office/drawing/2014/main" id="{4901FCD8-F8B9-40E9-8C31-C254A94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228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2</a:t>
            </a:r>
          </a:p>
        </p:txBody>
      </p:sp>
      <p:sp>
        <p:nvSpPr>
          <p:cNvPr id="11" name="text-1206">
            <a:extLst xmlns:a="http://schemas.openxmlformats.org/drawingml/2006/main">
              <a:ext uri="{FF2B5EF4-FFF2-40B4-BE49-F238E27FC236}">
                <a16:creationId xmlns:a16="http://schemas.microsoft.com/office/drawing/2014/main" id="{AA77E240-8CCE-4D38-BECC-1AAEDCB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7228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每个来源记录用途、允许字段、权限依据、覆盖时间、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最近成功读取及保留删除约定。</a:t>
            </a:r>
          </a:p>
        </p:txBody>
      </p:sp>
      <p:sp>
        <p:nvSpPr>
          <p:cNvPr id="12" name="text-1207">
            <a:extLst xmlns:a="http://schemas.openxmlformats.org/drawingml/2006/main">
              <a:ext uri="{FF2B5EF4-FFF2-40B4-BE49-F238E27FC236}">
                <a16:creationId xmlns:a16="http://schemas.microsoft.com/office/drawing/2014/main" id="{D1D506E6-3A31-4DE9-B562-FB6FF945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906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3</a:t>
            </a:r>
          </a:p>
        </p:txBody>
      </p:sp>
      <p:sp>
        <p:nvSpPr>
          <p:cNvPr id="13" name="text-1208">
            <a:extLst xmlns:a="http://schemas.openxmlformats.org/drawingml/2006/main">
              <a:ext uri="{FF2B5EF4-FFF2-40B4-BE49-F238E27FC236}">
                <a16:creationId xmlns:a16="http://schemas.microsoft.com/office/drawing/2014/main" id="{B16FA02D-FB32-419E-BEBC-C24A9162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906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保留出处、发生时间、采集时间、时区与单位；区分陈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述、直接记录、待核抽取、推断和未知。</a:t>
            </a:r>
          </a:p>
        </p:txBody>
      </p:sp>
      <p:sp>
        <p:nvSpPr>
          <p:cNvPr id="14" name="subhead-1209">
            <a:extLst xmlns:a="http://schemas.openxmlformats.org/drawingml/2006/main">
              <a:ext uri="{FF2B5EF4-FFF2-40B4-BE49-F238E27FC236}">
                <a16:creationId xmlns:a16="http://schemas.microsoft.com/office/drawing/2014/main" id="{1A1FC2CC-6E6A-4F1C-BBF1-9FE9E5F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产品运行要求</a:t>
            </a:r>
          </a:p>
        </p:txBody>
      </p:sp>
      <p:sp>
        <p:nvSpPr>
          <p:cNvPr id="15" name="text-1210">
            <a:extLst xmlns:a="http://schemas.openxmlformats.org/drawingml/2006/main">
              <a:ext uri="{FF2B5EF4-FFF2-40B4-BE49-F238E27FC236}">
                <a16:creationId xmlns:a16="http://schemas.microsoft.com/office/drawing/2014/main" id="{6DF1FE66-6505-4621-9C7F-3C105FD9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6802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个人状态库分别存目标、快照、待问、建议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选择、行动结果与运行通知状态。</a:t>
            </a:r>
          </a:p>
        </p:txBody>
      </p:sp>
      <p:sp>
        <p:nvSpPr>
          <p:cNvPr id="16" name="subhead-1211">
            <a:extLst xmlns:a="http://schemas.openxmlformats.org/drawingml/2006/main">
              <a:ext uri="{FF2B5EF4-FFF2-40B4-BE49-F238E27FC236}">
                <a16:creationId xmlns:a16="http://schemas.microsoft.com/office/drawing/2014/main" id="{26F9BEF2-2DB1-4771-87E8-D470192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16808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当前落实范围</a:t>
            </a:r>
          </a:p>
        </p:txBody>
      </p:sp>
      <p:sp>
        <p:nvSpPr>
          <p:cNvPr id="17" name="text-1212">
            <a:extLst xmlns:a="http://schemas.openxmlformats.org/drawingml/2006/main">
              <a:ext uri="{FF2B5EF4-FFF2-40B4-BE49-F238E27FC236}">
                <a16:creationId xmlns:a16="http://schemas.microsoft.com/office/drawing/2014/main" id="{17982F3D-AA65-46B3-9949-E7596DA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09060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具体来源连接状态须现场核实；本页不表示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已接入账户、定位或聊天记录。</a:t>
            </a:r>
          </a:p>
        </p:txBody>
      </p:sp>
      <p:sp>
        <p:nvSpPr>
          <p:cNvPr id="18" name="text-1213">
            <a:extLst xmlns:a="http://schemas.openxmlformats.org/drawingml/2006/main">
              <a:ext uri="{FF2B5EF4-FFF2-40B4-BE49-F238E27FC236}">
                <a16:creationId xmlns:a16="http://schemas.microsoft.com/office/drawing/2014/main" id="{4B898AAF-5A67-48D9-8FFE-EF01FDD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来源状态：未连接 / 已连接未验证 / 可读取 / 失败 / 已撤销</a:t>
            </a:r>
          </a:p>
        </p:txBody>
      </p:sp>
      <p:sp>
        <p:nvSpPr>
          <p:cNvPr id="19" name="box-1214">
            <a:extLst xmlns:a="http://schemas.openxmlformats.org/drawingml/2006/main">
              <a:ext uri="{FF2B5EF4-FFF2-40B4-BE49-F238E27FC236}">
                <a16:creationId xmlns:a16="http://schemas.microsoft.com/office/drawing/2014/main" id="{4ABF5A51-D693-4671-A711-15B7C1B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20" name="text-1215">
            <a:extLst xmlns:a="http://schemas.openxmlformats.org/drawingml/2006/main">
              <a:ext uri="{FF2B5EF4-FFF2-40B4-BE49-F238E27FC236}">
                <a16:creationId xmlns:a16="http://schemas.microsoft.com/office/drawing/2014/main" id="{AE14016A-F1BA-4057-941D-76567A3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未知不填零；失联标未更新；撤销后停止读取，个人原始数据不进入通用Skill。</a:t>
            </a:r>
          </a:p>
        </p:txBody>
      </p:sp>
    </p:spTree>
    <p:extLst>
      <p:ext uri="{BB962C8B-B14F-4D97-AF65-F5344CB8AC3E}">
        <p14:creationId xmlns:p14="http://schemas.microsoft.com/office/powerpoint/2010/main" val="145780975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16">
            <a:extLst xmlns:a="http://schemas.openxmlformats.org/drawingml/2006/main">
              <a:ext uri="{FF2B5EF4-FFF2-40B4-BE49-F238E27FC236}">
                <a16:creationId xmlns:a16="http://schemas.microsoft.com/office/drawing/2014/main" id="{AA2C6F13-033E-49BE-B1CC-AE359EAC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217">
            <a:extLst xmlns:a="http://schemas.openxmlformats.org/drawingml/2006/main">
              <a:ext uri="{FF2B5EF4-FFF2-40B4-BE49-F238E27FC236}">
                <a16:creationId xmlns:a16="http://schemas.microsoft.com/office/drawing/2014/main" id="{F4EA05D0-7CE5-439E-AFBB-CFCC4A82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主动提问只补关键缺口</a:t>
            </a:r>
          </a:p>
        </p:txBody>
      </p:sp>
      <p:sp>
        <p:nvSpPr>
          <p:cNvPr id="3" name="claim-1218">
            <a:extLst xmlns:a="http://schemas.openxmlformats.org/drawingml/2006/main">
              <a:ext uri="{FF2B5EF4-FFF2-40B4-BE49-F238E27FC236}">
                <a16:creationId xmlns:a16="http://schemas.microsoft.com/office/drawing/2014/main" id="{328D4E6B-1AA9-466D-839E-8655ABE0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先查已有证据，再用最小问题消除关键缺口。</a:t>
            </a:r>
          </a:p>
        </p:txBody>
      </p:sp>
      <p:sp>
        <p:nvSpPr>
          <p:cNvPr id="4" name="box-1219">
            <a:extLst xmlns:a="http://schemas.openxmlformats.org/drawingml/2006/main">
              <a:ext uri="{FF2B5EF4-FFF2-40B4-BE49-F238E27FC236}">
                <a16:creationId xmlns:a16="http://schemas.microsoft.com/office/drawing/2014/main" id="{D8AA8C05-54D2-4FDE-B5F1-1C63852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20">
            <a:extLst xmlns:a="http://schemas.openxmlformats.org/drawingml/2006/main">
              <a:ext uri="{FF2B5EF4-FFF2-40B4-BE49-F238E27FC236}">
                <a16:creationId xmlns:a16="http://schemas.microsoft.com/office/drawing/2014/main" id="{A5C8CF7F-08F3-48CF-9A8F-80E91C3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21">
            <a:extLst xmlns:a="http://schemas.openxmlformats.org/drawingml/2006/main">
              <a:ext uri="{FF2B5EF4-FFF2-40B4-BE49-F238E27FC236}">
                <a16:creationId xmlns:a16="http://schemas.microsoft.com/office/drawing/2014/main" id="{505198D3-09D5-4D98-8ABC-B7B4799F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22">
            <a:extLst xmlns:a="http://schemas.openxmlformats.org/drawingml/2006/main">
              <a:ext uri="{FF2B5EF4-FFF2-40B4-BE49-F238E27FC236}">
                <a16:creationId xmlns:a16="http://schemas.microsoft.com/office/drawing/2014/main" id="{3F067295-7229-4AFE-B74F-58A3C92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76 / 91</a:t>
            </a:r>
          </a:p>
        </p:txBody>
      </p:sp>
      <p:sp>
        <p:nvSpPr>
          <p:cNvPr id="8" name="text-1223">
            <a:extLst xmlns:a="http://schemas.openxmlformats.org/drawingml/2006/main">
              <a:ext uri="{FF2B5EF4-FFF2-40B4-BE49-F238E27FC236}">
                <a16:creationId xmlns:a16="http://schemas.microsoft.com/office/drawing/2014/main" id="{D8AA7A5E-D692-4275-8EEE-55F324B0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</a:t>
            </a:r>
          </a:p>
        </p:txBody>
      </p:sp>
      <p:sp>
        <p:nvSpPr>
          <p:cNvPr id="9" name="text-1224">
            <a:extLst xmlns:a="http://schemas.openxmlformats.org/drawingml/2006/main">
              <a:ext uri="{FF2B5EF4-FFF2-40B4-BE49-F238E27FC236}">
                <a16:creationId xmlns:a16="http://schemas.microsoft.com/office/drawing/2014/main" id="{04D9C3CF-1EA6-4181-A53B-B7F964DD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触发来自目标或约束缺失、来源失联过期、矛盾记录、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期限缺口、持续偏差或观察到期。</a:t>
            </a:r>
          </a:p>
        </p:txBody>
      </p:sp>
      <p:sp>
        <p:nvSpPr>
          <p:cNvPr id="10" name="text-1225">
            <a:extLst xmlns:a="http://schemas.openxmlformats.org/drawingml/2006/main">
              <a:ext uri="{FF2B5EF4-FFF2-40B4-BE49-F238E27FC236}">
                <a16:creationId xmlns:a16="http://schemas.microsoft.com/office/drawing/2014/main" id="{BCB44BE0-6FDB-47E2-9359-9AEA638E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228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2</a:t>
            </a:r>
          </a:p>
        </p:txBody>
      </p:sp>
      <p:sp>
        <p:nvSpPr>
          <p:cNvPr id="11" name="text-1226">
            <a:extLst xmlns:a="http://schemas.openxmlformats.org/drawingml/2006/main">
              <a:ext uri="{FF2B5EF4-FFF2-40B4-BE49-F238E27FC236}">
                <a16:creationId xmlns:a16="http://schemas.microsoft.com/office/drawing/2014/main" id="{C595A9F7-494A-4E15-B620-16BCFB2B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7228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排序依据是答案是否改变建议、能避免什么后果，以及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获取负担；不伪造信息价值分数。</a:t>
            </a:r>
          </a:p>
        </p:txBody>
      </p:sp>
      <p:sp>
        <p:nvSpPr>
          <p:cNvPr id="12" name="text-1227">
            <a:extLst xmlns:a="http://schemas.openxmlformats.org/drawingml/2006/main">
              <a:ext uri="{FF2B5EF4-FFF2-40B4-BE49-F238E27FC236}">
                <a16:creationId xmlns:a16="http://schemas.microsoft.com/office/drawing/2014/main" id="{5146BB9F-25AA-45EB-8DE1-CA379A6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906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3</a:t>
            </a:r>
          </a:p>
        </p:txBody>
      </p:sp>
      <p:sp>
        <p:nvSpPr>
          <p:cNvPr id="13" name="text-1228">
            <a:extLst xmlns:a="http://schemas.openxmlformats.org/drawingml/2006/main">
              <a:ext uri="{FF2B5EF4-FFF2-40B4-BE49-F238E27FC236}">
                <a16:creationId xmlns:a16="http://schemas.microsoft.com/office/drawing/2014/main" id="{970E84B4-00C2-48D0-BAEB-82A58CBF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906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先解释用途，每轮默认一问；允许短答、范围、文件、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暂缓或不提供。</a:t>
            </a:r>
          </a:p>
        </p:txBody>
      </p:sp>
      <p:sp>
        <p:nvSpPr>
          <p:cNvPr id="14" name="subhead-1229">
            <a:extLst xmlns:a="http://schemas.openxmlformats.org/drawingml/2006/main">
              <a:ext uri="{FF2B5EF4-FFF2-40B4-BE49-F238E27FC236}">
                <a16:creationId xmlns:a16="http://schemas.microsoft.com/office/drawing/2014/main" id="{A88E8A50-7D0B-454B-B14F-1B2C1DA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产品运行要求</a:t>
            </a:r>
          </a:p>
        </p:txBody>
      </p:sp>
      <p:sp>
        <p:nvSpPr>
          <p:cNvPr id="15" name="text-1230">
            <a:extLst xmlns:a="http://schemas.openxmlformats.org/drawingml/2006/main">
              <a:ext uri="{FF2B5EF4-FFF2-40B4-BE49-F238E27FC236}">
                <a16:creationId xmlns:a16="http://schemas.microsoft.com/office/drawing/2014/main" id="{4386EA4C-3509-442F-99EC-E90A652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6802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用问题编号记录已答、未答、暂缓或不愿提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供；新信息先消解旧问题，已答不再问。</a:t>
            </a:r>
          </a:p>
        </p:txBody>
      </p:sp>
      <p:sp>
        <p:nvSpPr>
          <p:cNvPr id="16" name="subhead-1231">
            <a:extLst xmlns:a="http://schemas.openxmlformats.org/drawingml/2006/main">
              <a:ext uri="{FF2B5EF4-FFF2-40B4-BE49-F238E27FC236}">
                <a16:creationId xmlns:a16="http://schemas.microsoft.com/office/drawing/2014/main" id="{6003D5B9-A10A-416A-8360-26800EA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16808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当前落实范围</a:t>
            </a:r>
          </a:p>
        </p:txBody>
      </p:sp>
      <p:sp>
        <p:nvSpPr>
          <p:cNvPr id="17" name="text-1232">
            <a:extLst xmlns:a="http://schemas.openxmlformats.org/drawingml/2006/main">
              <a:ext uri="{FF2B5EF4-FFF2-40B4-BE49-F238E27FC236}">
                <a16:creationId xmlns:a16="http://schemas.microsoft.com/office/drawing/2014/main" id="{08F0858D-C0A5-456D-BA18-DEC74A93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09060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规则已经写入协议；没有证据表明待问队列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已在后台运行。</a:t>
            </a:r>
          </a:p>
        </p:txBody>
      </p:sp>
      <p:sp>
        <p:nvSpPr>
          <p:cNvPr id="18" name="box-1233">
            <a:extLst xmlns:a="http://schemas.openxmlformats.org/drawingml/2006/main">
              <a:ext uri="{FF2B5EF4-FFF2-40B4-BE49-F238E27FC236}">
                <a16:creationId xmlns:a16="http://schemas.microsoft.com/office/drawing/2014/main" id="{FF7CC7CE-9425-4B18-8129-9B66745A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9" name="text-1234">
            <a:extLst xmlns:a="http://schemas.openxmlformats.org/drawingml/2006/main">
              <a:ext uri="{FF2B5EF4-FFF2-40B4-BE49-F238E27FC236}">
                <a16:creationId xmlns:a16="http://schemas.microsoft.com/office/drawing/2014/main" id="{CC8AF4BC-7CC5-4CD3-B19A-CF8E9181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沉默不等于同意；不愿提供时用低敏替代或保留条件建议，不增加催问频率。</a:t>
            </a:r>
          </a:p>
        </p:txBody>
      </p:sp>
    </p:spTree>
    <p:extLst>
      <p:ext uri="{BB962C8B-B14F-4D97-AF65-F5344CB8AC3E}">
        <p14:creationId xmlns:p14="http://schemas.microsoft.com/office/powerpoint/2010/main" val="26218665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35">
            <a:extLst xmlns:a="http://schemas.openxmlformats.org/drawingml/2006/main">
              <a:ext uri="{FF2B5EF4-FFF2-40B4-BE49-F238E27FC236}">
                <a16:creationId xmlns:a16="http://schemas.microsoft.com/office/drawing/2014/main" id="{75692BDF-3818-4BFA-ABBE-0ED9F17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236">
            <a:extLst xmlns:a="http://schemas.openxmlformats.org/drawingml/2006/main">
              <a:ext uri="{FF2B5EF4-FFF2-40B4-BE49-F238E27FC236}">
                <a16:creationId xmlns:a16="http://schemas.microsoft.com/office/drawing/2014/main" id="{5AEFE9FD-38BE-4B18-942D-A3121960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主动建议需要具体且少打扰</a:t>
            </a:r>
          </a:p>
        </p:txBody>
      </p:sp>
      <p:sp>
        <p:nvSpPr>
          <p:cNvPr id="3" name="claim-1237">
            <a:extLst xmlns:a="http://schemas.openxmlformats.org/drawingml/2006/main">
              <a:ext uri="{FF2B5EF4-FFF2-40B4-BE49-F238E27FC236}">
                <a16:creationId xmlns:a16="http://schemas.microsoft.com/office/drawing/2014/main" id="{92B77F5D-9390-4A24-B878-724965A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风险与机会都值得识别，建议数量不是服务价值。</a:t>
            </a:r>
          </a:p>
        </p:txBody>
      </p:sp>
      <p:sp>
        <p:nvSpPr>
          <p:cNvPr id="4" name="box-1238">
            <a:extLst xmlns:a="http://schemas.openxmlformats.org/drawingml/2006/main">
              <a:ext uri="{FF2B5EF4-FFF2-40B4-BE49-F238E27FC236}">
                <a16:creationId xmlns:a16="http://schemas.microsoft.com/office/drawing/2014/main" id="{A7A0B090-461A-4C41-8265-0C15408A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39">
            <a:extLst xmlns:a="http://schemas.openxmlformats.org/drawingml/2006/main">
              <a:ext uri="{FF2B5EF4-FFF2-40B4-BE49-F238E27FC236}">
                <a16:creationId xmlns:a16="http://schemas.microsoft.com/office/drawing/2014/main" id="{FBBDF33E-F7D9-4CE4-ABDC-17A6A7E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40">
            <a:extLst xmlns:a="http://schemas.openxmlformats.org/drawingml/2006/main">
              <a:ext uri="{FF2B5EF4-FFF2-40B4-BE49-F238E27FC236}">
                <a16:creationId xmlns:a16="http://schemas.microsoft.com/office/drawing/2014/main" id="{6315A6A7-776E-4CE7-9873-91E86445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41">
            <a:extLst xmlns:a="http://schemas.openxmlformats.org/drawingml/2006/main">
              <a:ext uri="{FF2B5EF4-FFF2-40B4-BE49-F238E27FC236}">
                <a16:creationId xmlns:a16="http://schemas.microsoft.com/office/drawing/2014/main" id="{03C1248E-7F02-4E9E-9448-192695B1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77 / 91</a:t>
            </a:r>
          </a:p>
        </p:txBody>
      </p:sp>
      <p:sp>
        <p:nvSpPr>
          <p:cNvPr id="8" name="text-1242">
            <a:extLst xmlns:a="http://schemas.openxmlformats.org/drawingml/2006/main">
              <a:ext uri="{FF2B5EF4-FFF2-40B4-BE49-F238E27FC236}">
                <a16:creationId xmlns:a16="http://schemas.microsoft.com/office/drawing/2014/main" id="{71FB0DF0-78CC-48A2-9CD3-75CD4638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</a:t>
            </a:r>
          </a:p>
        </p:txBody>
      </p:sp>
      <p:sp>
        <p:nvSpPr>
          <p:cNvPr id="9" name="text-1243">
            <a:extLst xmlns:a="http://schemas.openxmlformats.org/drawingml/2006/main">
              <a:ext uri="{FF2B5EF4-FFF2-40B4-BE49-F238E27FC236}">
                <a16:creationId xmlns:a16="http://schemas.microsoft.com/office/drawing/2014/main" id="{203FE2AC-2FA2-42EA-9D42-2FCB3FC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新记录、期限临近、持续偏差、资源冲突、积极机会或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观察到期，都须先核对事实、延迟与当前目标。</a:t>
            </a:r>
          </a:p>
        </p:txBody>
      </p:sp>
      <p:sp>
        <p:nvSpPr>
          <p:cNvPr id="10" name="text-1244">
            <a:extLst xmlns:a="http://schemas.openxmlformats.org/drawingml/2006/main">
              <a:ext uri="{FF2B5EF4-FFF2-40B4-BE49-F238E27FC236}">
                <a16:creationId xmlns:a16="http://schemas.microsoft.com/office/drawing/2014/main" id="{BFA6DE2F-5310-4D7F-BFAB-D5C019C5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228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2</a:t>
            </a:r>
          </a:p>
        </p:txBody>
      </p:sp>
      <p:sp>
        <p:nvSpPr>
          <p:cNvPr id="11" name="text-1245">
            <a:extLst xmlns:a="http://schemas.openxmlformats.org/drawingml/2006/main">
              <a:ext uri="{FF2B5EF4-FFF2-40B4-BE49-F238E27FC236}">
                <a16:creationId xmlns:a16="http://schemas.microsoft.com/office/drawing/2014/main" id="{7EC5F132-49FA-4356-8568-6F25E2A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7228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建议交代发现与出处、假设、最小调整和代价、真实替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代、观察窗口与撤回条件。</a:t>
            </a:r>
          </a:p>
        </p:txBody>
      </p:sp>
      <p:sp>
        <p:nvSpPr>
          <p:cNvPr id="12" name="text-1246">
            <a:extLst xmlns:a="http://schemas.openxmlformats.org/drawingml/2006/main">
              <a:ext uri="{FF2B5EF4-FFF2-40B4-BE49-F238E27FC236}">
                <a16:creationId xmlns:a16="http://schemas.microsoft.com/office/drawing/2014/main" id="{1AB7D331-DFD3-44BE-92FB-787F12EA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906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3</a:t>
            </a:r>
          </a:p>
        </p:txBody>
      </p:sp>
      <p:sp>
        <p:nvSpPr>
          <p:cNvPr id="13" name="text-1247">
            <a:extLst xmlns:a="http://schemas.openxmlformats.org/drawingml/2006/main">
              <a:ext uri="{FF2B5EF4-FFF2-40B4-BE49-F238E27FC236}">
                <a16:creationId xmlns:a16="http://schemas.microsoft.com/office/drawing/2014/main" id="{17DC1AFD-6A1E-4853-B8C3-F5C5D78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906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通常只呈现最值得处理的一项；新增行动核对共同资源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与具体时段，允许暂不调整。</a:t>
            </a:r>
          </a:p>
        </p:txBody>
      </p:sp>
      <p:sp>
        <p:nvSpPr>
          <p:cNvPr id="14" name="subhead-1248">
            <a:extLst xmlns:a="http://schemas.openxmlformats.org/drawingml/2006/main">
              <a:ext uri="{FF2B5EF4-FFF2-40B4-BE49-F238E27FC236}">
                <a16:creationId xmlns:a16="http://schemas.microsoft.com/office/drawing/2014/main" id="{7AECD3E7-D1D0-455B-9393-7EE90907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产品运行要求</a:t>
            </a:r>
          </a:p>
        </p:txBody>
      </p:sp>
      <p:sp>
        <p:nvSpPr>
          <p:cNvPr id="15" name="text-1249">
            <a:extLst xmlns:a="http://schemas.openxmlformats.org/drawingml/2006/main">
              <a:ext uri="{FF2B5EF4-FFF2-40B4-BE49-F238E27FC236}">
                <a16:creationId xmlns:a16="http://schemas.microsoft.com/office/drawing/2014/main" id="{99FA4282-E351-490C-9998-0B1D7270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6802"/>
            <a:ext cx="42291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按建议编号、目标和快照版本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去重；合并通知并设置时区、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渠道、安静时段、上限及暂停。</a:t>
            </a:r>
          </a:p>
        </p:txBody>
      </p:sp>
      <p:sp>
        <p:nvSpPr>
          <p:cNvPr id="16" name="subhead-1250">
            <a:extLst xmlns:a="http://schemas.openxmlformats.org/drawingml/2006/main">
              <a:ext uri="{FF2B5EF4-FFF2-40B4-BE49-F238E27FC236}">
                <a16:creationId xmlns:a16="http://schemas.microsoft.com/office/drawing/2014/main" id="{BFB972B8-F855-4E59-BC3A-E94D0BC0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88461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当前落实范围</a:t>
            </a:r>
          </a:p>
        </p:txBody>
      </p:sp>
      <p:sp>
        <p:nvSpPr>
          <p:cNvPr id="17" name="text-1251">
            <a:extLst xmlns:a="http://schemas.openxmlformats.org/drawingml/2006/main">
              <a:ext uri="{FF2B5EF4-FFF2-40B4-BE49-F238E27FC236}">
                <a16:creationId xmlns:a16="http://schemas.microsoft.com/office/drawing/2014/main" id="{DA3ECA3C-FCD5-4E2B-927D-B1FCB0A8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0713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每日汇总、每周协调只是可选起点；未创建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成功前不称已安排。</a:t>
            </a:r>
          </a:p>
        </p:txBody>
      </p:sp>
      <p:sp>
        <p:nvSpPr>
          <p:cNvPr id="18" name="box-1252">
            <a:extLst xmlns:a="http://schemas.openxmlformats.org/drawingml/2006/main">
              <a:ext uri="{FF2B5EF4-FFF2-40B4-BE49-F238E27FC236}">
                <a16:creationId xmlns:a16="http://schemas.microsoft.com/office/drawing/2014/main" id="{2F1CE953-8619-4646-A6F1-3D446629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9" name="text-1253">
            <a:extLst xmlns:a="http://schemas.openxmlformats.org/drawingml/2006/main">
              <a:ext uri="{FF2B5EF4-FFF2-40B4-BE49-F238E27FC236}">
                <a16:creationId xmlns:a16="http://schemas.microsoft.com/office/drawing/2014/main" id="{78081EB8-B10C-4307-97C0-3FDD7578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无新证据且未到约定复盘条件时不重复推送；拒绝后不换措辞施压。</a:t>
            </a:r>
          </a:p>
        </p:txBody>
      </p:sp>
    </p:spTree>
    <p:extLst>
      <p:ext uri="{BB962C8B-B14F-4D97-AF65-F5344CB8AC3E}">
        <p14:creationId xmlns:p14="http://schemas.microsoft.com/office/powerpoint/2010/main" val="171239103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54">
            <a:extLst xmlns:a="http://schemas.openxmlformats.org/drawingml/2006/main">
              <a:ext uri="{FF2B5EF4-FFF2-40B4-BE49-F238E27FC236}">
                <a16:creationId xmlns:a16="http://schemas.microsoft.com/office/drawing/2014/main" id="{E640BFD1-EDD7-4AE2-901B-8DACFE3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255">
            <a:extLst xmlns:a="http://schemas.openxmlformats.org/drawingml/2006/main">
              <a:ext uri="{FF2B5EF4-FFF2-40B4-BE49-F238E27FC236}">
                <a16:creationId xmlns:a16="http://schemas.microsoft.com/office/drawing/2014/main" id="{4FC9A26F-3D49-48BB-BF03-34F0E12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选择、授权与效果持续核对</a:t>
            </a:r>
          </a:p>
        </p:txBody>
      </p:sp>
      <p:sp>
        <p:nvSpPr>
          <p:cNvPr id="3" name="claim-1256">
            <a:extLst xmlns:a="http://schemas.openxmlformats.org/drawingml/2006/main">
              <a:ext uri="{FF2B5EF4-FFF2-40B4-BE49-F238E27FC236}">
                <a16:creationId xmlns:a16="http://schemas.microsoft.com/office/drawing/2014/main" id="{55456A53-2C32-4D4B-8AB8-782AD2A8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把建议、选择、执行与结果分开，同时改进生活和服务。</a:t>
            </a:r>
          </a:p>
        </p:txBody>
      </p:sp>
      <p:sp>
        <p:nvSpPr>
          <p:cNvPr id="4" name="box-1257">
            <a:extLst xmlns:a="http://schemas.openxmlformats.org/drawingml/2006/main">
              <a:ext uri="{FF2B5EF4-FFF2-40B4-BE49-F238E27FC236}">
                <a16:creationId xmlns:a16="http://schemas.microsoft.com/office/drawing/2014/main" id="{673A242D-085F-4413-93DC-CE686A90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58">
            <a:extLst xmlns:a="http://schemas.openxmlformats.org/drawingml/2006/main">
              <a:ext uri="{FF2B5EF4-FFF2-40B4-BE49-F238E27FC236}">
                <a16:creationId xmlns:a16="http://schemas.microsoft.com/office/drawing/2014/main" id="{DD4FBDF2-E76B-47CA-AB24-570FDC26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59">
            <a:extLst xmlns:a="http://schemas.openxmlformats.org/drawingml/2006/main">
              <a:ext uri="{FF2B5EF4-FFF2-40B4-BE49-F238E27FC236}">
                <a16:creationId xmlns:a16="http://schemas.microsoft.com/office/drawing/2014/main" id="{48C73E21-5F12-4FA7-98F7-5A6230D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60">
            <a:extLst xmlns:a="http://schemas.openxmlformats.org/drawingml/2006/main">
              <a:ext uri="{FF2B5EF4-FFF2-40B4-BE49-F238E27FC236}">
                <a16:creationId xmlns:a16="http://schemas.microsoft.com/office/drawing/2014/main" id="{9ABEB565-5780-49EB-8BD0-36E4D0AF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78 / 91</a:t>
            </a:r>
          </a:p>
        </p:txBody>
      </p:sp>
      <p:sp>
        <p:nvSpPr>
          <p:cNvPr id="8" name="text-1261">
            <a:extLst xmlns:a="http://schemas.openxmlformats.org/drawingml/2006/main">
              <a:ext uri="{FF2B5EF4-FFF2-40B4-BE49-F238E27FC236}">
                <a16:creationId xmlns:a16="http://schemas.microsoft.com/office/drawing/2014/main" id="{E6A2CFBE-3530-4428-AD6A-EA683E0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</a:t>
            </a:r>
          </a:p>
        </p:txBody>
      </p:sp>
      <p:sp>
        <p:nvSpPr>
          <p:cNvPr id="9" name="text-1262">
            <a:extLst xmlns:a="http://schemas.openxmlformats.org/drawingml/2006/main">
              <a:ext uri="{FF2B5EF4-FFF2-40B4-BE49-F238E27FC236}">
                <a16:creationId xmlns:a16="http://schemas.microsoft.com/office/drawing/2014/main" id="{C1BADFCB-D06A-49CD-9CBA-BA884194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65785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建议被生成或查看，不等于接受；接受不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等于完成。已有授权内可逆工作继续，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执行前核对当前选择、依赖与权限。</a:t>
            </a:r>
          </a:p>
        </p:txBody>
      </p:sp>
      <p:sp>
        <p:nvSpPr>
          <p:cNvPr id="10" name="text-1263">
            <a:extLst xmlns:a="http://schemas.openxmlformats.org/drawingml/2006/main">
              <a:ext uri="{FF2B5EF4-FFF2-40B4-BE49-F238E27FC236}">
                <a16:creationId xmlns:a16="http://schemas.microsoft.com/office/drawing/2014/main" id="{C1FBA859-8508-48A6-BAD6-3E726165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0692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2</a:t>
            </a:r>
          </a:p>
        </p:txBody>
      </p:sp>
      <p:sp>
        <p:nvSpPr>
          <p:cNvPr id="11" name="text-1264">
            <a:extLst xmlns:a="http://schemas.openxmlformats.org/drawingml/2006/main">
              <a:ext uri="{FF2B5EF4-FFF2-40B4-BE49-F238E27FC236}">
                <a16:creationId xmlns:a16="http://schemas.microsoft.com/office/drawing/2014/main" id="{EA52648A-6324-4E9C-9E4C-84FD43B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0692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生活反馈检查目标结果、跨域损害、耗时与负担；服务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反馈检查误问、抽取误差、重复提醒和维护时间。</a:t>
            </a:r>
          </a:p>
        </p:txBody>
      </p:sp>
      <p:sp>
        <p:nvSpPr>
          <p:cNvPr id="12" name="text-1265">
            <a:extLst xmlns:a="http://schemas.openxmlformats.org/drawingml/2006/main">
              <a:ext uri="{FF2B5EF4-FFF2-40B4-BE49-F238E27FC236}">
                <a16:creationId xmlns:a16="http://schemas.microsoft.com/office/drawing/2014/main" id="{6D431B36-6357-4F9E-8B3C-D443E55A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3370"/>
            <a:ext cx="3810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3</a:t>
            </a:r>
          </a:p>
        </p:txBody>
      </p:sp>
      <p:sp>
        <p:nvSpPr>
          <p:cNvPr id="13" name="text-1266">
            <a:extLst xmlns:a="http://schemas.openxmlformats.org/drawingml/2006/main">
              <a:ext uri="{FF2B5EF4-FFF2-40B4-BE49-F238E27FC236}">
                <a16:creationId xmlns:a16="http://schemas.microsoft.com/office/drawing/2014/main" id="{E824AB58-4FC2-43C7-BF4A-C4CC1E51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03370"/>
            <a:ext cx="56578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按实际结果调整行动或假设；目标改变来自用户，不将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前后变化直接解释为因果。</a:t>
            </a:r>
          </a:p>
        </p:txBody>
      </p:sp>
      <p:sp>
        <p:nvSpPr>
          <p:cNvPr id="14" name="subhead-1267">
            <a:extLst xmlns:a="http://schemas.openxmlformats.org/drawingml/2006/main">
              <a:ext uri="{FF2B5EF4-FFF2-40B4-BE49-F238E27FC236}">
                <a16:creationId xmlns:a16="http://schemas.microsoft.com/office/drawing/2014/main" id="{28200254-8F01-4476-A3E9-09C2763E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产品运行要求</a:t>
            </a:r>
          </a:p>
        </p:txBody>
      </p:sp>
      <p:sp>
        <p:nvSpPr>
          <p:cNvPr id="15" name="text-1268">
            <a:extLst xmlns:a="http://schemas.openxmlformats.org/drawingml/2006/main">
              <a:ext uri="{FF2B5EF4-FFF2-40B4-BE49-F238E27FC236}">
                <a16:creationId xmlns:a16="http://schemas.microsoft.com/office/drawing/2014/main" id="{8CA3ACA9-F5F4-4647-B99F-1E2BE507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6802"/>
            <a:ext cx="42291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运行、读取、写入和送达分开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记录，按运行编号与事件去重；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可暂停来源、领域或全部服务。</a:t>
            </a:r>
          </a:p>
        </p:txBody>
      </p:sp>
      <p:sp>
        <p:nvSpPr>
          <p:cNvPr id="16" name="subhead-1269">
            <a:extLst xmlns:a="http://schemas.openxmlformats.org/drawingml/2006/main">
              <a:ext uri="{FF2B5EF4-FFF2-40B4-BE49-F238E27FC236}">
                <a16:creationId xmlns:a16="http://schemas.microsoft.com/office/drawing/2014/main" id="{24000AD4-D25E-4316-B9E8-F8E375DC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88461"/>
            <a:ext cx="422910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当前落实范围</a:t>
            </a:r>
          </a:p>
        </p:txBody>
      </p:sp>
      <p:sp>
        <p:nvSpPr>
          <p:cNvPr id="17" name="text-1270">
            <a:extLst xmlns:a="http://schemas.openxmlformats.org/drawingml/2006/main">
              <a:ext uri="{FF2B5EF4-FFF2-40B4-BE49-F238E27FC236}">
                <a16:creationId xmlns:a16="http://schemas.microsoft.com/office/drawing/2014/main" id="{7E268189-F508-4846-82C9-7DF5F683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0713"/>
            <a:ext cx="42291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失败重试、送达记录与暂停控制均需真实部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署验证；文本协议不代表功能已工作。</a:t>
            </a:r>
          </a:p>
        </p:txBody>
      </p:sp>
      <p:sp>
        <p:nvSpPr>
          <p:cNvPr id="18" name="box-1271">
            <a:extLst xmlns:a="http://schemas.openxmlformats.org/drawingml/2006/main">
              <a:ext uri="{FF2B5EF4-FFF2-40B4-BE49-F238E27FC236}">
                <a16:creationId xmlns:a16="http://schemas.microsoft.com/office/drawing/2014/main" id="{20F66E4E-0821-46FA-9E9E-262D98D4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9" name="text-1272">
            <a:extLst xmlns:a="http://schemas.openxmlformats.org/drawingml/2006/main">
              <a:ext uri="{FF2B5EF4-FFF2-40B4-BE49-F238E27FC236}">
                <a16:creationId xmlns:a16="http://schemas.microsoft.com/office/drawing/2014/main" id="{9F43F3B1-1E8F-4147-B1A0-2AC5ED8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不自动扩大采集权限或改写目标；采纳率、消息量不能单独代表人生改善。</a:t>
            </a:r>
          </a:p>
        </p:txBody>
      </p:sp>
    </p:spTree>
    <p:extLst>
      <p:ext uri="{BB962C8B-B14F-4D97-AF65-F5344CB8AC3E}">
        <p14:creationId xmlns:p14="http://schemas.microsoft.com/office/powerpoint/2010/main" val="90375775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73">
            <a:extLst xmlns:a="http://schemas.openxmlformats.org/drawingml/2006/main">
              <a:ext uri="{FF2B5EF4-FFF2-40B4-BE49-F238E27FC236}">
                <a16:creationId xmlns:a16="http://schemas.microsoft.com/office/drawing/2014/main" id="{E7FC5432-A4A0-4CF5-B6EE-41DC1D7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07 数据与主动服务</a:t>
            </a:r>
          </a:p>
        </p:txBody>
      </p:sp>
      <p:sp>
        <p:nvSpPr>
          <p:cNvPr id="2" name="slide-title-1274">
            <a:extLst xmlns:a="http://schemas.openxmlformats.org/drawingml/2006/main">
              <a:ext uri="{FF2B5EF4-FFF2-40B4-BE49-F238E27FC236}">
                <a16:creationId xmlns:a16="http://schemas.microsoft.com/office/drawing/2014/main" id="{23F062A8-E186-4C40-9114-D9F4679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失败重试不能重复行动或通知</a:t>
            </a:r>
          </a:p>
        </p:txBody>
      </p:sp>
      <p:sp>
        <p:nvSpPr>
          <p:cNvPr id="3" name="claim-1275">
            <a:extLst xmlns:a="http://schemas.openxmlformats.org/drawingml/2006/main">
              <a:ext uri="{FF2B5EF4-FFF2-40B4-BE49-F238E27FC236}">
                <a16:creationId xmlns:a16="http://schemas.microsoft.com/office/drawing/2014/main" id="{C2BA9B77-D70E-4FA2-B0A4-07A7ED57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读取、写入、建议、送达和执行要分别记录。</a:t>
            </a:r>
          </a:p>
        </p:txBody>
      </p:sp>
      <p:sp>
        <p:nvSpPr>
          <p:cNvPr id="4" name="box-1276">
            <a:extLst xmlns:a="http://schemas.openxmlformats.org/drawingml/2006/main">
              <a:ext uri="{FF2B5EF4-FFF2-40B4-BE49-F238E27FC236}">
                <a16:creationId xmlns:a16="http://schemas.microsoft.com/office/drawing/2014/main" id="{34EF40BD-4E84-4EFB-B293-5D6E123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77">
            <a:extLst xmlns:a="http://schemas.openxmlformats.org/drawingml/2006/main">
              <a:ext uri="{FF2B5EF4-FFF2-40B4-BE49-F238E27FC236}">
                <a16:creationId xmlns:a16="http://schemas.microsoft.com/office/drawing/2014/main" id="{8174BBDC-E8AB-461E-8A3D-72BCF56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78">
            <a:extLst xmlns:a="http://schemas.openxmlformats.org/drawingml/2006/main">
              <a:ext uri="{FF2B5EF4-FFF2-40B4-BE49-F238E27FC236}">
                <a16:creationId xmlns:a16="http://schemas.microsoft.com/office/drawing/2014/main" id="{9A215DB4-BC80-42A2-9FE3-D1D5F4F5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79">
            <a:extLst xmlns:a="http://schemas.openxmlformats.org/drawingml/2006/main">
              <a:ext uri="{FF2B5EF4-FFF2-40B4-BE49-F238E27FC236}">
                <a16:creationId xmlns:a16="http://schemas.microsoft.com/office/drawing/2014/main" id="{C69663FA-7523-4657-AF03-602E0067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79 / 91</a:t>
            </a:r>
          </a:p>
        </p:txBody>
      </p:sp>
      <p:sp>
        <p:nvSpPr>
          <p:cNvPr id="8" name="text-1280">
            <a:extLst xmlns:a="http://schemas.openxmlformats.org/drawingml/2006/main">
              <a:ext uri="{FF2B5EF4-FFF2-40B4-BE49-F238E27FC236}">
                <a16:creationId xmlns:a16="http://schemas.microsoft.com/office/drawing/2014/main" id="{4A9050AD-5E0E-44F9-8793-CF1E44A3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1281">
            <a:extLst xmlns:a="http://schemas.openxmlformats.org/drawingml/2006/main">
              <a:ext uri="{FF2B5EF4-FFF2-40B4-BE49-F238E27FC236}">
                <a16:creationId xmlns:a16="http://schemas.microsoft.com/office/drawing/2014/main" id="{71501F26-48E0-4382-975E-F3B54342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1282">
            <a:extLst xmlns:a="http://schemas.openxmlformats.org/drawingml/2006/main">
              <a:ext uri="{FF2B5EF4-FFF2-40B4-BE49-F238E27FC236}">
                <a16:creationId xmlns:a16="http://schemas.microsoft.com/office/drawing/2014/main" id="{473A7D0E-8816-4A6D-8056-759A18D4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先识别本次运行</a:t>
            </a:r>
          </a:p>
        </p:txBody>
      </p:sp>
      <p:sp>
        <p:nvSpPr>
          <p:cNvPr id="11" name="text-1283">
            <a:extLst xmlns:a="http://schemas.openxmlformats.org/drawingml/2006/main">
              <a:ext uri="{FF2B5EF4-FFF2-40B4-BE49-F238E27FC236}">
                <a16:creationId xmlns:a16="http://schemas.microsoft.com/office/drawing/2014/main" id="{00F09A61-D490-4B44-A226-9F9F408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使用运行ID、输入版本和事件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ID判断是否处理过。</a:t>
            </a:r>
          </a:p>
        </p:txBody>
      </p:sp>
      <p:sp>
        <p:nvSpPr>
          <p:cNvPr id="12" name="text-1284">
            <a:extLst xmlns:a="http://schemas.openxmlformats.org/drawingml/2006/main">
              <a:ext uri="{FF2B5EF4-FFF2-40B4-BE49-F238E27FC236}">
                <a16:creationId xmlns:a16="http://schemas.microsoft.com/office/drawing/2014/main" id="{44E0363C-5A52-4A5F-89EA-AA76C186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1285">
            <a:extLst xmlns:a="http://schemas.openxmlformats.org/drawingml/2006/main">
              <a:ext uri="{FF2B5EF4-FFF2-40B4-BE49-F238E27FC236}">
                <a16:creationId xmlns:a16="http://schemas.microsoft.com/office/drawing/2014/main" id="{5F01FD47-72D2-4998-BD69-7D27D41C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1286">
            <a:extLst xmlns:a="http://schemas.openxmlformats.org/drawingml/2006/main">
              <a:ext uri="{FF2B5EF4-FFF2-40B4-BE49-F238E27FC236}">
                <a16:creationId xmlns:a16="http://schemas.microsoft.com/office/drawing/2014/main" id="{9DAA2074-B0FA-4BBC-AF66-9297413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失败保持真实状态</a:t>
            </a:r>
          </a:p>
        </p:txBody>
      </p:sp>
      <p:sp>
        <p:nvSpPr>
          <p:cNvPr id="15" name="text-1287">
            <a:extLst xmlns:a="http://schemas.openxmlformats.org/drawingml/2006/main">
              <a:ext uri="{FF2B5EF4-FFF2-40B4-BE49-F238E27FC236}">
                <a16:creationId xmlns:a16="http://schemas.microsoft.com/office/drawing/2014/main" id="{CA435B44-AA4C-48CE-8A04-D9BE57A2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读取失败不生成新事实；通知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失败不记作已送达。</a:t>
            </a:r>
          </a:p>
        </p:txBody>
      </p:sp>
      <p:sp>
        <p:nvSpPr>
          <p:cNvPr id="16" name="text-1288">
            <a:extLst xmlns:a="http://schemas.openxmlformats.org/drawingml/2006/main">
              <a:ext uri="{FF2B5EF4-FFF2-40B4-BE49-F238E27FC236}">
                <a16:creationId xmlns:a16="http://schemas.microsoft.com/office/drawing/2014/main" id="{0ECE484F-0B28-47C8-A9C5-3F3B30F3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1289">
            <a:extLst xmlns:a="http://schemas.openxmlformats.org/drawingml/2006/main">
              <a:ext uri="{FF2B5EF4-FFF2-40B4-BE49-F238E27FC236}">
                <a16:creationId xmlns:a16="http://schemas.microsoft.com/office/drawing/2014/main" id="{9DD71D94-CC1A-4360-9E0E-BE0E92C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1290">
            <a:extLst xmlns:a="http://schemas.openxmlformats.org/drawingml/2006/main">
              <a:ext uri="{FF2B5EF4-FFF2-40B4-BE49-F238E27FC236}">
                <a16:creationId xmlns:a16="http://schemas.microsoft.com/office/drawing/2014/main" id="{5FFCC3FC-6288-4CE3-A2CE-2D465C7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执行前再核对</a:t>
            </a:r>
          </a:p>
        </p:txBody>
      </p:sp>
      <p:sp>
        <p:nvSpPr>
          <p:cNvPr id="19" name="text-1291">
            <a:extLst xmlns:a="http://schemas.openxmlformats.org/drawingml/2006/main">
              <a:ext uri="{FF2B5EF4-FFF2-40B4-BE49-F238E27FC236}">
                <a16:creationId xmlns:a16="http://schemas.microsoft.com/office/drawing/2014/main" id="{97A86A4E-40DC-4F1F-96AB-4784B1F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当前选择、授权和依赖仍有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效，才继续尚未执行的动作。</a:t>
            </a:r>
          </a:p>
        </p:txBody>
      </p:sp>
    </p:spTree>
    <p:extLst>
      <p:ext uri="{BB962C8B-B14F-4D97-AF65-F5344CB8AC3E}">
        <p14:creationId xmlns:p14="http://schemas.microsoft.com/office/powerpoint/2010/main" val="185555135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292">
            <a:extLst xmlns:a="http://schemas.openxmlformats.org/drawingml/2006/main">
              <a:ext uri="{FF2B5EF4-FFF2-40B4-BE49-F238E27FC236}">
                <a16:creationId xmlns:a16="http://schemas.microsoft.com/office/drawing/2014/main" id="{81328B41-A938-421A-8AF6-34A74820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08 产品实现与验证</a:t>
            </a:r>
          </a:p>
        </p:txBody>
      </p:sp>
      <p:sp>
        <p:nvSpPr>
          <p:cNvPr id="2" name="slide-title-1293">
            <a:extLst xmlns:a="http://schemas.openxmlformats.org/drawingml/2006/main">
              <a:ext uri="{FF2B5EF4-FFF2-40B4-BE49-F238E27FC236}">
                <a16:creationId xmlns:a16="http://schemas.microsoft.com/office/drawing/2014/main" id="{4139458B-437F-4198-BBB0-49F101A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用户看到的是下一步和取舍</a:t>
            </a:r>
          </a:p>
        </p:txBody>
      </p:sp>
      <p:sp>
        <p:nvSpPr>
          <p:cNvPr id="3" name="claim-1294">
            <a:extLst xmlns:a="http://schemas.openxmlformats.org/drawingml/2006/main">
              <a:ext uri="{FF2B5EF4-FFF2-40B4-BE49-F238E27FC236}">
                <a16:creationId xmlns:a16="http://schemas.microsoft.com/office/drawing/2014/main" id="{91E6F4B9-0B1B-4E17-A817-0CF9E615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建议的最小产品界面围绕实际问题组织。</a:t>
            </a:r>
          </a:p>
        </p:txBody>
      </p:sp>
      <p:sp>
        <p:nvSpPr>
          <p:cNvPr id="4" name="box-1295">
            <a:extLst xmlns:a="http://schemas.openxmlformats.org/drawingml/2006/main">
              <a:ext uri="{FF2B5EF4-FFF2-40B4-BE49-F238E27FC236}">
                <a16:creationId xmlns:a16="http://schemas.microsoft.com/office/drawing/2014/main" id="{1C75AE74-81AC-4D13-B36B-0A425A64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296">
            <a:extLst xmlns:a="http://schemas.openxmlformats.org/drawingml/2006/main">
              <a:ext uri="{FF2B5EF4-FFF2-40B4-BE49-F238E27FC236}">
                <a16:creationId xmlns:a16="http://schemas.microsoft.com/office/drawing/2014/main" id="{A5AEEB14-EE68-49C4-A779-5376BD0F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297">
            <a:extLst xmlns:a="http://schemas.openxmlformats.org/drawingml/2006/main">
              <a:ext uri="{FF2B5EF4-FFF2-40B4-BE49-F238E27FC236}">
                <a16:creationId xmlns:a16="http://schemas.microsoft.com/office/drawing/2014/main" id="{2B194259-C3CC-4D13-BB45-22E63D8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298">
            <a:extLst xmlns:a="http://schemas.openxmlformats.org/drawingml/2006/main">
              <a:ext uri="{FF2B5EF4-FFF2-40B4-BE49-F238E27FC236}">
                <a16:creationId xmlns:a16="http://schemas.microsoft.com/office/drawing/2014/main" id="{02944742-8E53-4257-AC14-6F82990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80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7000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界面内容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用户需要理解什么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当前目标与底线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我们在改善什么，哪些条件仍然有效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需要关注的变化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发现了什么，来源和更新时间是什么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进行中的项目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已有承诺、真实进度和资源冲突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一项关键问题或建议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为什么此刻需要处理，可有哪些替代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5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行动与复盘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下一步、验收、停止条件和何时观察结果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48320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1299">
            <a:extLst xmlns:a="http://schemas.openxmlformats.org/drawingml/2006/main">
              <a:ext uri="{FF2B5EF4-FFF2-40B4-BE49-F238E27FC236}">
                <a16:creationId xmlns:a16="http://schemas.microsoft.com/office/drawing/2014/main" id="{A1316089-D20C-472D-8097-0F8501A2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08 产品实现与验证</a:t>
            </a:r>
          </a:p>
        </p:txBody>
      </p:sp>
      <p:sp>
        <p:nvSpPr>
          <p:cNvPr id="2" name="slide-title-1300">
            <a:extLst xmlns:a="http://schemas.openxmlformats.org/drawingml/2006/main">
              <a:ext uri="{FF2B5EF4-FFF2-40B4-BE49-F238E27FC236}">
                <a16:creationId xmlns:a16="http://schemas.microsoft.com/office/drawing/2014/main" id="{052C425E-AFF1-4AEB-A04B-C19287F1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主动产品需要四类基础设施</a:t>
            </a:r>
          </a:p>
        </p:txBody>
      </p:sp>
      <p:sp>
        <p:nvSpPr>
          <p:cNvPr id="3" name="claim-1301">
            <a:extLst xmlns:a="http://schemas.openxmlformats.org/drawingml/2006/main">
              <a:ext uri="{FF2B5EF4-FFF2-40B4-BE49-F238E27FC236}">
                <a16:creationId xmlns:a16="http://schemas.microsoft.com/office/drawing/2014/main" id="{8B3D071F-929E-4B55-9B04-B96B7BAE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它们支撑已有总控逻辑，并非新增四个常驻AI角色。</a:t>
            </a:r>
          </a:p>
        </p:txBody>
      </p:sp>
      <p:sp>
        <p:nvSpPr>
          <p:cNvPr id="4" name="box-1302">
            <a:extLst xmlns:a="http://schemas.openxmlformats.org/drawingml/2006/main">
              <a:ext uri="{FF2B5EF4-FFF2-40B4-BE49-F238E27FC236}">
                <a16:creationId xmlns:a16="http://schemas.microsoft.com/office/drawing/2014/main" id="{623277D2-7884-4F86-9A35-D42666A8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03">
            <a:extLst xmlns:a="http://schemas.openxmlformats.org/drawingml/2006/main">
              <a:ext uri="{FF2B5EF4-FFF2-40B4-BE49-F238E27FC236}">
                <a16:creationId xmlns:a16="http://schemas.microsoft.com/office/drawing/2014/main" id="{A6FCB05C-F302-442B-A9E8-95025A91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304">
            <a:extLst xmlns:a="http://schemas.openxmlformats.org/drawingml/2006/main">
              <a:ext uri="{FF2B5EF4-FFF2-40B4-BE49-F238E27FC236}">
                <a16:creationId xmlns:a16="http://schemas.microsoft.com/office/drawing/2014/main" id="{FA4FADE7-857B-4198-A34D-135FFD28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305">
            <a:extLst xmlns:a="http://schemas.openxmlformats.org/drawingml/2006/main">
              <a:ext uri="{FF2B5EF4-FFF2-40B4-BE49-F238E27FC236}">
                <a16:creationId xmlns:a16="http://schemas.microsoft.com/office/drawing/2014/main" id="{91934BAF-4479-4504-906E-E647B33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81 / 91</a:t>
            </a:r>
          </a:p>
        </p:txBody>
      </p:sp>
      <p:sp>
        <p:nvSpPr>
          <p:cNvPr id="8" name="text-1306">
            <a:extLst xmlns:a="http://schemas.openxmlformats.org/drawingml/2006/main">
              <a:ext uri="{FF2B5EF4-FFF2-40B4-BE49-F238E27FC236}">
                <a16:creationId xmlns:a16="http://schemas.microsoft.com/office/drawing/2014/main" id="{E173E791-F67D-47FA-BFF7-38341A21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四类基础设施：触发、接入、持久状态、通知；均需实际部署验证。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E08C2-9FDA-4509-B1CF-920AAA95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57513"/>
            <a:ext cx="533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64CB6-7657-4AC5-8B3B-528094E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7513"/>
            <a:ext cx="533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DA971-23B9-4CDA-AA65-3CA67FDE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33800"/>
            <a:ext cx="114300" cy="838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65C7"/>
          </a:solidFill>
          <a:ln xmlns:a="http://schemas.openxmlformats.org/drawingml/2006/main" w="0">
            <a:noFill/>
          </a:ln>
        </p:spPr>
      </p:sp>
      <p:sp>
        <p:nvSpPr>
          <p:cNvPr id="12" name="box-1307">
            <a:extLst xmlns:a="http://schemas.openxmlformats.org/drawingml/2006/main">
              <a:ext uri="{FF2B5EF4-FFF2-40B4-BE49-F238E27FC236}">
                <a16:creationId xmlns:a16="http://schemas.microsoft.com/office/drawing/2014/main" id="{AB94672D-E855-4828-A0DB-69940B5E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385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13" name="text-1308">
            <a:extLst xmlns:a="http://schemas.openxmlformats.org/drawingml/2006/main">
              <a:ext uri="{FF2B5EF4-FFF2-40B4-BE49-F238E27FC236}">
                <a16:creationId xmlns:a16="http://schemas.microsoft.com/office/drawing/2014/main" id="{7C4FA31B-8ADE-4F0F-BFA0-09214C9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95550"/>
            <a:ext cx="29146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触发与数据接入</a:t>
            </a:r>
          </a:p>
        </p:txBody>
      </p:sp>
      <p:sp>
        <p:nvSpPr>
          <p:cNvPr id="14" name="text-1309">
            <a:extLst xmlns:a="http://schemas.openxmlformats.org/drawingml/2006/main">
              <a:ext uri="{FF2B5EF4-FFF2-40B4-BE49-F238E27FC236}">
                <a16:creationId xmlns:a16="http://schemas.microsoft.com/office/drawing/2014/main" id="{F88E97B9-7436-4E48-AFF8-FB2DF4D2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43225"/>
            <a:ext cx="29146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定时 / 事件；已授权来源</a:t>
            </a:r>
          </a:p>
        </p:txBody>
      </p:sp>
      <p:sp>
        <p:nvSpPr>
          <p:cNvPr id="15" name="box-1310">
            <a:extLst xmlns:a="http://schemas.openxmlformats.org/drawingml/2006/main">
              <a:ext uri="{FF2B5EF4-FFF2-40B4-BE49-F238E27FC236}">
                <a16:creationId xmlns:a16="http://schemas.microsoft.com/office/drawing/2014/main" id="{7DD8BD5E-AA0C-409B-9323-72236B94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16" name="text-1311">
            <a:extLst xmlns:a="http://schemas.openxmlformats.org/drawingml/2006/main">
              <a:ext uri="{FF2B5EF4-FFF2-40B4-BE49-F238E27FC236}">
                <a16:creationId xmlns:a16="http://schemas.microsoft.com/office/drawing/2014/main" id="{B29169B5-7839-4D55-AF49-34CD01E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95550"/>
            <a:ext cx="29146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总控与决策引擎</a:t>
            </a:r>
          </a:p>
        </p:txBody>
      </p:sp>
      <p:sp>
        <p:nvSpPr>
          <p:cNvPr id="17" name="text-1312">
            <a:extLst xmlns:a="http://schemas.openxmlformats.org/drawingml/2006/main">
              <a:ext uri="{FF2B5EF4-FFF2-40B4-BE49-F238E27FC236}">
                <a16:creationId xmlns:a16="http://schemas.microsoft.com/office/drawing/2014/main" id="{364F10D3-F71E-4473-AE11-9FA1140A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43225"/>
            <a:ext cx="29146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领域、方法与复核按需参与</a:t>
            </a:r>
          </a:p>
        </p:txBody>
      </p:sp>
      <p:sp>
        <p:nvSpPr>
          <p:cNvPr id="18" name="box-1313">
            <a:extLst xmlns:a="http://schemas.openxmlformats.org/drawingml/2006/main">
              <a:ext uri="{FF2B5EF4-FFF2-40B4-BE49-F238E27FC236}">
                <a16:creationId xmlns:a16="http://schemas.microsoft.com/office/drawing/2014/main" id="{C9E84D50-13CD-42D0-8448-54973E7A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2385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</p:sp>
      <p:sp>
        <p:nvSpPr>
          <p:cNvPr id="19" name="text-1314">
            <a:extLst xmlns:a="http://schemas.openxmlformats.org/drawingml/2006/main">
              <a:ext uri="{FF2B5EF4-FFF2-40B4-BE49-F238E27FC236}">
                <a16:creationId xmlns:a16="http://schemas.microsoft.com/office/drawing/2014/main" id="{C8129509-A071-4B2A-84AF-87E14AC4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95550"/>
            <a:ext cx="29146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通知与行动接口</a:t>
            </a:r>
          </a:p>
        </p:txBody>
      </p:sp>
      <p:sp>
        <p:nvSpPr>
          <p:cNvPr id="20" name="text-1315">
            <a:extLst xmlns:a="http://schemas.openxmlformats.org/drawingml/2006/main">
              <a:ext uri="{FF2B5EF4-FFF2-40B4-BE49-F238E27FC236}">
                <a16:creationId xmlns:a16="http://schemas.microsoft.com/office/drawing/2014/main" id="{8AA54640-1CDC-4AF7-8C76-8A38682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43225"/>
            <a:ext cx="29146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建议、真实选择与实际执行</a:t>
            </a:r>
          </a:p>
        </p:txBody>
      </p:sp>
      <p:sp>
        <p:nvSpPr>
          <p:cNvPr id="21" name="box-1316">
            <a:extLst xmlns:a="http://schemas.openxmlformats.org/drawingml/2006/main">
              <a:ext uri="{FF2B5EF4-FFF2-40B4-BE49-F238E27FC236}">
                <a16:creationId xmlns:a16="http://schemas.microsoft.com/office/drawing/2014/main" id="{A54C0931-AD5A-46DF-8E26-6A32E61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70485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</a:ln>
        </p:spPr>
      </p:sp>
      <p:sp>
        <p:nvSpPr>
          <p:cNvPr id="22" name="text-1317">
            <a:extLst xmlns:a="http://schemas.openxmlformats.org/drawingml/2006/main">
              <a:ext uri="{FF2B5EF4-FFF2-40B4-BE49-F238E27FC236}">
                <a16:creationId xmlns:a16="http://schemas.microsoft.com/office/drawing/2014/main" id="{5F117B90-7E8B-403E-861B-42DEAE91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72025"/>
            <a:ext cx="6724650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持久个人状态</a:t>
            </a:r>
          </a:p>
        </p:txBody>
      </p:sp>
      <p:sp>
        <p:nvSpPr>
          <p:cNvPr id="23" name="text-1318">
            <a:extLst xmlns:a="http://schemas.openxmlformats.org/drawingml/2006/main">
              <a:ext uri="{FF2B5EF4-FFF2-40B4-BE49-F238E27FC236}">
                <a16:creationId xmlns:a16="http://schemas.microsoft.com/office/drawing/2014/main" id="{4AF1C2A4-D8FB-41ED-8D4A-F5621E2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19700"/>
            <a:ext cx="67246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目标、事实、快照、问题、建议、行动与结果</a:t>
            </a:r>
          </a:p>
        </p:txBody>
      </p:sp>
    </p:spTree>
    <p:extLst>
      <p:ext uri="{BB962C8B-B14F-4D97-AF65-F5344CB8AC3E}">
        <p14:creationId xmlns:p14="http://schemas.microsoft.com/office/powerpoint/2010/main" val="96066695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319">
            <a:extLst xmlns:a="http://schemas.openxmlformats.org/drawingml/2006/main">
              <a:ext uri="{FF2B5EF4-FFF2-40B4-BE49-F238E27FC236}">
                <a16:creationId xmlns:a16="http://schemas.microsoft.com/office/drawing/2014/main" id="{3D4158DA-4343-408F-AA55-0A04555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08 产品实现与验证</a:t>
            </a:r>
          </a:p>
        </p:txBody>
      </p:sp>
      <p:sp>
        <p:nvSpPr>
          <p:cNvPr id="2" name="slide-title-1320">
            <a:extLst xmlns:a="http://schemas.openxmlformats.org/drawingml/2006/main">
              <a:ext uri="{FF2B5EF4-FFF2-40B4-BE49-F238E27FC236}">
                <a16:creationId xmlns:a16="http://schemas.microsoft.com/office/drawing/2014/main" id="{78C2A5CD-5E0F-4F22-9555-4C9B3C6B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先跑通一个最小闭环</a:t>
            </a:r>
          </a:p>
        </p:txBody>
      </p:sp>
      <p:sp>
        <p:nvSpPr>
          <p:cNvPr id="3" name="claim-1321">
            <a:extLst xmlns:a="http://schemas.openxmlformats.org/drawingml/2006/main">
              <a:ext uri="{FF2B5EF4-FFF2-40B4-BE49-F238E27FC236}">
                <a16:creationId xmlns:a16="http://schemas.microsoft.com/office/drawing/2014/main" id="{1FDFA403-2AF6-4C09-9D45-D1F5E43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从一个真实目标及相关的两三个领域开始。</a:t>
            </a:r>
          </a:p>
        </p:txBody>
      </p:sp>
      <p:sp>
        <p:nvSpPr>
          <p:cNvPr id="4" name="box-1322">
            <a:extLst xmlns:a="http://schemas.openxmlformats.org/drawingml/2006/main">
              <a:ext uri="{FF2B5EF4-FFF2-40B4-BE49-F238E27FC236}">
                <a16:creationId xmlns:a16="http://schemas.microsoft.com/office/drawing/2014/main" id="{E8BB84D2-9C2B-4FB4-956A-0C1DD856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23">
            <a:extLst xmlns:a="http://schemas.openxmlformats.org/drawingml/2006/main">
              <a:ext uri="{FF2B5EF4-FFF2-40B4-BE49-F238E27FC236}">
                <a16:creationId xmlns:a16="http://schemas.microsoft.com/office/drawing/2014/main" id="{D26D5F6F-AAD7-4D35-AC4C-FEC68E9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324">
            <a:extLst xmlns:a="http://schemas.openxmlformats.org/drawingml/2006/main">
              <a:ext uri="{FF2B5EF4-FFF2-40B4-BE49-F238E27FC236}">
                <a16:creationId xmlns:a16="http://schemas.microsoft.com/office/drawing/2014/main" id="{7190167D-7ED7-4053-A0AA-A51F2279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325">
            <a:extLst xmlns:a="http://schemas.openxmlformats.org/drawingml/2006/main">
              <a:ext uri="{FF2B5EF4-FFF2-40B4-BE49-F238E27FC236}">
                <a16:creationId xmlns:a16="http://schemas.microsoft.com/office/drawing/2014/main" id="{9E5B288F-4119-4441-AED3-73576D6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82 / 91</a:t>
            </a:r>
          </a:p>
        </p:txBody>
      </p:sp>
      <p:sp>
        <p:nvSpPr>
          <p:cNvPr id="8" name="text-1326">
            <a:extLst xmlns:a="http://schemas.openxmlformats.org/drawingml/2006/main">
              <a:ext uri="{FF2B5EF4-FFF2-40B4-BE49-F238E27FC236}">
                <a16:creationId xmlns:a16="http://schemas.microsoft.com/office/drawing/2014/main" id="{1DA04DA3-0B08-4DD3-8A2F-D9B47D3B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1327">
            <a:extLst xmlns:a="http://schemas.openxmlformats.org/drawingml/2006/main">
              <a:ext uri="{FF2B5EF4-FFF2-40B4-BE49-F238E27FC236}">
                <a16:creationId xmlns:a16="http://schemas.microsoft.com/office/drawing/2014/main" id="{0A8D49C1-3141-4E9F-A76E-CC2BC23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1328">
            <a:extLst xmlns:a="http://schemas.openxmlformats.org/drawingml/2006/main">
              <a:ext uri="{FF2B5EF4-FFF2-40B4-BE49-F238E27FC236}">
                <a16:creationId xmlns:a16="http://schemas.microsoft.com/office/drawing/2014/main" id="{E1D0CC72-1E45-4FD2-9FBF-B7721DD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建立起点</a:t>
            </a:r>
          </a:p>
        </p:txBody>
      </p:sp>
      <p:sp>
        <p:nvSpPr>
          <p:cNvPr id="11" name="text-1329">
            <a:extLst xmlns:a="http://schemas.openxmlformats.org/drawingml/2006/main">
              <a:ext uri="{FF2B5EF4-FFF2-40B4-BE49-F238E27FC236}">
                <a16:creationId xmlns:a16="http://schemas.microsoft.com/office/drawing/2014/main" id="{BD7008C6-E1B2-4B54-8FC4-B99DEFB7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确认目标、已有承诺、资源边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界与一份可靠资料。</a:t>
            </a:r>
          </a:p>
        </p:txBody>
      </p:sp>
      <p:sp>
        <p:nvSpPr>
          <p:cNvPr id="12" name="text-1330">
            <a:extLst xmlns:a="http://schemas.openxmlformats.org/drawingml/2006/main">
              <a:ext uri="{FF2B5EF4-FFF2-40B4-BE49-F238E27FC236}">
                <a16:creationId xmlns:a16="http://schemas.microsoft.com/office/drawing/2014/main" id="{6C6C7262-FBFB-4610-8953-A47E82DD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1331">
            <a:extLst xmlns:a="http://schemas.openxmlformats.org/drawingml/2006/main">
              <a:ext uri="{FF2B5EF4-FFF2-40B4-BE49-F238E27FC236}">
                <a16:creationId xmlns:a16="http://schemas.microsoft.com/office/drawing/2014/main" id="{4C7112A4-40A1-45B6-8F47-D4C3510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1332">
            <a:extLst xmlns:a="http://schemas.openxmlformats.org/drawingml/2006/main">
              <a:ext uri="{FF2B5EF4-FFF2-40B4-BE49-F238E27FC236}">
                <a16:creationId xmlns:a16="http://schemas.microsoft.com/office/drawing/2014/main" id="{261898F6-B23E-44AB-84AA-62F0A642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运行一次</a:t>
            </a:r>
          </a:p>
        </p:txBody>
      </p:sp>
      <p:sp>
        <p:nvSpPr>
          <p:cNvPr id="15" name="text-1333">
            <a:extLst xmlns:a="http://schemas.openxmlformats.org/drawingml/2006/main">
              <a:ext uri="{FF2B5EF4-FFF2-40B4-BE49-F238E27FC236}">
                <a16:creationId xmlns:a16="http://schemas.microsoft.com/office/drawing/2014/main" id="{73E43BC6-AB23-4FAC-909F-A05436A4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更新快照，补关键缺口，形成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建议并记录真实选择。</a:t>
            </a:r>
          </a:p>
        </p:txBody>
      </p:sp>
      <p:sp>
        <p:nvSpPr>
          <p:cNvPr id="16" name="text-1334">
            <a:extLst xmlns:a="http://schemas.openxmlformats.org/drawingml/2006/main">
              <a:ext uri="{FF2B5EF4-FFF2-40B4-BE49-F238E27FC236}">
                <a16:creationId xmlns:a16="http://schemas.microsoft.com/office/drawing/2014/main" id="{772923FA-A04D-476E-B966-8BFA23AC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1335">
            <a:extLst xmlns:a="http://schemas.openxmlformats.org/drawingml/2006/main">
              <a:ext uri="{FF2B5EF4-FFF2-40B4-BE49-F238E27FC236}">
                <a16:creationId xmlns:a16="http://schemas.microsoft.com/office/drawing/2014/main" id="{12449D6A-3436-4AAB-9F67-E3AA9B3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1336">
            <a:extLst xmlns:a="http://schemas.openxmlformats.org/drawingml/2006/main">
              <a:ext uri="{FF2B5EF4-FFF2-40B4-BE49-F238E27FC236}">
                <a16:creationId xmlns:a16="http://schemas.microsoft.com/office/drawing/2014/main" id="{06A03416-1C9A-4001-B2E8-16F5BB07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检查结果</a:t>
            </a:r>
          </a:p>
        </p:txBody>
      </p:sp>
      <p:sp>
        <p:nvSpPr>
          <p:cNvPr id="19" name="text-1337">
            <a:extLst xmlns:a="http://schemas.openxmlformats.org/drawingml/2006/main">
              <a:ext uri="{FF2B5EF4-FFF2-40B4-BE49-F238E27FC236}">
                <a16:creationId xmlns:a16="http://schemas.microsoft.com/office/drawing/2014/main" id="{87910102-A6BA-479B-ACAC-55469EE0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在观察窗口后核实实际行动、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结果和维护负担。</a:t>
            </a:r>
          </a:p>
        </p:txBody>
      </p:sp>
    </p:spTree>
    <p:extLst>
      <p:ext uri="{BB962C8B-B14F-4D97-AF65-F5344CB8AC3E}">
        <p14:creationId xmlns:p14="http://schemas.microsoft.com/office/powerpoint/2010/main" val="113761574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338">
            <a:extLst xmlns:a="http://schemas.openxmlformats.org/drawingml/2006/main">
              <a:ext uri="{FF2B5EF4-FFF2-40B4-BE49-F238E27FC236}">
                <a16:creationId xmlns:a16="http://schemas.microsoft.com/office/drawing/2014/main" id="{C72B6A72-9ABF-436F-9D14-472C65F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09 贯穿案例</a:t>
            </a:r>
          </a:p>
        </p:txBody>
      </p:sp>
      <p:sp>
        <p:nvSpPr>
          <p:cNvPr id="2" name="slide-title-1339">
            <a:extLst xmlns:a="http://schemas.openxmlformats.org/drawingml/2006/main">
              <a:ext uri="{FF2B5EF4-FFF2-40B4-BE49-F238E27FC236}">
                <a16:creationId xmlns:a16="http://schemas.microsoft.com/office/drawing/2014/main" id="{05896A6B-BFC6-4E1C-854D-3B6F21A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案例起点：项目与学习如何并行</a:t>
            </a:r>
          </a:p>
        </p:txBody>
      </p:sp>
      <p:sp>
        <p:nvSpPr>
          <p:cNvPr id="3" name="claim-1340">
            <a:extLst xmlns:a="http://schemas.openxmlformats.org/drawingml/2006/main">
              <a:ext uri="{FF2B5EF4-FFF2-40B4-BE49-F238E27FC236}">
                <a16:creationId xmlns:a16="http://schemas.microsoft.com/office/drawing/2014/main" id="{0F6B51E3-680F-486D-9ACE-62301BCC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以下均为合成数据，用于展示系统运行方式。</a:t>
            </a:r>
          </a:p>
        </p:txBody>
      </p:sp>
      <p:sp>
        <p:nvSpPr>
          <p:cNvPr id="4" name="box-1341">
            <a:extLst xmlns:a="http://schemas.openxmlformats.org/drawingml/2006/main">
              <a:ext uri="{FF2B5EF4-FFF2-40B4-BE49-F238E27FC236}">
                <a16:creationId xmlns:a16="http://schemas.microsoft.com/office/drawing/2014/main" id="{A950091E-6C72-45C5-A75E-3D6DAFD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42">
            <a:extLst xmlns:a="http://schemas.openxmlformats.org/drawingml/2006/main">
              <a:ext uri="{FF2B5EF4-FFF2-40B4-BE49-F238E27FC236}">
                <a16:creationId xmlns:a16="http://schemas.microsoft.com/office/drawing/2014/main" id="{718389CE-04C3-4481-9362-CA8993B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343">
            <a:extLst xmlns:a="http://schemas.openxmlformats.org/drawingml/2006/main">
              <a:ext uri="{FF2B5EF4-FFF2-40B4-BE49-F238E27FC236}">
                <a16:creationId xmlns:a16="http://schemas.microsoft.com/office/drawing/2014/main" id="{DD0CA9F6-5481-4C12-99A9-928AF97F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344">
            <a:extLst xmlns:a="http://schemas.openxmlformats.org/drawingml/2006/main">
              <a:ext uri="{FF2B5EF4-FFF2-40B4-BE49-F238E27FC236}">
                <a16:creationId xmlns:a16="http://schemas.microsoft.com/office/drawing/2014/main" id="{FD740DCD-057A-4A59-9E26-73F8AEA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83 / 91</a:t>
            </a:r>
          </a:p>
        </p:txBody>
      </p:sp>
      <p:sp>
        <p:nvSpPr>
          <p:cNvPr id="8" name="subhead-1345">
            <a:extLst xmlns:a="http://schemas.openxmlformats.org/drawingml/2006/main">
              <a:ext uri="{FF2B5EF4-FFF2-40B4-BE49-F238E27FC236}">
                <a16:creationId xmlns:a16="http://schemas.microsoft.com/office/drawing/2014/main" id="{67ECE185-CDC4-4D86-B5AC-75AF6108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目标与事实</a:t>
            </a:r>
          </a:p>
        </p:txBody>
      </p:sp>
      <p:sp>
        <p:nvSpPr>
          <p:cNvPr id="9" name="text-1346">
            <a:extLst xmlns:a="http://schemas.openxmlformats.org/drawingml/2006/main">
              <a:ext uri="{FF2B5EF4-FFF2-40B4-BE49-F238E27FC236}">
                <a16:creationId xmlns:a16="http://schemas.microsoft.com/office/drawing/2014/main" id="{AC47DB41-2C46-40F7-BA70-BE8C7A9F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本周希望推进客户项目并保留能力学习。可用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增量时间10小时。</a:t>
            </a:r>
          </a:p>
        </p:txBody>
      </p:sp>
      <p:sp>
        <p:nvSpPr>
          <p:cNvPr id="10" name="subhead-1347">
            <a:extLst xmlns:a="http://schemas.openxmlformats.org/drawingml/2006/main">
              <a:ext uri="{FF2B5EF4-FFF2-40B4-BE49-F238E27FC236}">
                <a16:creationId xmlns:a16="http://schemas.microsoft.com/office/drawing/2014/main" id="{EDE127C9-7627-4936-900D-D5BD0FF7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已有约束</a:t>
            </a:r>
          </a:p>
        </p:txBody>
      </p:sp>
      <p:sp>
        <p:nvSpPr>
          <p:cNvPr id="11" name="text-1348">
            <a:extLst xmlns:a="http://schemas.openxmlformats.org/drawingml/2006/main">
              <a:ext uri="{FF2B5EF4-FFF2-40B4-BE49-F238E27FC236}">
                <a16:creationId xmlns:a16="http://schemas.microsoft.com/office/drawing/2014/main" id="{14116448-3F62-48DD-BEDE-8DC7CE8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家庭承诺2小时；明确保留1小时缓冲。</a:t>
            </a:r>
          </a:p>
        </p:txBody>
      </p:sp>
      <p:sp>
        <p:nvSpPr>
          <p:cNvPr id="12" name="subhead-1349">
            <a:extLst xmlns:a="http://schemas.openxmlformats.org/drawingml/2006/main">
              <a:ext uri="{FF2B5EF4-FFF2-40B4-BE49-F238E27FC236}">
                <a16:creationId xmlns:a16="http://schemas.microsoft.com/office/drawing/2014/main" id="{2EF3B367-72A5-4C94-AE90-E3A2131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候选行动</a:t>
            </a:r>
          </a:p>
        </p:txBody>
      </p:sp>
      <p:sp>
        <p:nvSpPr>
          <p:cNvPr id="13" name="text-1350">
            <a:extLst xmlns:a="http://schemas.openxmlformats.org/drawingml/2006/main">
              <a:ext uri="{FF2B5EF4-FFF2-40B4-BE49-F238E27FC236}">
                <a16:creationId xmlns:a16="http://schemas.microsoft.com/office/drawing/2014/main" id="{A0628716-984A-47FC-B3C4-DBEF5C61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客户项目需求5小时，学习计划需求4小时。</a:t>
            </a:r>
          </a:p>
        </p:txBody>
      </p:sp>
      <p:sp>
        <p:nvSpPr>
          <p:cNvPr id="14" name="subhead-1351">
            <a:extLst xmlns:a="http://schemas.openxmlformats.org/drawingml/2006/main">
              <a:ext uri="{FF2B5EF4-FFF2-40B4-BE49-F238E27FC236}">
                <a16:creationId xmlns:a16="http://schemas.microsoft.com/office/drawing/2014/main" id="{B57AF204-197F-4A94-8BC0-4DA5CC27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0613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相关角色</a:t>
            </a:r>
          </a:p>
        </p:txBody>
      </p:sp>
      <p:sp>
        <p:nvSpPr>
          <p:cNvPr id="15" name="text-1352">
            <a:extLst xmlns:a="http://schemas.openxmlformats.org/drawingml/2006/main">
              <a:ext uri="{FF2B5EF4-FFF2-40B4-BE49-F238E27FC236}">
                <a16:creationId xmlns:a16="http://schemas.microsoft.com/office/drawing/2014/main" id="{E6F5A150-1E44-46E2-BEDB-3CACCD10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2865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D04职业、D05学习、D03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关系；M06核算，R01复核。</a:t>
            </a:r>
          </a:p>
        </p:txBody>
      </p:sp>
    </p:spTree>
    <p:extLst>
      <p:ext uri="{BB962C8B-B14F-4D97-AF65-F5344CB8AC3E}">
        <p14:creationId xmlns:p14="http://schemas.microsoft.com/office/powerpoint/2010/main" val="40301331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353">
            <a:extLst xmlns:a="http://schemas.openxmlformats.org/drawingml/2006/main">
              <a:ext uri="{FF2B5EF4-FFF2-40B4-BE49-F238E27FC236}">
                <a16:creationId xmlns:a16="http://schemas.microsoft.com/office/drawing/2014/main" id="{5812CC14-3C09-46C8-94F3-2A354CBF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09 贯穿案例</a:t>
            </a:r>
          </a:p>
        </p:txBody>
      </p:sp>
      <p:sp>
        <p:nvSpPr>
          <p:cNvPr id="2" name="slide-title-1354">
            <a:extLst xmlns:a="http://schemas.openxmlformats.org/drawingml/2006/main">
              <a:ext uri="{FF2B5EF4-FFF2-40B4-BE49-F238E27FC236}">
                <a16:creationId xmlns:a16="http://schemas.microsoft.com/office/drawing/2014/main" id="{2C507E1C-21DE-4E29-85B9-5C0425ED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原组合超出时间上限</a:t>
            </a:r>
          </a:p>
        </p:txBody>
      </p:sp>
      <p:sp>
        <p:nvSpPr>
          <p:cNvPr id="3" name="claim-1355">
            <a:extLst xmlns:a="http://schemas.openxmlformats.org/drawingml/2006/main">
              <a:ext uri="{FF2B5EF4-FFF2-40B4-BE49-F238E27FC236}">
                <a16:creationId xmlns:a16="http://schemas.microsoft.com/office/drawing/2014/main" id="{0F1047B3-2392-4378-9173-362F4B64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2 ＋ 5 ＋ 4 ＋ 1 ＝ 12小时，超过10小时。</a:t>
            </a:r>
          </a:p>
        </p:txBody>
      </p:sp>
      <p:sp>
        <p:nvSpPr>
          <p:cNvPr id="4" name="box-1356">
            <a:extLst xmlns:a="http://schemas.openxmlformats.org/drawingml/2006/main">
              <a:ext uri="{FF2B5EF4-FFF2-40B4-BE49-F238E27FC236}">
                <a16:creationId xmlns:a16="http://schemas.microsoft.com/office/drawing/2014/main" id="{F9A7363E-E2B6-4EB1-B8EB-C2D4D10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57">
            <a:extLst xmlns:a="http://schemas.openxmlformats.org/drawingml/2006/main">
              <a:ext uri="{FF2B5EF4-FFF2-40B4-BE49-F238E27FC236}">
                <a16:creationId xmlns:a16="http://schemas.microsoft.com/office/drawing/2014/main" id="{F8A630A1-7260-461E-81ED-F4277E93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358">
            <a:extLst xmlns:a="http://schemas.openxmlformats.org/drawingml/2006/main">
              <a:ext uri="{FF2B5EF4-FFF2-40B4-BE49-F238E27FC236}">
                <a16:creationId xmlns:a16="http://schemas.microsoft.com/office/drawing/2014/main" id="{4DD5F365-B824-4F63-ADF6-38557C56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359">
            <a:extLst xmlns:a="http://schemas.openxmlformats.org/drawingml/2006/main">
              <a:ext uri="{FF2B5EF4-FFF2-40B4-BE49-F238E27FC236}">
                <a16:creationId xmlns:a16="http://schemas.microsoft.com/office/drawing/2014/main" id="{5AC0D7E7-D8A0-4DCF-B210-D3DF93A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84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800350"/>
                <a:gridCol w="2800350"/>
                <a:gridCol w="2800350"/>
              </a:tblGrid>
              <a:tr h="7096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事项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原组合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组合A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组合B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家庭承诺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客户项目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能力学习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保留缓冲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63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合计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12小时：超2小时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10小时：数量可行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10小时：数量可行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41240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360">
            <a:extLst xmlns:a="http://schemas.openxmlformats.org/drawingml/2006/main">
              <a:ext uri="{FF2B5EF4-FFF2-40B4-BE49-F238E27FC236}">
                <a16:creationId xmlns:a16="http://schemas.microsoft.com/office/drawing/2014/main" id="{01F6F6DC-07D9-4334-81A5-3ABCC58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09 贯穿案例</a:t>
            </a:r>
          </a:p>
        </p:txBody>
      </p:sp>
      <p:sp>
        <p:nvSpPr>
          <p:cNvPr id="2" name="slide-title-1361">
            <a:extLst xmlns:a="http://schemas.openxmlformats.org/drawingml/2006/main">
              <a:ext uri="{FF2B5EF4-FFF2-40B4-BE49-F238E27FC236}">
                <a16:creationId xmlns:a16="http://schemas.microsoft.com/office/drawing/2014/main" id="{C3C32EFD-ED60-4022-8D73-F06CF79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数量可行的组合仍需补证与取舍</a:t>
            </a:r>
          </a:p>
        </p:txBody>
      </p:sp>
      <p:sp>
        <p:nvSpPr>
          <p:cNvPr id="3" name="box-1362">
            <a:extLst xmlns:a="http://schemas.openxmlformats.org/drawingml/2006/main">
              <a:ext uri="{FF2B5EF4-FFF2-40B4-BE49-F238E27FC236}">
                <a16:creationId xmlns:a16="http://schemas.microsoft.com/office/drawing/2014/main" id="{3B5DD19E-F529-4FD4-BE14-9E3E2BF3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4" name="box-1363">
            <a:extLst xmlns:a="http://schemas.openxmlformats.org/drawingml/2006/main">
              <a:ext uri="{FF2B5EF4-FFF2-40B4-BE49-F238E27FC236}">
                <a16:creationId xmlns:a16="http://schemas.microsoft.com/office/drawing/2014/main" id="{BFB941BA-7719-45BA-B347-0D066FE0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footer-1364">
            <a:extLst xmlns:a="http://schemas.openxmlformats.org/drawingml/2006/main">
              <a:ext uri="{FF2B5EF4-FFF2-40B4-BE49-F238E27FC236}">
                <a16:creationId xmlns:a16="http://schemas.microsoft.com/office/drawing/2014/main" id="{F8C3DAAF-C3FA-4379-9F3F-E117A4D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6" name="footer-1365">
            <a:extLst xmlns:a="http://schemas.openxmlformats.org/drawingml/2006/main">
              <a:ext uri="{FF2B5EF4-FFF2-40B4-BE49-F238E27FC236}">
                <a16:creationId xmlns:a16="http://schemas.microsoft.com/office/drawing/2014/main" id="{2FBB24FE-F2C1-4BB6-AB64-CFE49FF6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85 / 91</a:t>
            </a:r>
          </a:p>
        </p:txBody>
      </p:sp>
      <p:sp>
        <p:nvSpPr>
          <p:cNvPr id="7" name="subhead-1366">
            <a:extLst xmlns:a="http://schemas.openxmlformats.org/drawingml/2006/main">
              <a:ext uri="{FF2B5EF4-FFF2-40B4-BE49-F238E27FC236}">
                <a16:creationId xmlns:a16="http://schemas.microsoft.com/office/drawing/2014/main" id="{5EAD3CBB-55F6-48D3-926D-0AFECE5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关键补问</a:t>
            </a:r>
          </a:p>
        </p:txBody>
      </p:sp>
      <p:sp>
        <p:nvSpPr>
          <p:cNvPr id="8" name="text-1367">
            <a:extLst xmlns:a="http://schemas.openxmlformats.org/drawingml/2006/main">
              <a:ext uri="{FF2B5EF4-FFF2-40B4-BE49-F238E27FC236}">
                <a16:creationId xmlns:a16="http://schemas.microsoft.com/office/drawing/2014/main" id="{523D2157-39CE-49B8-956B-B3B6705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项目能否缩减到3小时？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若不能，组合B不成立。</a:t>
            </a:r>
          </a:p>
        </p:txBody>
      </p:sp>
      <p:sp>
        <p:nvSpPr>
          <p:cNvPr id="9" name="subhead-1368">
            <a:extLst xmlns:a="http://schemas.openxmlformats.org/drawingml/2006/main">
              <a:ext uri="{FF2B5EF4-FFF2-40B4-BE49-F238E27FC236}">
                <a16:creationId xmlns:a16="http://schemas.microsoft.com/office/drawing/2014/main" id="{6E4B95C3-3A31-42AA-8607-599515B3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模块工作</a:t>
            </a:r>
          </a:p>
        </p:txBody>
      </p:sp>
      <p:sp>
        <p:nvSpPr>
          <p:cNvPr id="10" name="text-1369">
            <a:extLst xmlns:a="http://schemas.openxmlformats.org/drawingml/2006/main">
              <a:ext uri="{FF2B5EF4-FFF2-40B4-BE49-F238E27FC236}">
                <a16:creationId xmlns:a16="http://schemas.microsoft.com/office/drawing/2014/main" id="{741D5E57-D1F3-4FF9-8D72-EE1EE7E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D04核实交付范围；D05提出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最小练习；M06检查日历。</a:t>
            </a:r>
          </a:p>
        </p:txBody>
      </p:sp>
      <p:sp>
        <p:nvSpPr>
          <p:cNvPr id="11" name="subhead-1370">
            <a:extLst xmlns:a="http://schemas.openxmlformats.org/drawingml/2006/main">
              <a:ext uri="{FF2B5EF4-FFF2-40B4-BE49-F238E27FC236}">
                <a16:creationId xmlns:a16="http://schemas.microsoft.com/office/drawing/2014/main" id="{549C759D-F548-45AE-A852-7C5745B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条件建议</a:t>
            </a:r>
          </a:p>
        </p:txBody>
      </p:sp>
      <p:sp>
        <p:nvSpPr>
          <p:cNvPr id="12" name="text-1371">
            <a:extLst xmlns:a="http://schemas.openxmlformats.org/drawingml/2006/main">
              <a:ext uri="{FF2B5EF4-FFF2-40B4-BE49-F238E27FC236}">
                <a16:creationId xmlns:a16="http://schemas.microsoft.com/office/drawing/2014/main" id="{4245A55B-D581-492C-852D-FA0A1181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若项目不能缩减而学习能缩减，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可讨论组合A及其代价。</a:t>
            </a:r>
          </a:p>
        </p:txBody>
      </p:sp>
      <p:sp>
        <p:nvSpPr>
          <p:cNvPr id="13" name="subhead-1372">
            <a:extLst xmlns:a="http://schemas.openxmlformats.org/drawingml/2006/main">
              <a:ext uri="{FF2B5EF4-FFF2-40B4-BE49-F238E27FC236}">
                <a16:creationId xmlns:a16="http://schemas.microsoft.com/office/drawing/2014/main" id="{52E0E834-9028-4705-A7EA-AFFDB90D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复核与选择</a:t>
            </a:r>
          </a:p>
        </p:txBody>
      </p:sp>
      <p:sp>
        <p:nvSpPr>
          <p:cNvPr id="14" name="text-1373">
            <a:extLst xmlns:a="http://schemas.openxmlformats.org/drawingml/2006/main">
              <a:ext uri="{FF2B5EF4-FFF2-40B4-BE49-F238E27FC236}">
                <a16:creationId xmlns:a16="http://schemas.microsoft.com/office/drawing/2014/main" id="{3397BB91-A13E-4766-8E21-0B05B5F4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R01查遗漏和重复记账；分别记录用户选择、授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权范围与实际执行。</a:t>
            </a:r>
          </a:p>
        </p:txBody>
      </p:sp>
    </p:spTree>
    <p:extLst>
      <p:ext uri="{BB962C8B-B14F-4D97-AF65-F5344CB8AC3E}">
        <p14:creationId xmlns:p14="http://schemas.microsoft.com/office/powerpoint/2010/main" val="200886798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374">
            <a:extLst xmlns:a="http://schemas.openxmlformats.org/drawingml/2006/main">
              <a:ext uri="{FF2B5EF4-FFF2-40B4-BE49-F238E27FC236}">
                <a16:creationId xmlns:a16="http://schemas.microsoft.com/office/drawing/2014/main" id="{F0BFB9B4-F838-4BDA-B192-8090423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09 贯穿案例</a:t>
            </a:r>
          </a:p>
        </p:txBody>
      </p:sp>
      <p:sp>
        <p:nvSpPr>
          <p:cNvPr id="2" name="slide-title-1375">
            <a:extLst xmlns:a="http://schemas.openxmlformats.org/drawingml/2006/main">
              <a:ext uri="{FF2B5EF4-FFF2-40B4-BE49-F238E27FC236}">
                <a16:creationId xmlns:a16="http://schemas.microsoft.com/office/drawing/2014/main" id="{0D8EB3DC-FA1B-4C1F-9D66-01F20B2C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反馈先核实发生了什么</a:t>
            </a:r>
          </a:p>
        </p:txBody>
      </p:sp>
      <p:sp>
        <p:nvSpPr>
          <p:cNvPr id="3" name="claim-1376">
            <a:extLst xmlns:a="http://schemas.openxmlformats.org/drawingml/2006/main">
              <a:ext uri="{FF2B5EF4-FFF2-40B4-BE49-F238E27FC236}">
                <a16:creationId xmlns:a16="http://schemas.microsoft.com/office/drawing/2014/main" id="{CA7D3E73-F77B-4AA6-A95F-7FB2246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合成后续：有课程计划，但没有作品记录。</a:t>
            </a:r>
          </a:p>
        </p:txBody>
      </p:sp>
      <p:sp>
        <p:nvSpPr>
          <p:cNvPr id="4" name="box-1377">
            <a:extLst xmlns:a="http://schemas.openxmlformats.org/drawingml/2006/main">
              <a:ext uri="{FF2B5EF4-FFF2-40B4-BE49-F238E27FC236}">
                <a16:creationId xmlns:a16="http://schemas.microsoft.com/office/drawing/2014/main" id="{1FD55ACC-A1BD-4706-95BE-7FD4FBD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78">
            <a:extLst xmlns:a="http://schemas.openxmlformats.org/drawingml/2006/main">
              <a:ext uri="{FF2B5EF4-FFF2-40B4-BE49-F238E27FC236}">
                <a16:creationId xmlns:a16="http://schemas.microsoft.com/office/drawing/2014/main" id="{B4D56FEA-1542-4C97-9584-C685DE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379">
            <a:extLst xmlns:a="http://schemas.openxmlformats.org/drawingml/2006/main">
              <a:ext uri="{FF2B5EF4-FFF2-40B4-BE49-F238E27FC236}">
                <a16:creationId xmlns:a16="http://schemas.microsoft.com/office/drawing/2014/main" id="{51DCFD23-95E9-4AE2-BADA-448A1F11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380">
            <a:extLst xmlns:a="http://schemas.openxmlformats.org/drawingml/2006/main">
              <a:ext uri="{FF2B5EF4-FFF2-40B4-BE49-F238E27FC236}">
                <a16:creationId xmlns:a16="http://schemas.microsoft.com/office/drawing/2014/main" id="{B26E32C4-A11A-4AF5-B9BE-4F16982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86 / 91</a:t>
            </a:r>
          </a:p>
        </p:txBody>
      </p:sp>
      <p:sp>
        <p:nvSpPr>
          <p:cNvPr id="8" name="subhead-1381">
            <a:extLst xmlns:a="http://schemas.openxmlformats.org/drawingml/2006/main">
              <a:ext uri="{FF2B5EF4-FFF2-40B4-BE49-F238E27FC236}">
                <a16:creationId xmlns:a16="http://schemas.microsoft.com/office/drawing/2014/main" id="{4D48D165-F7ED-4027-A131-081AFA1F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先查事实缺口</a:t>
            </a:r>
          </a:p>
        </p:txBody>
      </p:sp>
      <p:sp>
        <p:nvSpPr>
          <p:cNvPr id="9" name="text-1382">
            <a:extLst xmlns:a="http://schemas.openxmlformats.org/drawingml/2006/main">
              <a:ext uri="{FF2B5EF4-FFF2-40B4-BE49-F238E27FC236}">
                <a16:creationId xmlns:a16="http://schemas.microsoft.com/office/drawing/2014/main" id="{DEDE8078-A586-45DB-99C6-87483BA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2052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先问是否已经练习或完成作品，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只是未被当前来源记录。</a:t>
            </a:r>
          </a:p>
        </p:txBody>
      </p:sp>
      <p:sp>
        <p:nvSpPr>
          <p:cNvPr id="10" name="subhead-1383">
            <a:extLst xmlns:a="http://schemas.openxmlformats.org/drawingml/2006/main">
              <a:ext uri="{FF2B5EF4-FFF2-40B4-BE49-F238E27FC236}">
                <a16:creationId xmlns:a16="http://schemas.microsoft.com/office/drawing/2014/main" id="{DD63504D-FCFF-4397-9EC5-32C024B0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7699"/>
            <a:ext cx="51149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如果确实尚未完成</a:t>
            </a:r>
          </a:p>
        </p:txBody>
      </p:sp>
      <p:sp>
        <p:nvSpPr>
          <p:cNvPr id="11" name="text-1384">
            <a:extLst xmlns:a="http://schemas.openxmlformats.org/drawingml/2006/main">
              <a:ext uri="{FF2B5EF4-FFF2-40B4-BE49-F238E27FC236}">
                <a16:creationId xmlns:a16="http://schemas.microsoft.com/office/drawing/2014/main" id="{1077DF81-55BE-4285-AA37-7F26ED77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9951"/>
            <a:ext cx="51149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核实实际观看、练习与阻碍；目标有效时再比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较调整计划。</a:t>
            </a:r>
          </a:p>
        </p:txBody>
      </p:sp>
      <p:sp>
        <p:nvSpPr>
          <p:cNvPr id="12" name="subhead-1385">
            <a:extLst xmlns:a="http://schemas.openxmlformats.org/drawingml/2006/main">
              <a:ext uri="{FF2B5EF4-FFF2-40B4-BE49-F238E27FC236}">
                <a16:creationId xmlns:a16="http://schemas.microsoft.com/office/drawing/2014/main" id="{C6961BF4-A3C7-4181-AAE2-7CEEBD9D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如果作品在别处</a:t>
            </a:r>
          </a:p>
        </p:txBody>
      </p:sp>
      <p:sp>
        <p:nvSpPr>
          <p:cNvPr id="13" name="text-1386">
            <a:extLst xmlns:a="http://schemas.openxmlformats.org/drawingml/2006/main">
              <a:ext uri="{FF2B5EF4-FFF2-40B4-BE49-F238E27FC236}">
                <a16:creationId xmlns:a16="http://schemas.microsoft.com/office/drawing/2014/main" id="{5D57A100-31DC-4C37-828A-8B816B5C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2052"/>
            <a:ext cx="532447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补充来源，撤回无产出的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判断，评估是否改善采集。</a:t>
            </a:r>
          </a:p>
        </p:txBody>
      </p:sp>
      <p:sp>
        <p:nvSpPr>
          <p:cNvPr id="14" name="subhead-1387">
            <a:extLst xmlns:a="http://schemas.openxmlformats.org/drawingml/2006/main">
              <a:ext uri="{FF2B5EF4-FFF2-40B4-BE49-F238E27FC236}">
                <a16:creationId xmlns:a16="http://schemas.microsoft.com/office/drawing/2014/main" id="{E97D0664-B0A9-4D24-8239-0A592004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87699"/>
            <a:ext cx="532447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如果目标已暂缓</a:t>
            </a:r>
          </a:p>
        </p:txBody>
      </p:sp>
      <p:sp>
        <p:nvSpPr>
          <p:cNvPr id="15" name="text-1388">
            <a:extLst xmlns:a="http://schemas.openxmlformats.org/drawingml/2006/main">
              <a:ext uri="{FF2B5EF4-FFF2-40B4-BE49-F238E27FC236}">
                <a16:creationId xmlns:a16="http://schemas.microsoft.com/office/drawing/2014/main" id="{BC4F3637-70F0-4259-AC60-1A295073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9951"/>
            <a:ext cx="5324475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更新目标与建议状态；不继续用旧目标催促。</a:t>
            </a:r>
          </a:p>
        </p:txBody>
      </p:sp>
    </p:spTree>
    <p:extLst>
      <p:ext uri="{BB962C8B-B14F-4D97-AF65-F5344CB8AC3E}">
        <p14:creationId xmlns:p14="http://schemas.microsoft.com/office/powerpoint/2010/main" val="156579561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389">
            <a:extLst xmlns:a="http://schemas.openxmlformats.org/drawingml/2006/main">
              <a:ext uri="{FF2B5EF4-FFF2-40B4-BE49-F238E27FC236}">
                <a16:creationId xmlns:a16="http://schemas.microsoft.com/office/drawing/2014/main" id="{119A8F5F-F506-4AF5-AC42-2368100F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10 验证与推进</a:t>
            </a:r>
          </a:p>
        </p:txBody>
      </p:sp>
      <p:sp>
        <p:nvSpPr>
          <p:cNvPr id="2" name="slide-title-1390">
            <a:extLst xmlns:a="http://schemas.openxmlformats.org/drawingml/2006/main">
              <a:ext uri="{FF2B5EF4-FFF2-40B4-BE49-F238E27FC236}">
                <a16:creationId xmlns:a16="http://schemas.microsoft.com/office/drawing/2014/main" id="{25AF5E55-09D0-471F-8976-C46B8A56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验证分为系统正确与生活有用</a:t>
            </a:r>
          </a:p>
        </p:txBody>
      </p:sp>
      <p:sp>
        <p:nvSpPr>
          <p:cNvPr id="3" name="claim-1391">
            <a:extLst xmlns:a="http://schemas.openxmlformats.org/drawingml/2006/main">
              <a:ext uri="{FF2B5EF4-FFF2-40B4-BE49-F238E27FC236}">
                <a16:creationId xmlns:a16="http://schemas.microsoft.com/office/drawing/2014/main" id="{FBD09DFC-7618-4540-A7D9-AB7D19D7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程序测试通过，只说明它覆盖的规则未发现问题。</a:t>
            </a:r>
          </a:p>
        </p:txBody>
      </p:sp>
      <p:sp>
        <p:nvSpPr>
          <p:cNvPr id="4" name="box-1392">
            <a:extLst xmlns:a="http://schemas.openxmlformats.org/drawingml/2006/main">
              <a:ext uri="{FF2B5EF4-FFF2-40B4-BE49-F238E27FC236}">
                <a16:creationId xmlns:a16="http://schemas.microsoft.com/office/drawing/2014/main" id="{E8A82059-4F5A-44AC-A953-B3D1556A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393">
            <a:extLst xmlns:a="http://schemas.openxmlformats.org/drawingml/2006/main">
              <a:ext uri="{FF2B5EF4-FFF2-40B4-BE49-F238E27FC236}">
                <a16:creationId xmlns:a16="http://schemas.microsoft.com/office/drawing/2014/main" id="{0EB2FC7B-605A-4A82-A6E3-C30FA56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394">
            <a:extLst xmlns:a="http://schemas.openxmlformats.org/drawingml/2006/main">
              <a:ext uri="{FF2B5EF4-FFF2-40B4-BE49-F238E27FC236}">
                <a16:creationId xmlns:a16="http://schemas.microsoft.com/office/drawing/2014/main" id="{420CDFB0-0D04-4CF6-912A-ADC23992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395">
            <a:extLst xmlns:a="http://schemas.openxmlformats.org/drawingml/2006/main">
              <a:ext uri="{FF2B5EF4-FFF2-40B4-BE49-F238E27FC236}">
                <a16:creationId xmlns:a16="http://schemas.microsoft.com/office/drawing/2014/main" id="{A5D9FC1C-6938-4678-8065-94D3B2C7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87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591050"/>
              </a:tblGrid>
              <a:tr h="7235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验证层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应该检查什么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不能据此宣称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6892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结构与核算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字段、版本、资源去重与硬约束检查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事实真实、建议一定正确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6354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协作与执行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输入匹配、授权、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验收、重试与状态记录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消息送达等于接受或完成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96354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服务质量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抽取准确、问题必要、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提醒及时与维护负担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活跃越高，人生改善越多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6892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生活结果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用户目标进展、跨域后果与实际代价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一次前后变化证明系统因果效果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97727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396">
            <a:extLst xmlns:a="http://schemas.openxmlformats.org/drawingml/2006/main">
              <a:ext uri="{FF2B5EF4-FFF2-40B4-BE49-F238E27FC236}">
                <a16:creationId xmlns:a16="http://schemas.microsoft.com/office/drawing/2014/main" id="{BD7F9A59-C8F6-4A10-95B1-ADF1616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10 验证与推进</a:t>
            </a:r>
          </a:p>
        </p:txBody>
      </p:sp>
      <p:sp>
        <p:nvSpPr>
          <p:cNvPr id="2" name="slide-title-1397">
            <a:extLst xmlns:a="http://schemas.openxmlformats.org/drawingml/2006/main">
              <a:ext uri="{FF2B5EF4-FFF2-40B4-BE49-F238E27FC236}">
                <a16:creationId xmlns:a16="http://schemas.microsoft.com/office/drawing/2014/main" id="{91D9FE21-D99A-413A-9A1E-C4A61AEA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实施顺序由验证结果推进</a:t>
            </a:r>
          </a:p>
        </p:txBody>
      </p:sp>
      <p:sp>
        <p:nvSpPr>
          <p:cNvPr id="3" name="claim-1398">
            <a:extLst xmlns:a="http://schemas.openxmlformats.org/drawingml/2006/main">
              <a:ext uri="{FF2B5EF4-FFF2-40B4-BE49-F238E27FC236}">
                <a16:creationId xmlns:a16="http://schemas.microsoft.com/office/drawing/2014/main" id="{5AB3C96F-1EBD-41FA-AFCC-18097B85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每次扩展，都需要先验证收益和新增维护成本。</a:t>
            </a:r>
          </a:p>
        </p:txBody>
      </p:sp>
      <p:sp>
        <p:nvSpPr>
          <p:cNvPr id="4" name="box-1399">
            <a:extLst xmlns:a="http://schemas.openxmlformats.org/drawingml/2006/main">
              <a:ext uri="{FF2B5EF4-FFF2-40B4-BE49-F238E27FC236}">
                <a16:creationId xmlns:a16="http://schemas.microsoft.com/office/drawing/2014/main" id="{E47C9A28-EE44-4866-AF45-BF531FE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400">
            <a:extLst xmlns:a="http://schemas.openxmlformats.org/drawingml/2006/main">
              <a:ext uri="{FF2B5EF4-FFF2-40B4-BE49-F238E27FC236}">
                <a16:creationId xmlns:a16="http://schemas.microsoft.com/office/drawing/2014/main" id="{31BFDED7-398A-4A68-956E-9F00A07D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401">
            <a:extLst xmlns:a="http://schemas.openxmlformats.org/drawingml/2006/main">
              <a:ext uri="{FF2B5EF4-FFF2-40B4-BE49-F238E27FC236}">
                <a16:creationId xmlns:a16="http://schemas.microsoft.com/office/drawing/2014/main" id="{9AF62DA7-2C43-4F2C-B95E-3429372B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402">
            <a:extLst xmlns:a="http://schemas.openxmlformats.org/drawingml/2006/main">
              <a:ext uri="{FF2B5EF4-FFF2-40B4-BE49-F238E27FC236}">
                <a16:creationId xmlns:a16="http://schemas.microsoft.com/office/drawing/2014/main" id="{2B28C201-A022-472D-811B-9FDD55DE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88 / 91</a:t>
            </a:r>
          </a:p>
        </p:txBody>
      </p:sp>
      <p:sp>
        <p:nvSpPr>
          <p:cNvPr id="8" name="text-1403">
            <a:extLst xmlns:a="http://schemas.openxmlformats.org/drawingml/2006/main">
              <a:ext uri="{FF2B5EF4-FFF2-40B4-BE49-F238E27FC236}">
                <a16:creationId xmlns:a16="http://schemas.microsoft.com/office/drawing/2014/main" id="{EBC8FE43-FA4B-4263-8553-38218FFE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01</a:t>
            </a:r>
          </a:p>
        </p:txBody>
      </p:sp>
      <p:sp>
        <p:nvSpPr>
          <p:cNvPr id="9" name="box-1404">
            <a:extLst xmlns:a="http://schemas.openxmlformats.org/drawingml/2006/main">
              <a:ext uri="{FF2B5EF4-FFF2-40B4-BE49-F238E27FC236}">
                <a16:creationId xmlns:a16="http://schemas.microsoft.com/office/drawing/2014/main" id="{33A82337-CFE8-4445-8C50-674B1E6A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0" name="text-1405">
            <a:extLst xmlns:a="http://schemas.openxmlformats.org/drawingml/2006/main">
              <a:ext uri="{FF2B5EF4-FFF2-40B4-BE49-F238E27FC236}">
                <a16:creationId xmlns:a16="http://schemas.microsoft.com/office/drawing/2014/main" id="{AFEDAE1C-46BE-46C2-A613-0EBF9D70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阶段一：可用方法</a:t>
            </a:r>
          </a:p>
        </p:txBody>
      </p:sp>
      <p:sp>
        <p:nvSpPr>
          <p:cNvPr id="11" name="text-1406">
            <a:extLst xmlns:a="http://schemas.openxmlformats.org/drawingml/2006/main">
              <a:ext uri="{FF2B5EF4-FFF2-40B4-BE49-F238E27FC236}">
                <a16:creationId xmlns:a16="http://schemas.microsoft.com/office/drawing/2014/main" id="{A9794FA1-DBA3-4014-824F-4F34D3A8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用现有Skill、模板和核算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工具，完成一个真实问题。</a:t>
            </a:r>
          </a:p>
        </p:txBody>
      </p:sp>
      <p:sp>
        <p:nvSpPr>
          <p:cNvPr id="12" name="text-1407">
            <a:extLst xmlns:a="http://schemas.openxmlformats.org/drawingml/2006/main">
              <a:ext uri="{FF2B5EF4-FFF2-40B4-BE49-F238E27FC236}">
                <a16:creationId xmlns:a16="http://schemas.microsoft.com/office/drawing/2014/main" id="{61D822EA-A368-488F-87A7-4EC89E1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13" name="box-1408">
            <a:extLst xmlns:a="http://schemas.openxmlformats.org/drawingml/2006/main">
              <a:ext uri="{FF2B5EF4-FFF2-40B4-BE49-F238E27FC236}">
                <a16:creationId xmlns:a16="http://schemas.microsoft.com/office/drawing/2014/main" id="{275F4BDD-5CBB-487F-8B3B-CD1E6067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4" name="text-1409">
            <a:extLst xmlns:a="http://schemas.openxmlformats.org/drawingml/2006/main">
              <a:ext uri="{FF2B5EF4-FFF2-40B4-BE49-F238E27FC236}">
                <a16:creationId xmlns:a16="http://schemas.microsoft.com/office/drawing/2014/main" id="{68CE1C23-4F6C-42FD-A6CB-A3460532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阶段二：可持续运行</a:t>
            </a:r>
          </a:p>
        </p:txBody>
      </p:sp>
      <p:sp>
        <p:nvSpPr>
          <p:cNvPr id="15" name="text-1410">
            <a:extLst xmlns:a="http://schemas.openxmlformats.org/drawingml/2006/main">
              <a:ext uri="{FF2B5EF4-FFF2-40B4-BE49-F238E27FC236}">
                <a16:creationId xmlns:a16="http://schemas.microsoft.com/office/drawing/2014/main" id="{E4186BEA-8DF4-46E7-9D8B-DE854F89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连接选定来源、持久状态、触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发与通知，跑通完整闭环。</a:t>
            </a:r>
          </a:p>
        </p:txBody>
      </p:sp>
      <p:sp>
        <p:nvSpPr>
          <p:cNvPr id="16" name="text-1411">
            <a:extLst xmlns:a="http://schemas.openxmlformats.org/drawingml/2006/main">
              <a:ext uri="{FF2B5EF4-FFF2-40B4-BE49-F238E27FC236}">
                <a16:creationId xmlns:a16="http://schemas.microsoft.com/office/drawing/2014/main" id="{D73BBD27-C0FE-4C6B-9F2D-0BC7F8E9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28850"/>
            <a:ext cx="3286125" cy="652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90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17" name="box-1412">
            <a:extLst xmlns:a="http://schemas.openxmlformats.org/drawingml/2006/main">
              <a:ext uri="{FF2B5EF4-FFF2-40B4-BE49-F238E27FC236}">
                <a16:creationId xmlns:a16="http://schemas.microsoft.com/office/drawing/2014/main" id="{1FD55C26-1272-4AA3-BF89-02D84254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099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18" name="text-1413">
            <a:extLst xmlns:a="http://schemas.openxmlformats.org/drawingml/2006/main">
              <a:ext uri="{FF2B5EF4-FFF2-40B4-BE49-F238E27FC236}">
                <a16:creationId xmlns:a16="http://schemas.microsoft.com/office/drawing/2014/main" id="{4AF18B60-3B34-4CC1-89D7-DCA4EFA8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05175"/>
            <a:ext cx="3286125" cy="416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阶段三：可复制产品</a:t>
            </a:r>
          </a:p>
        </p:txBody>
      </p:sp>
      <p:sp>
        <p:nvSpPr>
          <p:cNvPr id="19" name="text-1414">
            <a:extLst xmlns:a="http://schemas.openxmlformats.org/drawingml/2006/main">
              <a:ext uri="{FF2B5EF4-FFF2-40B4-BE49-F238E27FC236}">
                <a16:creationId xmlns:a16="http://schemas.microsoft.com/office/drawing/2014/main" id="{4E0257D5-8D25-4BE1-9B57-2E6B03AC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在不同用户任务中检验可靠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性、维护负担与实际价值。</a:t>
            </a:r>
          </a:p>
        </p:txBody>
      </p:sp>
    </p:spTree>
    <p:extLst>
      <p:ext uri="{BB962C8B-B14F-4D97-AF65-F5344CB8AC3E}">
        <p14:creationId xmlns:p14="http://schemas.microsoft.com/office/powerpoint/2010/main" val="78212928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415">
            <a:extLst xmlns:a="http://schemas.openxmlformats.org/drawingml/2006/main">
              <a:ext uri="{FF2B5EF4-FFF2-40B4-BE49-F238E27FC236}">
                <a16:creationId xmlns:a16="http://schemas.microsoft.com/office/drawing/2014/main" id="{ACA096AF-22F1-4597-A879-79CBDDE5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参考资料</a:t>
            </a:r>
          </a:p>
        </p:txBody>
      </p:sp>
      <p:sp>
        <p:nvSpPr>
          <p:cNvPr id="2" name="slide-title-1416">
            <a:extLst xmlns:a="http://schemas.openxmlformats.org/drawingml/2006/main">
              <a:ext uri="{FF2B5EF4-FFF2-40B4-BE49-F238E27FC236}">
                <a16:creationId xmlns:a16="http://schemas.microsoft.com/office/drawing/2014/main" id="{F5E51D86-F46A-449A-B599-F9EEA897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理论参考与应用边界</a:t>
            </a:r>
          </a:p>
        </p:txBody>
      </p:sp>
      <p:sp>
        <p:nvSpPr>
          <p:cNvPr id="3" name="claim-1417">
            <a:extLst xmlns:a="http://schemas.openxmlformats.org/drawingml/2006/main">
              <a:ext uri="{FF2B5EF4-FFF2-40B4-BE49-F238E27FC236}">
                <a16:creationId xmlns:a16="http://schemas.microsoft.com/office/drawing/2014/main" id="{231A04BA-4F69-46AF-A81B-569B0AE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来源支持基础思想；本项目的分类与运行规则由设计自行提出。</a:t>
            </a:r>
          </a:p>
        </p:txBody>
      </p:sp>
      <p:sp>
        <p:nvSpPr>
          <p:cNvPr id="4" name="box-1418">
            <a:extLst xmlns:a="http://schemas.openxmlformats.org/drawingml/2006/main">
              <a:ext uri="{FF2B5EF4-FFF2-40B4-BE49-F238E27FC236}">
                <a16:creationId xmlns:a16="http://schemas.microsoft.com/office/drawing/2014/main" id="{42F4ED57-5D4E-4C5E-A3EC-DF24861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419">
            <a:extLst xmlns:a="http://schemas.openxmlformats.org/drawingml/2006/main">
              <a:ext uri="{FF2B5EF4-FFF2-40B4-BE49-F238E27FC236}">
                <a16:creationId xmlns:a16="http://schemas.microsoft.com/office/drawing/2014/main" id="{7445D024-17C1-4CE3-A144-97066F97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420">
            <a:extLst xmlns:a="http://schemas.openxmlformats.org/drawingml/2006/main">
              <a:ext uri="{FF2B5EF4-FFF2-40B4-BE49-F238E27FC236}">
                <a16:creationId xmlns:a16="http://schemas.microsoft.com/office/drawing/2014/main" id="{0B121A86-D1B2-4087-974D-A924271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421">
            <a:extLst xmlns:a="http://schemas.openxmlformats.org/drawingml/2006/main">
              <a:ext uri="{FF2B5EF4-FFF2-40B4-BE49-F238E27FC236}">
                <a16:creationId xmlns:a16="http://schemas.microsoft.com/office/drawing/2014/main" id="{D5169F0C-65E7-4E34-808F-4BEABC2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89 / 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9E73C-120B-4D4C-A6FA-965629E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  <a:hlinkClick xmlns:r="http://schemas.openxmlformats.org/officeDocument/2006/relationships" r:id="R8b92d167a0184fa6"/>
              </a:rPr>
              <a:t>钱学森《再谈开放的复杂巨系统》</a:t>
            </a:r>
          </a:p>
        </p:txBody>
      </p:sp>
      <p:sp>
        <p:nvSpPr>
          <p:cNvPr id="9" name="text-1422">
            <a:extLst xmlns:a="http://schemas.openxmlformats.org/drawingml/2006/main">
              <a:ext uri="{FF2B5EF4-FFF2-40B4-BE49-F238E27FC236}">
                <a16:creationId xmlns:a16="http://schemas.microsoft.com/office/drawing/2014/main" id="{108C4FE3-99B5-41B7-AA9C-B99BCFC5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上海理工大学转载正文；参考具体资料、人机结合与实践修正。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A81A4-D2CC-4208-AF3C-234381B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  <a:hlinkClick xmlns:r="http://schemas.openxmlformats.org/officeDocument/2006/relationships" r:id="Rc40e4f5758e7494d"/>
              </a:rPr>
              <a:t>NASA Systems Engineering Handbook，第2章</a:t>
            </a:r>
          </a:p>
        </p:txBody>
      </p:sp>
      <p:sp>
        <p:nvSpPr>
          <p:cNvPr id="11" name="text-1423">
            <a:extLst xmlns:a="http://schemas.openxmlformats.org/drawingml/2006/main">
              <a:ext uri="{FF2B5EF4-FFF2-40B4-BE49-F238E27FC236}">
                <a16:creationId xmlns:a16="http://schemas.microsoft.com/office/drawing/2014/main" id="{C5AD1986-712E-4061-A26E-8AF6326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参考整体协调，以及验证与确认的区分。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16155-D2E6-49E4-8C4D-9A0D374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  <a:hlinkClick xmlns:r="http://schemas.openxmlformats.org/officeDocument/2006/relationships" r:id="Rcb67b1b5dcb6453b"/>
              </a:rPr>
              <a:t>NASA Systems Engineering Handbook，第6章</a:t>
            </a:r>
          </a:p>
        </p:txBody>
      </p:sp>
      <p:sp>
        <p:nvSpPr>
          <p:cNvPr id="13" name="text-1424">
            <a:extLst xmlns:a="http://schemas.openxmlformats.org/drawingml/2006/main">
              <a:ext uri="{FF2B5EF4-FFF2-40B4-BE49-F238E27FC236}">
                <a16:creationId xmlns:a16="http://schemas.microsoft.com/office/drawing/2014/main" id="{1BDA4E7D-E959-426C-A267-738955B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参考接口、变化与跨领域技术管理。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7BEF5-D8CD-468D-B5CE-588DBDD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175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  <a:hlinkClick xmlns:r="http://schemas.openxmlformats.org/officeDocument/2006/relationships" r:id="R5d3cd260ad754fe8"/>
              </a:rPr>
              <a:t>MIT 6.241J Dynamic Systems and Control</a:t>
            </a:r>
          </a:p>
        </p:txBody>
      </p:sp>
      <p:sp>
        <p:nvSpPr>
          <p:cNvPr id="15" name="text-1425">
            <a:extLst xmlns:a="http://schemas.openxmlformats.org/drawingml/2006/main">
              <a:ext uri="{FF2B5EF4-FFF2-40B4-BE49-F238E27FC236}">
                <a16:creationId xmlns:a16="http://schemas.microsoft.com/office/drawing/2014/main" id="{1F7F35B8-E5E1-41C5-BAB7-FD22CB5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课程阅读资料用于定位现代控制知识；不构成人生最优性证明。</a:t>
            </a:r>
          </a:p>
        </p:txBody>
      </p:sp>
    </p:spTree>
    <p:extLst>
      <p:ext uri="{BB962C8B-B14F-4D97-AF65-F5344CB8AC3E}">
        <p14:creationId xmlns:p14="http://schemas.microsoft.com/office/powerpoint/2010/main" val="189956782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426">
            <a:extLst xmlns:a="http://schemas.openxmlformats.org/drawingml/2006/main">
              <a:ext uri="{FF2B5EF4-FFF2-40B4-BE49-F238E27FC236}">
                <a16:creationId xmlns:a16="http://schemas.microsoft.com/office/drawing/2014/main" id="{70A0A546-08EB-47B3-8EAC-AE99B9DC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参考资料</a:t>
            </a:r>
          </a:p>
        </p:txBody>
      </p:sp>
      <p:sp>
        <p:nvSpPr>
          <p:cNvPr id="2" name="slide-title-1427">
            <a:extLst xmlns:a="http://schemas.openxmlformats.org/drawingml/2006/main">
              <a:ext uri="{FF2B5EF4-FFF2-40B4-BE49-F238E27FC236}">
                <a16:creationId xmlns:a16="http://schemas.microsoft.com/office/drawing/2014/main" id="{81564F11-7116-481A-9764-FB5884CD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36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现有设计文件构成系统说明依据</a:t>
            </a:r>
          </a:p>
        </p:txBody>
      </p:sp>
      <p:sp>
        <p:nvSpPr>
          <p:cNvPr id="3" name="claim-1428">
            <a:extLst xmlns:a="http://schemas.openxmlformats.org/drawingml/2006/main">
              <a:ext uri="{FF2B5EF4-FFF2-40B4-BE49-F238E27FC236}">
                <a16:creationId xmlns:a16="http://schemas.microsoft.com/office/drawing/2014/main" id="{8D5BBC6F-0F1E-462D-B8AD-4B9CB6E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95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以下为本项目内部设计材料，知识模块页面也在备注中标注对应文件。</a:t>
            </a:r>
          </a:p>
        </p:txBody>
      </p:sp>
      <p:sp>
        <p:nvSpPr>
          <p:cNvPr id="4" name="box-1429">
            <a:extLst xmlns:a="http://schemas.openxmlformats.org/drawingml/2006/main">
              <a:ext uri="{FF2B5EF4-FFF2-40B4-BE49-F238E27FC236}">
                <a16:creationId xmlns:a16="http://schemas.microsoft.com/office/drawing/2014/main" id="{0891E17F-1017-479C-8474-0C67473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5" name="box-1430">
            <a:extLst xmlns:a="http://schemas.openxmlformats.org/drawingml/2006/main">
              <a:ext uri="{FF2B5EF4-FFF2-40B4-BE49-F238E27FC236}">
                <a16:creationId xmlns:a16="http://schemas.microsoft.com/office/drawing/2014/main" id="{6DF2C671-89F1-40F5-9F6E-6525D2F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6" name="footer-1431">
            <a:extLst xmlns:a="http://schemas.openxmlformats.org/drawingml/2006/main">
              <a:ext uri="{FF2B5EF4-FFF2-40B4-BE49-F238E27FC236}">
                <a16:creationId xmlns:a16="http://schemas.microsoft.com/office/drawing/2014/main" id="{6173B4F8-36D2-4262-B280-3A22250E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7" name="footer-1432">
            <a:extLst xmlns:a="http://schemas.openxmlformats.org/drawingml/2006/main">
              <a:ext uri="{FF2B5EF4-FFF2-40B4-BE49-F238E27FC236}">
                <a16:creationId xmlns:a16="http://schemas.microsoft.com/office/drawing/2014/main" id="{0CD5E513-4C7E-482B-AA68-F29749A3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90 / 91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87477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86675"/>
              </a:tblGrid>
              <a:tr h="56292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设计文件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覆盖内容</a:t>
                      </a:r>
                    </a:p>
                  </a:txBody>
                  <a:tcPr marL="133350" marR="133350" marT="114300" marB="114300">
                    <a:solidFill>
                      <a:srgbClr val="F0F1F2"/>
                    </a:solidFill>
                  </a:tcPr>
                </a:tc>
              </a:tr>
              <a:tr h="80295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《人生总控架构》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《人生领域协议》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4.0整体结构、9领域、资源与跨域接口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80295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《决策引擎》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《状态记录规则》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3.0八阶段、三状态、版本与回退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80295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M01—M23模块卡、</a:t>
                      </a:r>
                    </a:p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能力范围与方法总览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知识范围、方法、产物、适用条件与边界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《协作契约》《复核角色》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真实派工、产物验收、反例与复核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《人生系统主动服务协议》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触发、授权读取、补问、建议、通知与双层反馈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09425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433">
            <a:extLst xmlns:a="http://schemas.openxmlformats.org/drawingml/2006/main">
              <a:ext uri="{FF2B5EF4-FFF2-40B4-BE49-F238E27FC236}">
                <a16:creationId xmlns:a16="http://schemas.microsoft.com/office/drawing/2014/main" id="{7AADEF6D-33CE-4D3C-8B42-13D4227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5725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1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系统设计说明</a:t>
            </a:r>
          </a:p>
        </p:txBody>
      </p:sp>
      <p:sp>
        <p:nvSpPr>
          <p:cNvPr id="2" name="box-1434">
            <a:extLst xmlns:a="http://schemas.openxmlformats.org/drawingml/2006/main">
              <a:ext uri="{FF2B5EF4-FFF2-40B4-BE49-F238E27FC236}">
                <a16:creationId xmlns:a16="http://schemas.microsoft.com/office/drawing/2014/main" id="{8EB34FA5-5C01-4A57-8423-374D463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1"/>
          </a:solidFill>
          <a:ln xmlns:a="http://schemas.openxmlformats.org/drawingml/2006/main" w="0">
            <a:noFill/>
          </a:ln>
        </p:spPr>
      </p:sp>
      <p:sp>
        <p:nvSpPr>
          <p:cNvPr id="3" name="footer-1435">
            <a:extLst xmlns:a="http://schemas.openxmlformats.org/drawingml/2006/main">
              <a:ext uri="{FF2B5EF4-FFF2-40B4-BE49-F238E27FC236}">
                <a16:creationId xmlns:a16="http://schemas.microsoft.com/office/drawing/2014/main" id="{87C11D30-0230-4680-95FD-C641F1B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7155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人生管理系统 4.0  ·  设计说明</a:t>
            </a:r>
          </a:p>
        </p:txBody>
      </p:sp>
      <p:sp>
        <p:nvSpPr>
          <p:cNvPr id="4" name="footer-1436">
            <a:extLst xmlns:a="http://schemas.openxmlformats.org/drawingml/2006/main">
              <a:ext uri="{FF2B5EF4-FFF2-40B4-BE49-F238E27FC236}">
                <a16:creationId xmlns:a16="http://schemas.microsoft.com/office/drawing/2014/main" id="{20A99945-0337-48EF-8DAE-3AB613B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43675"/>
            <a:ext cx="866775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200" b="0">
                <a:solidFill>
                  <a:srgbClr val="555D66"/>
                </a:solidFill>
                <a:latin typeface="Droid Sans Fallback"/>
                <a:ea typeface="Droid Sans Fallback"/>
                <a:cs typeface="Droid Sans Fallback"/>
              </a:rPr>
              <a:t>91 / 91</a:t>
            </a:r>
          </a:p>
        </p:txBody>
      </p:sp>
      <p:sp>
        <p:nvSpPr>
          <p:cNvPr id="5" name="deck-close-1437">
            <a:extLst xmlns:a="http://schemas.openxmlformats.org/drawingml/2006/main">
              <a:ext uri="{FF2B5EF4-FFF2-40B4-BE49-F238E27FC236}">
                <a16:creationId xmlns:a16="http://schemas.microsoft.com/office/drawing/2014/main" id="{F5D296C2-F6EB-488C-8A52-8284C33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42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4200" b="1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让下一步更清楚，让修正有依据</a:t>
            </a:r>
          </a:p>
        </p:txBody>
      </p:sp>
      <p:sp>
        <p:nvSpPr>
          <p:cNvPr id="6" name="text-1438">
            <a:extLst xmlns:a="http://schemas.openxmlformats.org/drawingml/2006/main">
              <a:ext uri="{FF2B5EF4-FFF2-40B4-BE49-F238E27FC236}">
                <a16:creationId xmlns:a16="http://schemas.microsoft.com/office/drawing/2014/main" id="{F5B2582D-413B-4036-92F7-3829312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19175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5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你定义值得追求的生活。系统帮助看清事实、协调资源、形成选择，并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25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5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从真实结果中学习。</a:t>
            </a:r>
          </a:p>
        </p:txBody>
      </p:sp>
      <p:sp>
        <p:nvSpPr>
          <p:cNvPr id="7" name="text-1439">
            <a:extLst xmlns:a="http://schemas.openxmlformats.org/drawingml/2006/main">
              <a:ext uri="{FF2B5EF4-FFF2-40B4-BE49-F238E27FC236}">
                <a16:creationId xmlns:a16="http://schemas.microsoft.com/office/drawing/2014/main" id="{DB802340-D666-495E-805C-2741C63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0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2865C7"/>
                </a:solidFill>
                <a:latin typeface="Droid Sans Fallback"/>
                <a:ea typeface="Droid Sans Fallback"/>
                <a:cs typeface="Droid Sans Fallback"/>
              </a:rPr>
              <a:t>一个总控协调整体  ·  9个领域维护生活结果  ·  23个模块提供具体能力  ·  八阶段决策连接行动与反馈</a:t>
            </a:r>
          </a:p>
        </p:txBody>
      </p:sp>
    </p:spTree>
    <p:extLst>
      <p:ext uri="{BB962C8B-B14F-4D97-AF65-F5344CB8AC3E}">
        <p14:creationId xmlns:p14="http://schemas.microsoft.com/office/powerpoint/2010/main" val="336388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2026-09-05T18:12:33.0350000Z</dcterms:created>
  <dcterms:modified xsi:type="dcterms:W3CDTF">2026-09-05T18:12:33.0350000Z</dcterms:modified>
</coreProperties>
</file>