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a2f78119f34d98" /><Relationship Type="http://schemas.openxmlformats.org/officeDocument/2006/relationships/extended-properties" Target="/docProps/app.xml" Id="R636d7046df9d480c" /><Relationship Type="http://schemas.openxmlformats.org/officeDocument/2006/relationships/officeDocument" Target="/ppt/presentation.xml" Id="R3d7bbf28ef91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1ef225ffd4af0"/>
  </p:sldMasterIdLst>
  <p:notesMasterIdLst>
    <p:notesMasterId xmlns:r="http://schemas.openxmlformats.org/officeDocument/2006/relationships" r:id="R7700a8ff8d7541cf"/>
  </p:notesMasterIdLst>
  <p:sldIdLst>
    <p:sldId xmlns:r="http://schemas.openxmlformats.org/officeDocument/2006/relationships" id="256" r:id="Rb407500366044f9d"/>
    <p:sldId xmlns:r="http://schemas.openxmlformats.org/officeDocument/2006/relationships" id="257" r:id="R183880ae7f124525"/>
    <p:sldId xmlns:r="http://schemas.openxmlformats.org/officeDocument/2006/relationships" id="258" r:id="Rc80a086111c2460c"/>
    <p:sldId xmlns:r="http://schemas.openxmlformats.org/officeDocument/2006/relationships" id="259" r:id="R5ef7516ebcf04d85"/>
    <p:sldId xmlns:r="http://schemas.openxmlformats.org/officeDocument/2006/relationships" id="260" r:id="Ra719e2d6421d4ba2"/>
    <p:sldId xmlns:r="http://schemas.openxmlformats.org/officeDocument/2006/relationships" id="261" r:id="R3e722cff6348407c"/>
    <p:sldId xmlns:r="http://schemas.openxmlformats.org/officeDocument/2006/relationships" id="262" r:id="R0c09ec83b54b434c"/>
    <p:sldId xmlns:r="http://schemas.openxmlformats.org/officeDocument/2006/relationships" id="263" r:id="Rb6b450007f024706"/>
    <p:sldId xmlns:r="http://schemas.openxmlformats.org/officeDocument/2006/relationships" id="264" r:id="Rcdfc84097d934d02"/>
    <p:sldId xmlns:r="http://schemas.openxmlformats.org/officeDocument/2006/relationships" id="265" r:id="Rf1884505da494087"/>
    <p:sldId xmlns:r="http://schemas.openxmlformats.org/officeDocument/2006/relationships" id="266" r:id="Rfbff679aa9ad406a"/>
    <p:sldId xmlns:r="http://schemas.openxmlformats.org/officeDocument/2006/relationships" id="267" r:id="Rfa6f58b8a86f40a6"/>
    <p:sldId xmlns:r="http://schemas.openxmlformats.org/officeDocument/2006/relationships" id="268" r:id="R45e85f392a39438e"/>
    <p:sldId xmlns:r="http://schemas.openxmlformats.org/officeDocument/2006/relationships" id="269" r:id="R073c729572ff4bbc"/>
    <p:sldId xmlns:r="http://schemas.openxmlformats.org/officeDocument/2006/relationships" id="270" r:id="R238c62d43f80441d"/>
    <p:sldId xmlns:r="http://schemas.openxmlformats.org/officeDocument/2006/relationships" id="271" r:id="R850342fb0cbd44aa"/>
    <p:sldId xmlns:r="http://schemas.openxmlformats.org/officeDocument/2006/relationships" id="272" r:id="Rfaf4da14c9914cd0"/>
    <p:sldId xmlns:r="http://schemas.openxmlformats.org/officeDocument/2006/relationships" id="273" r:id="R78b9128c9c134061"/>
    <p:sldId xmlns:r="http://schemas.openxmlformats.org/officeDocument/2006/relationships" id="274" r:id="R20c203dd3bd04363"/>
    <p:sldId xmlns:r="http://schemas.openxmlformats.org/officeDocument/2006/relationships" id="275" r:id="R66632ca69d6e4c9d"/>
    <p:sldId xmlns:r="http://schemas.openxmlformats.org/officeDocument/2006/relationships" id="276" r:id="Rb1c9fb476db44c68"/>
    <p:sldId xmlns:r="http://schemas.openxmlformats.org/officeDocument/2006/relationships" id="277" r:id="Recadd01b89d24bc7"/>
    <p:sldId xmlns:r="http://schemas.openxmlformats.org/officeDocument/2006/relationships" id="278" r:id="Rad7e7978eecd4e6c"/>
    <p:sldId xmlns:r="http://schemas.openxmlformats.org/officeDocument/2006/relationships" id="279" r:id="R961b4c6e41874b1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addc1703e4e5c" /><Relationship Type="http://schemas.openxmlformats.org/officeDocument/2006/relationships/slideMaster" Target="/ppt/slideMasters/slideMaster1.xml" Id="R69d1ef225ffd4af0" /><Relationship Type="http://schemas.openxmlformats.org/officeDocument/2006/relationships/notesMaster" Target="/ppt/notesMasters/notesMaster1.xml" Id="R7700a8ff8d7541cf" /><Relationship Type="http://schemas.openxmlformats.org/officeDocument/2006/relationships/presProps" Target="/ppt/presProps.xml" Id="R4b9df9db364f4944" /><Relationship Type="http://schemas.openxmlformats.org/officeDocument/2006/relationships/tableStyles" Target="/ppt/tableStyles.xml" Id="Rc584bd48bdc842da" /><Relationship Type="http://schemas.openxmlformats.org/officeDocument/2006/relationships/slide" Target="/ppt/slides/slide1.xml" Id="Rb407500366044f9d" /><Relationship Type="http://schemas.openxmlformats.org/officeDocument/2006/relationships/slide" Target="/ppt/slides/slide2.xml" Id="R183880ae7f124525" /><Relationship Type="http://schemas.openxmlformats.org/officeDocument/2006/relationships/slide" Target="/ppt/slides/slide3.xml" Id="Rc80a086111c2460c" /><Relationship Type="http://schemas.openxmlformats.org/officeDocument/2006/relationships/slide" Target="/ppt/slides/slide4.xml" Id="R5ef7516ebcf04d85" /><Relationship Type="http://schemas.openxmlformats.org/officeDocument/2006/relationships/slide" Target="/ppt/slides/slide5.xml" Id="Ra719e2d6421d4ba2" /><Relationship Type="http://schemas.openxmlformats.org/officeDocument/2006/relationships/slide" Target="/ppt/slides/slide6.xml" Id="R3e722cff6348407c" /><Relationship Type="http://schemas.openxmlformats.org/officeDocument/2006/relationships/slide" Target="/ppt/slides/slide7.xml" Id="R0c09ec83b54b434c" /><Relationship Type="http://schemas.openxmlformats.org/officeDocument/2006/relationships/slide" Target="/ppt/slides/slide8.xml" Id="Rb6b450007f024706" /><Relationship Type="http://schemas.openxmlformats.org/officeDocument/2006/relationships/slide" Target="/ppt/slides/slide9.xml" Id="Rcdfc84097d934d02" /><Relationship Type="http://schemas.openxmlformats.org/officeDocument/2006/relationships/slide" Target="/ppt/slides/slide10.xml" Id="Rf1884505da494087" /><Relationship Type="http://schemas.openxmlformats.org/officeDocument/2006/relationships/slide" Target="/ppt/slides/slide11.xml" Id="Rfbff679aa9ad406a" /><Relationship Type="http://schemas.openxmlformats.org/officeDocument/2006/relationships/slide" Target="/ppt/slides/slide12.xml" Id="Rfa6f58b8a86f40a6" /><Relationship Type="http://schemas.openxmlformats.org/officeDocument/2006/relationships/slide" Target="/ppt/slides/slide13.xml" Id="R45e85f392a39438e" /><Relationship Type="http://schemas.openxmlformats.org/officeDocument/2006/relationships/slide" Target="/ppt/slides/slide14.xml" Id="R073c729572ff4bbc" /><Relationship Type="http://schemas.openxmlformats.org/officeDocument/2006/relationships/slide" Target="/ppt/slides/slide15.xml" Id="R238c62d43f80441d" /><Relationship Type="http://schemas.openxmlformats.org/officeDocument/2006/relationships/slide" Target="/ppt/slides/slide16.xml" Id="R850342fb0cbd44aa" /><Relationship Type="http://schemas.openxmlformats.org/officeDocument/2006/relationships/slide" Target="/ppt/slides/slide17.xml" Id="Rfaf4da14c9914cd0" /><Relationship Type="http://schemas.openxmlformats.org/officeDocument/2006/relationships/slide" Target="/ppt/slides/slide18.xml" Id="R78b9128c9c134061" /><Relationship Type="http://schemas.openxmlformats.org/officeDocument/2006/relationships/slide" Target="/ppt/slides/slide19.xml" Id="R20c203dd3bd04363" /><Relationship Type="http://schemas.openxmlformats.org/officeDocument/2006/relationships/slide" Target="/ppt/slides/slide20.xml" Id="R66632ca69d6e4c9d" /><Relationship Type="http://schemas.openxmlformats.org/officeDocument/2006/relationships/slide" Target="/ppt/slides/slide21.xml" Id="Rb1c9fb476db44c68" /><Relationship Type="http://schemas.openxmlformats.org/officeDocument/2006/relationships/slide" Target="/ppt/slides/slide22.xml" Id="Recadd01b89d24bc7" /><Relationship Type="http://schemas.openxmlformats.org/officeDocument/2006/relationships/slide" Target="/ppt/slides/slide23.xml" Id="Rad7e7978eecd4e6c" /><Relationship Type="http://schemas.openxmlformats.org/officeDocument/2006/relationships/slide" Target="/ppt/slides/slide24.xml" Id="R961b4c6e41874b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acacc54e7e4b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c7b96d5024e96" /><Relationship Type="http://schemas.openxmlformats.org/officeDocument/2006/relationships/notesMaster" Target="/ppt/notesMasters/notesMaster1.xml" Id="Ra6dcd351c9b543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e1400b9b8b46b3" /><Relationship Type="http://schemas.openxmlformats.org/officeDocument/2006/relationships/notesMaster" Target="/ppt/notesMasters/notesMaster1.xml" Id="R0fc48d343b9c43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59fbaeac9f4e93" /><Relationship Type="http://schemas.openxmlformats.org/officeDocument/2006/relationships/notesMaster" Target="/ppt/notesMasters/notesMaster1.xml" Id="R27f0f86cb2a9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f6574d8fc24c1c" /><Relationship Type="http://schemas.openxmlformats.org/officeDocument/2006/relationships/notesMaster" Target="/ppt/notesMasters/notesMaster1.xml" Id="R3cafd9a378df4a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6dd59fd010450f" /><Relationship Type="http://schemas.openxmlformats.org/officeDocument/2006/relationships/notesMaster" Target="/ppt/notesMasters/notesMaster1.xml" Id="R63bf0dbd1f1a45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0d5df28d2d4e16" /><Relationship Type="http://schemas.openxmlformats.org/officeDocument/2006/relationships/notesMaster" Target="/ppt/notesMasters/notesMaster1.xml" Id="Ra2b7c6d3879449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8eceb1350947aa" /><Relationship Type="http://schemas.openxmlformats.org/officeDocument/2006/relationships/notesMaster" Target="/ppt/notesMasters/notesMaster1.xml" Id="R4f9a0eeb161d4d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cf0844f8c4ea9" /><Relationship Type="http://schemas.openxmlformats.org/officeDocument/2006/relationships/notesMaster" Target="/ppt/notesMasters/notesMaster1.xml" Id="Rd0f0d1e8e7124a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fbde0a1ffe4722" /><Relationship Type="http://schemas.openxmlformats.org/officeDocument/2006/relationships/notesMaster" Target="/ppt/notesMasters/notesMaster1.xml" Id="R5812fe89fceb4d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23857362c24d84" /><Relationship Type="http://schemas.openxmlformats.org/officeDocument/2006/relationships/notesMaster" Target="/ppt/notesMasters/notesMaster1.xml" Id="Rec03fea0860048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764767eff54a8e" /><Relationship Type="http://schemas.openxmlformats.org/officeDocument/2006/relationships/notesMaster" Target="/ppt/notesMasters/notesMaster1.xml" Id="R3bdc17d63c54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cba4612c4349f4" /><Relationship Type="http://schemas.openxmlformats.org/officeDocument/2006/relationships/notesMaster" Target="/ppt/notesMasters/notesMaster1.xml" Id="Re05808e36a1645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7e1f6549bd49e2" /><Relationship Type="http://schemas.openxmlformats.org/officeDocument/2006/relationships/notesMaster" Target="/ppt/notesMasters/notesMaster1.xml" Id="R5d6415a6061e40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642fd34b6d4725" /><Relationship Type="http://schemas.openxmlformats.org/officeDocument/2006/relationships/notesMaster" Target="/ppt/notesMasters/notesMaster1.xml" Id="Rdc2ae769351843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36297bb1154735" /><Relationship Type="http://schemas.openxmlformats.org/officeDocument/2006/relationships/notesMaster" Target="/ppt/notesMasters/notesMaster1.xml" Id="R01735438e95f44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a566a5fc564f3f" /><Relationship Type="http://schemas.openxmlformats.org/officeDocument/2006/relationships/notesMaster" Target="/ppt/notesMasters/notesMaster1.xml" Id="Rf2e897a5edfa46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561b7297984cc0" /><Relationship Type="http://schemas.openxmlformats.org/officeDocument/2006/relationships/notesMaster" Target="/ppt/notesMasters/notesMaster1.xml" Id="R9e01a5d14f7649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4993c197eb46c2" /><Relationship Type="http://schemas.openxmlformats.org/officeDocument/2006/relationships/notesMaster" Target="/ppt/notesMasters/notesMaster1.xml" Id="Rd215d48aa34149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3769da7e44436a" /><Relationship Type="http://schemas.openxmlformats.org/officeDocument/2006/relationships/notesMaster" Target="/ppt/notesMasters/notesMaster1.xml" Id="R7361366d88b045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817a0a300d46c3" /><Relationship Type="http://schemas.openxmlformats.org/officeDocument/2006/relationships/notesMaster" Target="/ppt/notesMasters/notesMaster1.xml" Id="Rcc6e4f4369a544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8caf29efcef40fe" /><Relationship Type="http://schemas.openxmlformats.org/officeDocument/2006/relationships/notesMaster" Target="/ppt/notesMasters/notesMaster1.xml" Id="Rcf354edc6d394d6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5319e47d987432b" /><Relationship Type="http://schemas.openxmlformats.org/officeDocument/2006/relationships/notesMaster" Target="/ppt/notesMasters/notesMaster1.xml" Id="R462be5d5376a4e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70362e4f9f4a44" /><Relationship Type="http://schemas.openxmlformats.org/officeDocument/2006/relationships/notesMaster" Target="/ppt/notesMasters/notesMaster1.xml" Id="Rc833f68e8aa94d8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07bc43879fd4804" /><Relationship Type="http://schemas.openxmlformats.org/officeDocument/2006/relationships/notesMaster" Target="/ppt/notesMasters/notesMaster1.xml" Id="R59acc4c229944d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想做的是一个帮助个人持续推进目标的AI产品。第一步选择在职职业转型作为拟议切入口：用户有工作与家庭承诺，却希望学习、完成作品并开展求职。产品把目标拆成可行行动，并随真实进展调整。当前处于方法和工具原型阶段。首发定位、定价和融资预算均为本次提出的讨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不是用户实测数据。已有工作与基本休息已经从总时间中扣除，剩余10小时还要承担家庭安排和机动时间。五项需求合计12小时。问题不只是提醒不够，而是几件事在争夺同一份资源。具体痛点的普遍性与付费意愿仍需访谈与试点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会从所有人的所有人生问题同时开始。首先聚焦有清晰方向但执行和资源协调困难的在职转型者。8到12周是拟议项目周期，不是保证转型成功的时间。首批应找能直接接触的目标用户，验证他们当前如何安排学习与求职，是否愿意为持续协调付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6.02亿是截至2025年12月的中国生成式人工智能用户统计，不是本产品目标客户数或付费市场规模。本页关于降低说明门槛和具体场景机会的内容是产品推断。Motion的官网已明确宣称自动重新规划以及容量冲突提示；Reclaim已覆盖任务、习惯和工作生活日历安排。不能把这些能力列为本项目独占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https://www.ln.gov.cn/web/ywdt/rdgz/2026030309580624603/index.shtml | 2026-03-03发布，转引CNNIC第57次报告；数据时点2025-12。</a:t>
            </a:r>
          </a:p>
          <a:p xmlns:a="http://schemas.openxmlformats.org/drawingml/2006/main">
            <a:r>
              <a:t>https://www.usemotion.com/features/ai-calendar | 已读产品功能说明；查阅2026-09-06。</a:t>
            </a:r>
          </a:p>
          <a:p xmlns:a="http://schemas.openxmlformats.org/drawingml/2006/main">
            <a:r>
              <a:t>https://reclaim.ai/ | 已读产品功能说明；查阅2026-09-06。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形态是手机对话加网页计划，尚未开发上线。手机用于文字或语音说明变化，网页用于查看目标、计划、冲突和调整原因。这里展示同一模拟案例：系统先确认10小时的口径，避免错误加总。计划不是AI单方面决定；后续页展示用户选择过程。集成能力和主动更新都是拟开发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均为模拟案例。A是不可行参考，并非推荐选项。B和C均满足10小时总量，但具体日历时段还需检查。本示例假定用户选择B，不能视为本项目用户已作真实决定。选择B的代价是通用课程学习量减少，价值是保住作品投入。用户也可以暂缓全部转型行动，系统应保留这种选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化反馈是持续服务的核心。用户报告或授权日历显示新的占用后，系统必须更新资源快照，并重新比较受影响计划。例子中学习减1小时、作品减1小时，需要同步缩小本周验收范围。不能把更少时间自动等同于原目标仍可按时完成。周复盘记录实际投入与成果，项目效果则在合理观察窗口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都是产品规划，不表示已经获得任何账户访问权限。早期只需要目标、可用时间和现有承诺，不要求填完九个生活领域。首个数据连接根据目标用户实际工具选择，不预先承诺所有国内外平台均可接入。对财务和健康等敏感数据遵循最小必要原则。数据新鲜度不足时标明未知，关键冲突请用户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从既有人生管理4.0设计压缩出的产品架构。用户价值和底线高于总控。九领域维护不同的生活状态，23共享能力提供方法；数量本身不是技术壁垒。产品化采用大模型理解与解释，程序核算资源和状态，数据库保存可纠正的记录。当前只落实了方法、模板和部分检查脚本，界面、持久状态和实际数据连接仍需工程建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on官网已包含真实容量提醒和自动重新安排，不能说竞品不会发现冲突。Reclaim提供习惯、任务、专注时间、缓冲与助手功能。通用AI加日历或表格在此仅作为我们设定的对照工作方式。我们主张尝试特定转型工作流的交付深度，尚无证据证明优于竞品，不能画独占勾选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https://www.usemotion.com/features/ai-calendar | 功能说明，查阅2026-09-06。</a:t>
            </a:r>
          </a:p>
          <a:p xmlns:a="http://schemas.openxmlformats.org/drawingml/2006/main">
            <a:r>
              <a:t>https://reclaim.ai/ | 功能说明，查阅2026-09-06。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199元四周是人工辅助试点的测试价，99元每月是后续软件订阅假设，均不是已确定售价或已有收入。两者服务内容不同，不应直接比较续费率或毛利。试点记录每位用户的真实人工投入和退款原因。如果用户只需要一次规划，按阶段收费可能更匹配，不强推订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市场规模目前缺少特定人群数和付费比例的可信估计，因此不用所有AI用户乘单价推导TAM。这里仅展示收入量级的算术情景：1000×99×12=1188000元；10000×99×12=11880000元。前提是用户全年按该价持续付费，现实还存在折扣、流失、退款和税费。跨场景扩张须在首发人群验证后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利用能实际进入的学习和转型社群寻找用户，不假设已有渠道关系。20访谈和10人付费队列都是计划目标，不是转化率预测。首轮样本用于理解问题，不足以证明大市场。内容获客也不是零成本，必须记录内容制作和运营时间。转介绍应在用户真实受益且自愿的条件下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形成的资产是用户此前持续推进的系统设计、Skill、模板和检查脚本。本次未重新验收每个脚本，不对运行可靠性作新增认证，也不把单元测试当作用户价值证明。商业产品所需的身份、持久存储、连接器、界面和可重复交付仍需要开发。目前没有可披露的用户和收入数据，所以诚实地把下一轮投资定位为验证与产品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里程碑都是讨论目标，不是对收入增长的承诺。第三阶段200位当月付费用户按99元测试价对应1.98万元月订阅收入，仍不足以覆盖本预算下平均月支出。因此本轮是学习与验证预算，不是保证12个月实现盈亏平衡。达到人数并不自动通过，还需续费、成本和用户成果指标。第二阶段50人是累计测试人数，第三阶段200人是当月付费人数，口径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目前证据不足最需要补充的一页。尚未取得创始人姓名、履历、过往产品交付、全职投入和现有工程团队信息，因此不能包装资历、公司Logo或成功项目。现有项目材料说明进行了系统设计迭代，但不能单独证明商业交付能力。预算以发起人推进产品与验证、配置1名工程师及阶段外包为讨论假设，需由真实团队方案校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预算100万元：研发66万、模型与云12万、用户试点8万、合规与财务4万、缓冲10万，总计100万。预算目标覆盖12个月，平均8.33万元每月，但团队和采购报价尚未确认，不能保证跑道。希望引入能够支持AI应用产品化、人才和目标用户连接的早期投资方。本次未确定估值、股权、投资条款或融资金额，不应擅自以确定募资计划对外发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用户价值：并非展示复杂架构本身，而是展示一个人如何把重要目标变成实际行动。希望投资人进一步了解演示、验证方案与团队，并讨论是否愿意支持这一轮小规模验证。当前愿景仍需要真实用户使用来检验。后续附录提供系统结构、单位经济与验证口径，可按投资人的问题选择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领域是本项目为减少遗漏而采用的分类，不是固定不变的科学定律，也不是钱学森本人提出的人生分类。可合并、停用或扩展。各领域使用同一资源账，跨域事项只记一次投入。健康、关系和休闲本身具有价值，不必都折算为收入，也不设置统一人生总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阶段为既有3.0引擎，外层由4.0总控加入跨域状态与资源。顶部从左到右为1到4，右侧下行到5，底部从右到左为5到8。简单问题压缩处理，不必每次启动全部模块。建议、用户选择、实际执行分别记录；同一任务给多个领域带来价值，资源只计算一次。原型尚不构成自治后台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接贡献额=99-12-8-人工成本。按每小时60元，10/30/60分钟分别为10/30/60元人工成本，对应69/49/19元贡献。贡献率分别为69/99=69.7%、49/99=49.5%、19/99=19.2%。这不是净利润或已验证毛利。固定研发、管理、获客、税费和退款尚未包括。未取得流失数据前，不计算LTV。应先测真实人均服务工时再确定价格与交付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门槛都是建议，不是统计证明或行业标准。首轮10人的60%是6人，40%是4人，样本很小，必须同时报告绝对人数与原因。后续定价或服务内容变化后，需要重新建队列，不能把199元人工试点直接与99元软件订阅混为续费。对照可在下一批相似用户中实行交叉使用，记录顺序和期间变化，不凭一次前后比较宣称因果。核心成果看作品是否完成、用户是否改变行动，而不是聊天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发66万元以发起人承担产品与用户验证、1名工程师和按阶段外包设计为假设，全成本包括人员和雇佣相关支出，但未取得具体薪资与报价。12万元模型与云预算包含研发测试，不等于按12元乘用户数得出的运营费用。100万元预算除以12约8.33万元/月，并不保证12个月跑道。不能从这份预算推导估值、股权或融资成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网页的公开功能不能证明本项目效果，更不能证明竞品不存在其它功能。统计数据仅提供采用背景。架构素材基于用户在本次上下文提供的设计和已安装的人生管理4.0技能资料。当前尚无可披露经营数据、真实创始人履历或融资条款。所有界面都是本次制作的可编辑示意，没有使用竞品截图或伪造上线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https://www.ln.gov.cn/web/ywdt/rdgz/2026030309580624603/index.shtml | 读取范围：有关6.02亿用户、统计时点及出处的正文。</a:t>
            </a:r>
          </a:p>
          <a:p xmlns:a="http://schemas.openxmlformats.org/drawingml/2006/main">
            <a:r>
              <a:t>https://www.usemotion.com/features/ai-calendar | 读取范围：AI Calendar功能说明。</a:t>
            </a:r>
          </a:p>
          <a:p xmlns:a="http://schemas.openxmlformats.org/drawingml/2006/main">
            <a:r>
              <a:t>https://reclaim.ai/ | 读取范围：首页产品功能介绍。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446dbab6d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f81ea39ae4a16" /><Relationship Type="http://schemas.openxmlformats.org/officeDocument/2006/relationships/slideLayout" Target="/ppt/slideLayouts/slideLayout1.xml" Id="R68dc934da549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dc934da549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532cde1c04347" /><Relationship Type="http://schemas.openxmlformats.org/officeDocument/2006/relationships/notesSlide" Target="/ppt/notesSlides/notesSlide1.xml" Id="Ra7e20d3ab4b047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dadb6613f49df" /><Relationship Type="http://schemas.openxmlformats.org/officeDocument/2006/relationships/notesSlide" Target="/ppt/notesSlides/notesSlide2.xml" Id="R0c35bbee2827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20a92f440473d" /><Relationship Type="http://schemas.openxmlformats.org/officeDocument/2006/relationships/notesSlide" Target="/ppt/notesSlides/notesSlide3.xml" Id="R7bec80eca4964a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af49596a440be" /><Relationship Type="http://schemas.openxmlformats.org/officeDocument/2006/relationships/notesSlide" Target="/ppt/notesSlides/notesSlide4.xml" Id="R989f43e7a31b48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6d0027534418c" /><Relationship Type="http://schemas.openxmlformats.org/officeDocument/2006/relationships/notesSlide" Target="/ppt/notesSlides/notesSlide5.xml" Id="R2a85d8af126c4b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9f0e99ac946a7" /><Relationship Type="http://schemas.openxmlformats.org/officeDocument/2006/relationships/notesSlide" Target="/ppt/notesSlides/notesSlide6.xml" Id="Ra8e69d7b20fc46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16f527d924f43" /><Relationship Type="http://schemas.openxmlformats.org/officeDocument/2006/relationships/notesSlide" Target="/ppt/notesSlides/notesSlide7.xml" Id="R0d6b488c22ad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a8bffef71440a" /><Relationship Type="http://schemas.openxmlformats.org/officeDocument/2006/relationships/notesSlide" Target="/ppt/notesSlides/notesSlide8.xml" Id="R57e49c8e96e64b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8d5043d1d41f4" /><Relationship Type="http://schemas.openxmlformats.org/officeDocument/2006/relationships/notesSlide" Target="/ppt/notesSlides/notesSlide9.xml" Id="Re1b803fe3a2f42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260c89611491d" /><Relationship Type="http://schemas.openxmlformats.org/officeDocument/2006/relationships/notesSlide" Target="/ppt/notesSlides/notesSlide10.xml" Id="R6cd6cf46b7f94f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dc9f5dd874f21" /><Relationship Type="http://schemas.openxmlformats.org/officeDocument/2006/relationships/notesSlide" Target="/ppt/notesSlides/notesSlide11.xml" Id="R678dd7409f4145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05a08ee1c4665" /><Relationship Type="http://schemas.openxmlformats.org/officeDocument/2006/relationships/notesSlide" Target="/ppt/notesSlides/notesSlide12.xml" Id="R7b897cc2b73946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5fc8f8f1c40db" /><Relationship Type="http://schemas.openxmlformats.org/officeDocument/2006/relationships/notesSlide" Target="/ppt/notesSlides/notesSlide13.xml" Id="R3bc4ef24013845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503f674d54627" /><Relationship Type="http://schemas.openxmlformats.org/officeDocument/2006/relationships/notesSlide" Target="/ppt/notesSlides/notesSlide14.xml" Id="R792b2cc786e24f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ff6384524307" /><Relationship Type="http://schemas.openxmlformats.org/officeDocument/2006/relationships/notesSlide" Target="/ppt/notesSlides/notesSlide15.xml" Id="R086febcfe1524f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f5a6104e24dfc" /><Relationship Type="http://schemas.openxmlformats.org/officeDocument/2006/relationships/notesSlide" Target="/ppt/notesSlides/notesSlide16.xml" Id="Rc8c2a776e1054e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23725c2eb4d58" /><Relationship Type="http://schemas.openxmlformats.org/officeDocument/2006/relationships/notesSlide" Target="/ppt/notesSlides/notesSlide17.xml" Id="Raa30fcdb6b724f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52ef6f0624b64" /><Relationship Type="http://schemas.openxmlformats.org/officeDocument/2006/relationships/notesSlide" Target="/ppt/notesSlides/notesSlide18.xml" Id="Rf5cdbe9b95e24e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c963c190f4ae3" /><Relationship Type="http://schemas.openxmlformats.org/officeDocument/2006/relationships/notesSlide" Target="/ppt/notesSlides/notesSlide19.xml" Id="R2e70a45e791540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c57730f064615" /><Relationship Type="http://schemas.openxmlformats.org/officeDocument/2006/relationships/notesSlide" Target="/ppt/notesSlides/notesSlide20.xml" Id="Rfb30fc8c159448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f3fd5dd5643de" /><Relationship Type="http://schemas.openxmlformats.org/officeDocument/2006/relationships/notesSlide" Target="/ppt/notesSlides/notesSlide21.xml" Id="R4b191b1d092f44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a740520f14a3b" /><Relationship Type="http://schemas.openxmlformats.org/officeDocument/2006/relationships/notesSlide" Target="/ppt/notesSlides/notesSlide22.xml" Id="Ra766a2ac10d34b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adba6447a4243" /><Relationship Type="http://schemas.openxmlformats.org/officeDocument/2006/relationships/notesSlide" Target="/ppt/notesSlides/notesSlide23.xml" Id="Rdeb85b0895384c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655d905f344c8" /><Relationship Type="http://schemas.openxmlformats.org/officeDocument/2006/relationships/hyperlink" Target="https://www.ln.gov.cn/web/ywdt/rdgz/2026030309580624603/index.shtml" TargetMode="External" Id="R58e271f9e30241af" /><Relationship Type="http://schemas.openxmlformats.org/officeDocument/2006/relationships/hyperlink" Target="https://www.usemotion.com/features/ai-calendar" TargetMode="External" Id="R918493f49e5e4705" /><Relationship Type="http://schemas.openxmlformats.org/officeDocument/2006/relationships/hyperlink" Target="https://reclaim.ai/" TargetMode="External" Id="R515aeaa39b214e49" /><Relationship Type="http://schemas.openxmlformats.org/officeDocument/2006/relationships/notesSlide" Target="/ppt/notesSlides/notesSlide24.xml" Id="R279215687c7848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C25868C-9542-43E2-A8B5-40B81C9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825E3D2-EC8A-4274-B9A4-AA9C25F2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AI 个人规划与执行助手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D29E36A-17CB-4D7E-818F-683985FE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386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让重要目标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0AEA824-62F3-48B6-A563-39ABDDEA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386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在真实生活里向前推进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6230B9-7527-413D-9BB5-D6E9ED82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219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首发场景：在职职业转型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FFCBE5-236F-41BE-8C69-A8203EE2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1304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把学习、作品与求职，安排进真实可用的时间。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F20ECF7-6CC6-4C85-A080-4B77FC5B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09C9CC-DAAE-45CE-B50E-D4221BC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原型阶段 · 天使轮融资讨论稿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4BC3B20-3C35-4C79-B6DF-F1073C71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810577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117328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5F06859-36A5-44D6-951F-D45734E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F86054E-FF6C-444E-91B9-6A1A3D7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用户问题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A81B45-D85F-47C5-A8D1-2EC480B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每个计划都合理，加起来却做不到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9B0663F-C9AD-4BAA-B40A-5E81634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模拟场景：每周可分配的业余时间为 10 小时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80F94E08-2B32-420C-9BBB-606AACFA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90E810-1EC4-4589-A03A-6758357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E36673-EEF0-488A-8080-4FFB0ADF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541640E-9E81-445A-8184-ED57F4FB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12 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DFBDBA7-CE9C-4F36-9A3B-B0C80FC2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计划需求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493EB0F-BABA-42A4-9998-C6EE828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10 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00D1FC5-7DCB-41E0-8A5E-E947C76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2430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现实容量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E17817-8AF8-4E38-9F6B-1B80BEFF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缺口 2 小时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C418B8-B7CD-4680-B803-0286B4B3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学习、作品、求职与家庭</a:t>
            </a:r>
          </a:p>
          <a:p xmlns:a="http://schemas.openxmlformats.org/drawingml/2006/main">
            <a:pPr algn="l">
              <a:def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争夺同一份时间。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85800" y="5381625"/>
          <a:ext xmlns:a="http://schemas.openxmlformats.org/drawingml/2006/main" cx="1386840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2771775"/>
                <a:gridCol w="2771775"/>
                <a:gridCol w="2771775"/>
                <a:gridCol w="2781300"/>
              </a:tblGrid>
              <a:tr h="6286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作品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求职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家庭承诺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缓冲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80962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1C2D1D7-27F2-4B8E-8F20-BE2236D2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产品要帮助用户提前看见代价，并选择缩减、延期或替换。数据为说明机制的假设示例。</a:t>
            </a:r>
          </a:p>
        </p:txBody>
      </p:sp>
    </p:spTree>
    <p:extLst>
      <p:ext uri="{BB962C8B-B14F-4D97-AF65-F5344CB8AC3E}">
        <p14:creationId xmlns:p14="http://schemas.microsoft.com/office/powerpoint/2010/main" val="665445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9FB0BA0-FA5D-4E7E-BACB-AECF3FDB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5E0AB40-45A3-477C-9E48-F00A6B32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首发人群假设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04AE22-F6AB-42F0-A47B-004E706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先服务有明确转型目标的在职人群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D55623E4-CAB4-4BE8-B405-11473120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FD49D7-0D64-4529-B6C7-EACFC00E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D87A7F-0E93-47F4-9380-5431471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FCE38B-134E-41FB-99C1-C345B8A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一个足够具体的起点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1A831B-EA16-47F3-856F-C41A797B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429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希望在未来 8–12 周</a:t>
            </a:r>
          </a:p>
          <a:p xmlns:a="http://schemas.openxmlformats.org/drawingml/2006/main">
            <a:pPr algn="l">
              <a:defRPr sz="30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形成作品，并开始求职。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095CA9-FA28-46C0-8547-341864C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6429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仍需兼顾本职工作与家庭承诺；</a:t>
            </a:r>
          </a:p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愿意每周安排少量稳定时间。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13E973EE-C0AE-4C53-B1E6-14A80B82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6610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F77FD4-C194-4496-AF7B-D8921E73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触发时刻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F2FCA62-7228-44D5-9C1C-3A99A8D3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6610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方向选定了，下一周到底做什么？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5A93460D-2C8D-4C7F-B6A8-C8A21CD1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67225"/>
            <a:ext cx="6610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0133D6-E28D-435C-8D24-70EBFA16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95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可观察的交付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E316599-3E48-4453-A05C-D365C374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66103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一件可展示作品</a:t>
            </a:r>
          </a:p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一份现实可行的周计划</a:t>
            </a:r>
          </a:p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一段持续更新的行动记录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D91CA0E-F0C0-4277-8BE3-CDAC205D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拟议切入口；优先访谈此类用户，再决定人群范围与交付边界。</a:t>
            </a:r>
          </a:p>
        </p:txBody>
      </p:sp>
    </p:spTree>
    <p:extLst>
      <p:ext uri="{BB962C8B-B14F-4D97-AF65-F5344CB8AC3E}">
        <p14:creationId xmlns:p14="http://schemas.microsoft.com/office/powerpoint/2010/main" val="1264912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167BD5B-CD70-49D1-BAE5-1F85B1C2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6F06EBC-19A2-4C2A-9467-81D465C7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市场时机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0C8BF4-7C0E-4834-AF21-5C20322E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AI 的使用已普及，持续行动值得验证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A909B6-2284-4C18-A2DC-E0F1A291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宏观采用率提供背景；具体产品需求仍要用付费和留存证明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84EA212A-44A2-4164-8FE7-39B9C329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6AB9A95-BAF8-4633-939E-426442B0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7DC7009-4CA6-40E1-BA05-823C742B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E055D7-DFA6-483C-988E-29A212A1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6.02 亿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16D9FE-449E-4BD5-A32D-B38FC08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中国生成式 AI 用户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截至 2025 年 12 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2C1639-F6E4-4AE9-9D66-38C729B4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659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对话入口已有用户基础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CDA5A3-0482-465F-877E-7B7991B5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52800"/>
            <a:ext cx="659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语音与文字，降低说明需求的门槛。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F75A93C-9F1B-4210-B7EB-5369BF4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6591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9F04EE2-2CBB-4805-9836-14C1E6FB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6591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计划自动化已有产品落地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5D84FAF-6E85-4F1D-B032-876690B7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34025"/>
            <a:ext cx="659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Motion、Reclaim 已提供排程能力。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我们的机会假设：围绕转型成果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提供持续的取舍与调整服务。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C25A8F1-EE9A-4210-BBAA-BD01852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来源：CNNIC 第57次报告数据，辽宁省政府网站转引；Motion、Reclaim 官网。检索：2026-09-06。</a:t>
            </a:r>
          </a:p>
        </p:txBody>
      </p:sp>
    </p:spTree>
    <p:extLst>
      <p:ext uri="{BB962C8B-B14F-4D97-AF65-F5344CB8AC3E}">
        <p14:creationId xmlns:p14="http://schemas.microsoft.com/office/powerpoint/2010/main" val="1120169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3F389C4-95F4-4198-B02E-CB5D3DD5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5DC3F24-D498-4268-9402-5FD2A8E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产品形态 · 拟开发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2F7A30-315C-482A-94D3-DD6384FB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用户看到的，是一张会更新的行动计划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0E83E2-6778-46C7-9B2E-52B40EE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手机对话入口 + 网页计划页；以下为界面示意，非已上线产品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2470935E-9CE3-47A8-8F0B-D630A93B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421BDD-AE9E-4C04-9ECD-D4FDF1B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666596-24CE-4E46-8192-09F5C149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1A46C0E-2161-48A8-B68F-F04B7E77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5095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D9DEE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AE82DA-0B12-489A-9E5B-B1528503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486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手机 · 告诉系统当前情况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46078F53-B725-439B-B8EA-467DA2C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4862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BE7F2E7-2790-4BB4-9DCC-B9F5785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4862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我想 8 周内完成一件作品。</a:t>
            </a:r>
          </a:p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这周有 10 小时，还要陪家人。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D713C8-9417-4032-9824-C87B93D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14975"/>
            <a:ext cx="448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系统补问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3143D58-09B0-4F6A-979D-C562428B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72175"/>
            <a:ext cx="44862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家庭安排是否已经包含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在这 10 小时里？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F3F52A8B-DB42-467E-9389-BD56D3FF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76525"/>
            <a:ext cx="82200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DEE5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E746A5D-40AB-4276-99E6-3281172B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14650"/>
            <a:ext cx="757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网页 · 本周行动计划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5049A0-3B49-4C46-86E6-8125B7B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00450"/>
            <a:ext cx="7572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本周成果：作品初稿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657975" y="4248150"/>
          <a:ext xmlns:a="http://schemas.openxmlformats.org/drawingml/2006/main" cx="7572375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1285875"/>
                <a:gridCol w="3857625"/>
              </a:tblGrid>
              <a:tr h="50482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事项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安排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验收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54292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学习关键方法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完成小练习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作品制作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h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可展示初稿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54292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求职准备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筛选目标岗位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0E6D76-E9D3-4F3B-81DA-380C246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534150"/>
            <a:ext cx="7572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另保留：家庭 2 h + 缓冲 1 h</a:t>
            </a:r>
          </a:p>
        </p:txBody>
      </p:sp>
    </p:spTree>
    <p:extLst>
      <p:ext uri="{BB962C8B-B14F-4D97-AF65-F5344CB8AC3E}">
        <p14:creationId xmlns:p14="http://schemas.microsoft.com/office/powerpoint/2010/main" val="483995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CD6C7F-7065-4CBE-8F4A-97F8DCC6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88F7D55-F7FE-4DAF-9324-14ACEBD8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产品演示 · 模拟场景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52FB36-1BB4-4A9C-9E46-6708156F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系统把冲突变成可以选择的方案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228A4D-4A18-40B4-BDF9-5866E5F0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保留家庭承诺与缓冲，让用户看见不同取舍的代价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513F400F-87B1-415A-BBD3-28391EED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C05653-4EA9-474B-91CE-1B9031CB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C4BF7EE-80CF-4B7D-81F0-2BCFCE15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38684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6477000"/>
                <a:gridCol w="1476375"/>
                <a:gridCol w="3390900"/>
              </a:tblGrid>
              <a:tr h="6667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当周安排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总时长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代价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 · 保持原计划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学习4 + 作品4 + 求职1 + 家庭2 + 缓冲1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超出容量2小时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 · 聚焦作品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学习2 + 作品4 + 求职1 + 家庭2 + 缓冲1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h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减少通用课程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 · 先补基础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学习4 + 作品2 + 求职1 + 家庭2 + 缓冲1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作品进度放慢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EFDD11-31C8-4527-A1E2-A303B7E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579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模拟选择：B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936392-893F-424B-99B4-89329C9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96075"/>
            <a:ext cx="10125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作品优先；学习内容只覆盖完成作品所需的方法。</a:t>
            </a:r>
          </a:p>
        </p:txBody>
      </p:sp>
    </p:spTree>
    <p:extLst>
      <p:ext uri="{BB962C8B-B14F-4D97-AF65-F5344CB8AC3E}">
        <p14:creationId xmlns:p14="http://schemas.microsoft.com/office/powerpoint/2010/main" val="1419307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1B9CAA-9953-4C43-814F-0AB995DD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74A7D3B-C1C3-45BE-AE3C-59823D4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产品演示 · 模拟场景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074CF2-D664-48D3-9853-31EF2334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生活变化后，计划会说明为什么调整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0299A4F-7E93-49C9-9849-8F4FC576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变化：临时加班占用 2 小时，当周可用时间降为 8 小时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E53D422-46CE-4A89-A5D0-2D858100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8C5481-9CB9-47D1-80B9-EC226C0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0C9742-44C4-45B9-B845-CD03ACA2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B0D8333-0E36-42B2-9B26-7F749360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10 → 8 h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B43374-3453-49FD-B888-046B80F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可用时间变化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2FC62E8-3CF0-4DEA-B2B3-04E114D1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不能继续沿用旧计划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5E438F-312E-4FBE-B559-CA1FD56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695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系统提示影响，并给出缩减方案。</a:t>
            </a:r>
          </a:p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用户选择后，才更新承诺与任务。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020050" y="2705100"/>
          <a:ext xmlns:a="http://schemas.openxmlformats.org/drawingml/2006/main" cx="6534150" cy="3495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95650"/>
                <a:gridCol w="1619250"/>
                <a:gridCol w="1619250"/>
              </a:tblGrid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事项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调整前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调整后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作品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h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h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求职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家庭 + 缓冲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h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 h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h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h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B6AB6F-E959-401E-A7D3-4A34425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调整代价：作品交付范围缩小为核心部分；效果评价等待作品完成，避免每日盲目改方向。</a:t>
            </a:r>
          </a:p>
        </p:txBody>
      </p:sp>
    </p:spTree>
    <p:extLst>
      <p:ext uri="{BB962C8B-B14F-4D97-AF65-F5344CB8AC3E}">
        <p14:creationId xmlns:p14="http://schemas.microsoft.com/office/powerpoint/2010/main" val="677316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7A0DD89-BA06-4AB8-841D-819BF525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653A979-07E8-41A6-A654-F6BE2B82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数据获取 · 拟开发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364ADB-9C66-4A10-90DB-19CD1E7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先用少量资料，再逐步减少重复输入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014A8745-87DF-4561-919B-A1C6E4D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200902-6C65-49E9-8E9D-D9FC2921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2FA81F8-173E-475D-A8CC-7B64D30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31DFC-14B2-43CC-904C-975E6D1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029075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13F696B-00BE-48A1-B501-E33FB95F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先开始</a:t>
            </a:r>
          </a:p>
        </p:txBody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5B0F2A63-3C55-49A2-9C1B-D46ADC97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DAA7E4-E1F2-4B23-9A19-3C6A674E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目标与可用时间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C5120F4-7669-4177-8B01-9F5F816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文字 / 语音 / 上传文件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只问影响下一步的关键问题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8F815D-CF52-4EB6-9B83-BC98E55C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再连接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9CE4A29-FBE6-46AE-B91B-7634642D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C835DCA-9627-446C-ADBA-2E1F677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已有安排与任务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0EAAA8-131A-4637-B06E-51A8F10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006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用户选择连接来源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先验证一种日历或任务接入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EC9BF9-5F78-46FA-9474-6CA5D979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43200"/>
            <a:ext cx="4343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再持续</a:t>
            </a:r>
          </a:p>
        </p:txBody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6FCEE1F-23F3-4D5E-BFB2-CFF7A614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624F041-269D-4F98-8114-0B3CC15B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变化与实际成果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9AB1DDB-16CA-4E18-A2F0-BEF7D01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006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自动汇总可读取的变化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每周一次轻量复盘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2B3B5A0-3FDF-40A0-9FC2-D19F5B15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每条资料显示来源与更新时间，可纠正、删除、断开；没有平台接口时，提供文件导入或手动确认。</a:t>
            </a:r>
          </a:p>
        </p:txBody>
      </p:sp>
    </p:spTree>
    <p:extLst>
      <p:ext uri="{BB962C8B-B14F-4D97-AF65-F5344CB8AC3E}">
        <p14:creationId xmlns:p14="http://schemas.microsoft.com/office/powerpoint/2010/main" val="395746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6FDC0D3-9F82-4177-BE68-2D3663E2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B2EC5B-F028-4D14-A666-0DC1C873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系统架构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ABF6AC-ED8F-472B-84DA-C9721CEB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一个总控，协调目标、资源与反馈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F9576E0-D8B3-4776-816E-D90FF92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用户决定价值与取舍；系统负责记录、比较和持续协调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1ED249AE-7F13-449A-B40B-205E0283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0FCF7E4-4027-40B0-9C3F-215C0903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D8DFE0-E4D9-4549-8B82-33CC597D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A98243-FF0A-4F3B-A252-F5AE4538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32575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9" name="surface">
            <a:extLst xmlns:a="http://schemas.openxmlformats.org/drawingml/2006/main">
              <a:ext uri="{FF2B5EF4-FFF2-40B4-BE49-F238E27FC236}">
                <a16:creationId xmlns:a16="http://schemas.microsoft.com/office/drawing/2014/main" id="{1F2EAA72-38B6-4877-9669-A8D1703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62850" y="3581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6EEFE-991F-4AC3-B7D6-0F93238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48768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4B9EFEE8-92F1-44DC-B589-6BBF5866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562850" y="5200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6D9F2-6F5E-4E0B-A2C6-82B75C90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05300" y="59055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77E3DA7A-AC24-4A88-9C09-5F87E64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43450" y="5848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37F7E-C32B-4639-AD87-F0757BB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01300" y="59055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3FEEE786-05FF-4EDD-9F10-0963664E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848975" y="5848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FD781-97A2-48A1-B4D7-041C2488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753975" y="4276725"/>
            <a:ext cx="0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D6B31-E90A-4534-9C81-2FF20AE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601450" y="4276725"/>
            <a:ext cx="1152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CEC41CEA-F4F1-4CF3-9036-7FC57118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601450" y="4219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809042F-8567-41C5-9F81-3334DC5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343400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更新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EC23CF9E-280C-41B9-81FE-4911428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95550"/>
            <a:ext cx="651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481B186-514F-44AC-8EF9-B02AEE0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57475"/>
            <a:ext cx="605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用户目标与底线</a:t>
            </a:r>
          </a:p>
        </p:txBody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932F26E7-DD5E-4A50-B4FB-B5A3EC10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79629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B9AF244-DB42-44ED-BD5E-2B3234EC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76675"/>
            <a:ext cx="750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人生总控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228D697-B6B9-4C96-82A4-441119C6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29125"/>
            <a:ext cx="750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现状 · 时间与预算 · 承诺 · 调整原因</a:t>
            </a:r>
          </a:p>
        </p:txBody>
      </p:sp>
      <p:sp>
        <p:nvSpPr>
          <p:cNvPr id="25" name="surface">
            <a:extLst xmlns:a="http://schemas.openxmlformats.org/drawingml/2006/main">
              <a:ext uri="{FF2B5EF4-FFF2-40B4-BE49-F238E27FC236}">
                <a16:creationId xmlns:a16="http://schemas.microsoft.com/office/drawing/2014/main" id="{8F44D948-D544-4CFB-B9D8-3E62403D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619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D1C2216-1BDB-4324-97AC-35775C68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领域状态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38D1D52-398A-4388-932C-AEB0AB22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3162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职业 / 学习 / 关系等</a:t>
            </a:r>
          </a:p>
        </p:txBody>
      </p:sp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79873037-949D-49FD-8FCD-D6A6537C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314950"/>
            <a:ext cx="55530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D8AFC84-2E99-4353-916F-7D543CE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49592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决策与执行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11951C3-D732-4C5C-A095-9B90A02C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604837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备选 → 选择 → 行动</a:t>
            </a:r>
          </a:p>
        </p:txBody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A1B68B5A-AC1C-4C41-BA4F-5FFF3A74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314950"/>
            <a:ext cx="36004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9753248-F3D6-4160-A31B-E6626ED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4959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951A224-63F2-4DED-AD91-BC97A8C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048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成果 / 变化 / 复盘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96E55C4-C122-414F-88A5-AD14D12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38950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共享知识与工具按需调用；证据和历史版本贯穿全过程。</a:t>
            </a:r>
          </a:p>
        </p:txBody>
      </p:sp>
    </p:spTree>
    <p:extLst>
      <p:ext uri="{BB962C8B-B14F-4D97-AF65-F5344CB8AC3E}">
        <p14:creationId xmlns:p14="http://schemas.microsoft.com/office/powerpoint/2010/main" val="10446018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B28EA08-3D5D-40B2-8111-D4F1A686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DDE466-AE17-4C9A-ABFF-5DDB02D2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竞争与定位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FC7B1-8D41-43BB-847F-2FF11A22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差异需要在同一场景下证明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E13DFBE-B1AD-436B-8392-735BAA7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已有排程能力并不稀缺；比较应覆盖用户付费、成果与维护负担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7216D1F7-87B8-43C9-9D24-79BDF6F5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E80AEB-3EA7-44DF-B6DE-09DFEFF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B54845F-7001-42C5-A488-833C4B2C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3868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248275"/>
                <a:gridCol w="5762625"/>
              </a:tblGrid>
              <a:tr h="6286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已知强项 / 定位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本项目需要证明的价值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8667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Motion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任务优先级、容量提示、自动重排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对转型阶段的选择与取舍是否更有帮助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Reclaim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任务、习惯、专注与生活日历安排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能否把学习成果、作品与求职接起来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8667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通用AI + 日历 / 表格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作为可自行组合的试点对照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额外服务是否值得持续付费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本项目 · 规划中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转型目标 → 资源协调 → 成果反馈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仍需真实使用、续费和成本验证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C826E1A-92AE-408E-846C-8C0A49E0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竞品描述据官网功能页，非全面评测；“需要证明”均为差异化假设。查阅：2026-09-06。</a:t>
            </a:r>
          </a:p>
        </p:txBody>
      </p:sp>
    </p:spTree>
    <p:extLst>
      <p:ext uri="{BB962C8B-B14F-4D97-AF65-F5344CB8AC3E}">
        <p14:creationId xmlns:p14="http://schemas.microsoft.com/office/powerpoint/2010/main" val="659407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9F5AD6A-1FB5-4791-AEA7-02A2ACA7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8FD5ED1-C303-4E62-9391-6CAA4AF5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商业模式 · 拟议价格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6CF9AA-4498-4C57-85A5-151CB0E0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先测试阶段付费，再判断订阅是否成立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869777C7-BA08-4B3A-A7CA-196871CA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2BB7AB-AE0B-452E-87CD-5D2FA0A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10A85D-62BE-4CF9-B346-9D341E6A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4806C38-730F-4FBA-A56C-52635DF3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4 周人工辅助试点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D0179A-D1AB-4F53-9B9D-3FE34FD6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57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¥199 / 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0117B25-BF04-4FD0-9A1D-DD648D26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测试问题与交付；记录真实服务工时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681FB3A-7584-4D78-BBC6-49475610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包含初始计划、每周复盘与调整。</a:t>
            </a:r>
          </a:p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目的是验证愿意付钱的具体价值。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A781B-A147-4103-92E3-E7898FD4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67625" y="2600325"/>
            <a:ext cx="0" cy="429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FC8DA7-9908-433B-AD2C-E324C05A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90800"/>
            <a:ext cx="6200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产品化订阅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E07EDF4-EE6A-4FB0-9897-995842D3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62350"/>
            <a:ext cx="6200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¥99 / 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CCE9393-B4DC-4EE5-9226-E140C2AD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24400"/>
            <a:ext cx="62007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仅在持续需求与成本验证后推进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E44AC8A-D3E0-4966-A3EF-C603853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715000"/>
            <a:ext cx="62007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自动更新计划、冲突提示与成果回顾。</a:t>
            </a:r>
          </a:p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人工深度支持另计，不默认无限服务。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FFC4113-932D-4CF7-95FC-90D69355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两种交付口径不同，价格均为测试假设；若用户只需要一次规划，可保留阶段服务。</a:t>
            </a:r>
          </a:p>
        </p:txBody>
      </p:sp>
    </p:spTree>
    <p:extLst>
      <p:ext uri="{BB962C8B-B14F-4D97-AF65-F5344CB8AC3E}">
        <p14:creationId xmlns:p14="http://schemas.microsoft.com/office/powerpoint/2010/main" val="18076551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CEEACD1-517D-4BAE-BD12-02640080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EF7FC8-76E4-418F-B22C-5697C2C6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市场路径与收入情景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7E5296-6D93-40B5-8C51-E0C06EC9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先拿到一个细分人群，再扩大服务场景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219CD026-53B0-4F70-B5B2-A3A57942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1503CA5-D3BF-43C4-8C57-C98943ED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7F63889-9714-416F-BEEF-350838DA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537E2E-2F61-422E-A496-55EB1327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在职转型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6BF83F6-7FA1-4E1B-AC25-A3283B32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学习 × 作品 × 求职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2C0439-880E-47E1-B650-D704677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384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自由职业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098713-A5D8-4FB1-B428-D883DACE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43275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接单 × 交付 × 能力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FCFA01-09BD-4723-A962-A7B55294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38425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更多生活目标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ADFEB2C-ACE9-4D16-83A7-ED15DEF9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43275"/>
            <a:ext cx="4343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复用记录与协调能力</a:t>
            </a:r>
          </a:p>
        </p:txBody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F8FB5633-A823-444D-B8E2-72F147A7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2454DB-AC8B-43CC-80BA-FA3B4C26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61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118.8 万元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71A49CB-4555-4D3D-B202-177B2085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6619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1,000 名稳定付费用户的年化订阅收入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8F0E77E-356B-47EF-9192-3F22B66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10150"/>
            <a:ext cx="6610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1,188 万元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BDA66C-5DC1-4BBC-BC7C-681E288B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172200"/>
            <a:ext cx="6610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10,000 名稳定付费用户的年化订阅收入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534EB01-DBC8-4908-A148-6734D6CE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情景计算：用户数 × ¥99/月 × 12；未扣税费、折扣、退款与流失。非预测、非已实现收入或市场规模。</a:t>
            </a:r>
          </a:p>
        </p:txBody>
      </p:sp>
    </p:spTree>
    <p:extLst>
      <p:ext uri="{BB962C8B-B14F-4D97-AF65-F5344CB8AC3E}">
        <p14:creationId xmlns:p14="http://schemas.microsoft.com/office/powerpoint/2010/main" val="1089418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E5CB4DB-B073-4728-8877-87B6B89A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61E7E0D-AE65-4A25-8638-7370348F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获客计划 · 待验证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992E3-B833-4399-8770-38FF69BC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第一批用户，从真实的转型任务中获得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A9AFF5-3759-4091-B919-9B88A64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以一个 4 周小队列，观察付款、行动和后续需求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AC9870F5-B235-4BBF-9D00-AB6DEA7F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056575-2204-46AA-AC9C-30E27F92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D117FDA-D9AA-4A17-B0CD-91EAE15B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73BF5-71D9-4BD3-B512-335F6535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010025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9E27E8A-95FE-4565-A563-99CCEBE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找到人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2A29DC21-1625-4A56-B226-F4F40913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9471C7-9376-4DDB-8C2B-ECA476C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转型社群 / 作品社群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0DE140-36CE-46A9-BD48-37CF0FBB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访谈 20 位目标用户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核实问题和替代方案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10AB4E0-72A6-4244-9544-1202A4F0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03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让人看懂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FF72CA7-32D1-472E-B211-ECCEA73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41FDA6-B11D-46C8-9691-A3245527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公开展示一个完整案例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802944-8738-4CF7-9777-FCD316F9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2922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呈现冲突与取舍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邀请 10 位参与付费试点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D88A931-6C2C-4947-8554-24F15233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003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让结果说话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44DB36DB-7105-4069-B3DE-59A4B3E8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33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BFDB213-D20A-47C8-8BDD-5ABFA983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38650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记录实际成果与复盘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001F480-DE75-4336-84D2-4898AFC8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29225"/>
            <a:ext cx="4343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观察留存、退款、工时</a:t>
            </a:r>
          </a:p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再测试主动转介绍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4E90B88-81AD-431E-AF17-447D8EA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人数为验证目标；未表示已有合作社群或已招募用户。获客成本应计入内容、运营及创始人工时。</a:t>
            </a:r>
          </a:p>
        </p:txBody>
      </p:sp>
    </p:spTree>
    <p:extLst>
      <p:ext uri="{BB962C8B-B14F-4D97-AF65-F5344CB8AC3E}">
        <p14:creationId xmlns:p14="http://schemas.microsoft.com/office/powerpoint/2010/main" val="3871837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E1D43C-3CC0-4AB2-B035-B11E818F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5C5480-E073-4D3F-B388-D4CB59F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项目进展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F2B1AA-51DE-4259-9FCD-79949D6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已有方法原型，下一步补上用户证据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E17900C6-8934-447F-9E0F-1B9EFBB3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32D96B7-0D56-457E-B7DC-861DE33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D4E6451-9380-4559-9B55-433F53D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838450"/>
          <a:ext xmlns:a="http://schemas.openxmlformats.org/drawingml/2006/main" cx="13868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4819650"/>
                <a:gridCol w="4572000"/>
              </a:tblGrid>
              <a:tr h="6667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当前基础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下一步产品化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需要取得的商业证据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10953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9领域 + 总控架构</a:t>
                      </a:r>
                    </a:p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8阶段决策流程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可持续使用的账户、记录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与任务状态管理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愿意真实付款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共享能力规则</a:t>
                      </a:r>
                    </a:p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决策与复盘模板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一种可用的数据接入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与可纠正的事实记录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愿意跨周使用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10953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资源核算与</a:t>
                      </a:r>
                    </a:p>
                    <a:p>
                      <a:pPr algn="l"/>
                      <a:r>
                        <a:rPr sz="21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记录检查脚本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完整用户界面</a:t>
                      </a:r>
                    </a:p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可追溯的计划调整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愿意续费，且交付成本可承受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6712CE-7711-4654-A22D-BD4FE05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当前基础据既有设计材料；尚无本次可披露的真实用户、收入、续费或获客数据。</a:t>
            </a:r>
          </a:p>
        </p:txBody>
      </p:sp>
    </p:spTree>
    <p:extLst>
      <p:ext uri="{BB962C8B-B14F-4D97-AF65-F5344CB8AC3E}">
        <p14:creationId xmlns:p14="http://schemas.microsoft.com/office/powerpoint/2010/main" val="1665429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993DD06-5AC2-4C2C-9989-F606890C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3F0D20F-98E6-4006-B67E-6ACE5D3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拟议里程碑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2CE826-90D0-41C0-8279-A580A394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用 12 个月回答三个投资问题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C779D8-C87B-4437-BA57-C5FF9F72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先验证付费，再减少人工，最后检验可重复增长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F3006007-D206-4804-923B-E274352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200BC6F-69C1-4065-885A-BB180381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8033F10-C920-4CC7-91A6-8D83CB9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F5BD-34C5-494F-965D-ED37B34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4029075"/>
            <a:ext cx="1386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E5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4C705B7-666E-4DA8-AE0E-C8BD1E46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0–3 个月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D821A65E-DF5A-4C88-B7F8-6FF342C7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4F46CD-4695-456C-8D18-3E98C88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是否有人愿意付钱？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864082F-F9AF-4F48-9428-A70D126B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343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20 次访谈，10 人付费试点</a:t>
            </a:r>
          </a:p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完成完整演示与逐用户复盘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B5C7EE-5C9C-43B9-8CDD-1D96FB2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4–6 个月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DA64E89-B286-49F0-A7C2-2BD1BDB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85980A0-75A6-4B68-87B7-0E0CEC60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48175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能否稳定产品化？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44B90A0-9632-4B96-9233-B5EE78E4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95900"/>
            <a:ext cx="4343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上线最小可用产品</a:t>
            </a:r>
          </a:p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累计 50 位付费测试用户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EAF5DC-23A3-4E34-9E3F-CF0B05C6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81300"/>
            <a:ext cx="434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7–12 个月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08893868-CF37-4C69-ACDA-F09B8CB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952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83CDB4-6F9F-4227-9CAA-677DE7A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48175"/>
            <a:ext cx="4343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能否持续且可复制？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18446E3-D3B7-4406-B8C6-4C15EE3A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95900"/>
            <a:ext cx="43434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目标 200 位当月付费用户</a:t>
            </a:r>
          </a:p>
          <a:p xmlns:a="http://schemas.openxmlformats.org/drawingml/2006/main">
            <a:pPr algn="l">
              <a:def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在单一渠道重复验证成本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BFE62A-617E-45C0-B91A-4A0CFF75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均为拟议目标。若续费或交付成本不成立，先收窄交付或改为阶段服务，再决定是否扩大投入。</a:t>
            </a:r>
          </a:p>
        </p:txBody>
      </p:sp>
    </p:spTree>
    <p:extLst>
      <p:ext uri="{BB962C8B-B14F-4D97-AF65-F5344CB8AC3E}">
        <p14:creationId xmlns:p14="http://schemas.microsoft.com/office/powerpoint/2010/main" val="12663415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C87016-E68C-47E2-A9FC-691988E7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579124D-1BB9-4829-901C-52B918D0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团队与执行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B17441-16F6-464B-B4AF-03023003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把方法原型，做成能持续交付的产品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8C9006E5-0631-4CB9-A960-E7660658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1132F0-F0DC-4401-BD29-EA3947BA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6D7581-E85A-4508-B16B-DA02437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2E3285-69A0-4D5A-B7A8-4F2FD136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已形成的项目基础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0E21F0A-5E5C-4822-8D6B-B8AAAE8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57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从个人决策问题出发，</a:t>
            </a:r>
          </a:p>
          <a:p xmlns:a="http://schemas.openxmlformats.org/drawingml/2006/main">
            <a:pPr algn="l">
              <a:defRPr sz="28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持续迭代到完整协调架构。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1ECB1A9-956D-477A-98D0-354A1C97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6572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现有资产：系统设计、规则模板、</a:t>
            </a:r>
          </a:p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资源核算与反馈流程。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A8B80F83-1CE4-47CC-B114-94AB485F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81275"/>
            <a:ext cx="6610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BC27C2F-1C6B-40E1-BAAC-AA26844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661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下一阶段的必要角色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108D3F7-E034-43A7-B8C1-4F5FE282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产品与用户验证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EC5160-6E48-4D83-B0DE-205C8583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0025"/>
            <a:ext cx="661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拟由发起人主导；角色与投入待确认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950ABC0-F27D-45BB-B247-6AD780F6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72025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工程与数据接入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74289C8-F510-4821-B0D7-A0E15E4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95900"/>
            <a:ext cx="661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全栈开发、连接器、记录与评估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CD1A71-1165-4FA6-8798-450513DC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057900"/>
            <a:ext cx="661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设计与专业支持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F5C5DF9-6C91-4BE5-B73D-39FF1522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581775"/>
            <a:ext cx="661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按阶段配置，控制固定成本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EFED105-5D8B-491E-A77C-77624D42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创始人姓名、可核验履历、已有成员及投入安排：待补充；本页不代表团队已组建。</a:t>
            </a:r>
          </a:p>
        </p:txBody>
      </p:sp>
    </p:spTree>
    <p:extLst>
      <p:ext uri="{BB962C8B-B14F-4D97-AF65-F5344CB8AC3E}">
        <p14:creationId xmlns:p14="http://schemas.microsoft.com/office/powerpoint/2010/main" val="102061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26C7700-F6DA-4BD2-BD7B-5D478B78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2741671-BC71-4A9C-88FB-7D182032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融资讨论方案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320236-7D49-4B80-A7CA-2F7F321E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这笔资金，要买到持续付费的证据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7594A775-2F86-4D3D-B4DD-A3209A22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E2F5EC-060A-47AA-9559-C55EE518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544F20-F235-4CAC-B6B9-698015E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50D3A7-7A98-4F74-A7D5-88D17BBA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100 万元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E9E62B-C3E3-4B2F-8266-872AC14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00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初步验证预算 · 非已确定募资额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E53950-13FD-457F-812E-782C07DD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目标覆盖 12 个月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98D5D52-623A-41CC-8F5F-28CB04D4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7000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先完成人工辅助试点，</a:t>
            </a:r>
          </a:p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再以产品化降低交付工时。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C8C98A-A3BB-4D5D-81F4-41C164CA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6267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三个可审查的产出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68A564-ED40-4D2B-8357-4976523C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814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90D87CA-4C54-4C36-99F8-EFB64CC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可连续使用的最小产品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8021C3-BE8F-4058-979E-A18BD938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B8F3F3D-3365-4991-B300-51D7788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8155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真实付款、使用与续费记录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69E3BE5-CDB3-4857-B72D-8E6E37D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293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9AE1434-689F-43AF-BD6E-8EFF9573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人工工时与直接成本账本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1912530-A49A-4B60-BC57-865F229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按团队与开发范围校准，并扣除可投入资金后确定净融资额；估值与股权比例未设定。详见预算附录。</a:t>
            </a:r>
          </a:p>
        </p:txBody>
      </p:sp>
    </p:spTree>
    <p:extLst>
      <p:ext uri="{BB962C8B-B14F-4D97-AF65-F5344CB8AC3E}">
        <p14:creationId xmlns:p14="http://schemas.microsoft.com/office/powerpoint/2010/main" val="20732171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49F670F-E184-42FE-8B44-789C9660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E1414FE-DFC8-4953-912C-D19D0947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愿景与下一步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74BF77-72B6-4AD8-877E-6F8261B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让每一次努力，都有现实可行的下一步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8A9C208F-5E97-4E8C-89DC-590C3EAD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5D8E55-0B29-42ED-97A6-DA3B3062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A1BFEC8-D6E3-4F04-B796-9EBAEFC5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0ED75D-5F63-481F-9DF5-830A5B6D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一个具体目标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0BC27E-BE76-4EC7-ADC6-CD220D8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一份可行计划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8ED618-3523-4A2E-9A0C-92D557E9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386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一段持续调整的行动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A6C9A5-75EF-4596-8F34-2AF5930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4845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首发验证：在职职业转型。长期愿景：个人目标的持续协调平台。</a:t>
            </a:r>
          </a:p>
        </p:txBody>
      </p:sp>
    </p:spTree>
    <p:extLst>
      <p:ext uri="{BB962C8B-B14F-4D97-AF65-F5344CB8AC3E}">
        <p14:creationId xmlns:p14="http://schemas.microsoft.com/office/powerpoint/2010/main" val="2700535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41AB9A7D-B566-4062-84D3-DDA595C6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2501B79-D936-4AD0-BC35-5DD3A63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A · 系统脑图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E0AD1E-A2F3-4946-8E8B-187E7A81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九个领域，服务同一个人的真实生活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81A9B9BB-0547-41EF-B78F-DF7A60AE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75E3E0-7275-4B7E-9C5E-4D2E94C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9F18B1-CE6B-47E0-BC73-7289182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6591D-845F-41B1-A08A-982BA5D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29241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C0228-E3C6-479E-BD7E-F7217286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39909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2355F-A1ED-4996-880B-CC5DE72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5057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B1FA4-DEA2-4040-BCF5-EF3250EF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9150" y="61245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CF644-147E-45CC-A9E7-C748D51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29241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81E070-C76B-4E4C-94DC-88890BF3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39909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3461F-B6F6-4E92-8BF3-127CC71E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50577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559D8-F6E3-465C-9752-39286FC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6124575"/>
            <a:ext cx="110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9CFC5-12DD-4E45-BB42-9539262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2924175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A2D8F-90DC-4252-935E-081B1F41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05950" y="2924175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7BBDE-4BB4-4574-A026-1A8B7F49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34050" y="4438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D48B5-B953-4918-A5CB-538199F6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77325" y="44386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72CB0E-5513-4BB4-AD0D-DBA9888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5153025"/>
            <a:ext cx="0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AF6794E-097F-4916-831B-AE67454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E78E72D-D980-4BCD-8FC7-97A9F818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身体健康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CBFBE31-307B-4AD8-9F51-D03FE64B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恢复与日常身体功能</a:t>
            </a:r>
          </a:p>
        </p:txBody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D1213B4C-46CC-4B87-B7A5-A92A752D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D62F300-EE50-4409-AD72-8E7FA705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心理状态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05A655B-E55A-47E3-9FA3-CB9FCBB9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压力与自我调节</a:t>
            </a:r>
          </a:p>
        </p:txBody>
      </p:sp>
      <p:sp>
        <p:nvSpPr>
          <p:cNvPr id="26" name="surface">
            <a:extLst xmlns:a="http://schemas.openxmlformats.org/drawingml/2006/main">
              <a:ext uri="{FF2B5EF4-FFF2-40B4-BE49-F238E27FC236}">
                <a16:creationId xmlns:a16="http://schemas.microsoft.com/office/drawing/2014/main" id="{23C5C95F-2FCE-46DA-BFD8-AAD8772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CA348F5-3504-44EA-A163-7C76316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关系家庭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EFFAEE2-9ABA-4AE0-8E66-6C55F7AE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陪伴与照护承诺</a:t>
            </a:r>
          </a:p>
        </p:txBody>
      </p:sp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4CDDABE6-A58A-45D8-8D37-1499F27D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CC15FCC-2881-49E0-A258-755E19CB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职业劳动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398B1F68-300D-4DFF-8072-8C8C5193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912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工作、创业与交付</a:t>
            </a:r>
          </a:p>
        </p:txBody>
      </p:sp>
      <p:sp>
        <p:nvSpPr>
          <p:cNvPr id="32" name="surface">
            <a:extLst xmlns:a="http://schemas.openxmlformats.org/drawingml/2006/main">
              <a:ext uri="{FF2B5EF4-FFF2-40B4-BE49-F238E27FC236}">
                <a16:creationId xmlns:a16="http://schemas.microsoft.com/office/drawing/2014/main" id="{2D62C4DD-6926-46E4-BF14-D7B2F1CC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146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92F0CA8E-23C3-4A0C-B615-EC26562D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098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学习能力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B4FAB54-4692-46A8-A4C3-9B8D01A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908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理解、技能与作品</a:t>
            </a:r>
          </a:p>
        </p:txBody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2FAB306B-2330-4858-B5F9-AB79882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5814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7331050-1ED6-4B20-92B3-C323622C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766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财务保障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D485FC4-28A7-4497-AAF5-92213863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576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收支、现金与风险</a:t>
            </a:r>
          </a:p>
        </p:txBody>
      </p:sp>
      <p:sp>
        <p:nvSpPr>
          <p:cNvPr id="38" name="surface">
            <a:extLst xmlns:a="http://schemas.openxmlformats.org/drawingml/2006/main">
              <a:ext uri="{FF2B5EF4-FFF2-40B4-BE49-F238E27FC236}">
                <a16:creationId xmlns:a16="http://schemas.microsoft.com/office/drawing/2014/main" id="{498016BE-4F4A-4040-ACD5-81D5F8DE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6482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9F28021-FB46-4334-AF1E-A7C4A1C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7434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日常基础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558E534-665F-438E-A4FB-E74787B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244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居住、交通与工具</a:t>
            </a:r>
          </a:p>
        </p:txBody>
      </p:sp>
      <p:sp>
        <p:nvSpPr>
          <p:cNvPr id="41" name="surface">
            <a:extLst xmlns:a="http://schemas.openxmlformats.org/drawingml/2006/main">
              <a:ext uri="{FF2B5EF4-FFF2-40B4-BE49-F238E27FC236}">
                <a16:creationId xmlns:a16="http://schemas.microsoft.com/office/drawing/2014/main" id="{BBB14A3C-2AF9-444A-88FF-AF138F3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715000"/>
            <a:ext cx="3943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D96D084-730A-45E5-B1B6-B0D7D13F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810250"/>
            <a:ext cx="352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社群责任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EAB51D6B-F980-4ABE-89AD-13CF28CE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191250"/>
            <a:ext cx="3524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参与、贡献与生态</a:t>
            </a:r>
          </a:p>
        </p:txBody>
      </p:sp>
      <p:sp>
        <p:nvSpPr>
          <p:cNvPr id="44" name="surface">
            <a:extLst xmlns:a="http://schemas.openxmlformats.org/drawingml/2006/main">
              <a:ext uri="{FF2B5EF4-FFF2-40B4-BE49-F238E27FC236}">
                <a16:creationId xmlns:a16="http://schemas.microsoft.com/office/drawing/2014/main" id="{C730938C-DF24-49FC-AF67-E534287E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33800"/>
            <a:ext cx="291465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4655F17-76BD-4A8E-8CF6-5D21493A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433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用户价值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4B6D1596-6A5F-4387-87E7-0EBCA566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339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总控协调</a:t>
            </a:r>
          </a:p>
        </p:txBody>
      </p:sp>
      <p:sp>
        <p:nvSpPr>
          <p:cNvPr id="47" name="surface">
            <a:extLst xmlns:a="http://schemas.openxmlformats.org/drawingml/2006/main">
              <a:ext uri="{FF2B5EF4-FFF2-40B4-BE49-F238E27FC236}">
                <a16:creationId xmlns:a16="http://schemas.microsoft.com/office/drawing/2014/main" id="{2BE2DE03-0E68-4918-95E8-65E0506C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686550"/>
            <a:ext cx="365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2C5049C9-52CA-481E-9048-1578F76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848475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休闲 · 审美 · 生命体验</a:t>
            </a:r>
          </a:p>
        </p:txBody>
      </p:sp>
    </p:spTree>
    <p:extLst>
      <p:ext uri="{BB962C8B-B14F-4D97-AF65-F5344CB8AC3E}">
        <p14:creationId xmlns:p14="http://schemas.microsoft.com/office/powerpoint/2010/main" val="16041885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D8E38CBE-F0E1-4CA7-8FB6-FDA7669E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79BCB15-332C-4B8E-AA58-0F1A836D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B · 决策引擎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F49AA-BD32-4D6E-B0DC-9045E420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八阶段，把一次建议接到实际结果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13F84678-F124-416F-AC32-953487A3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B095796-5547-4B24-AB69-61238AA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EE3A75-9414-48EE-89F9-B4133B8A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33762-7C84-4B3C-9E14-6A2FA274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5700" y="34004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634FF7C-3929-4A8A-9DE0-7B0F8179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005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CF6C-8B5C-4077-A007-D7DB249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04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BF180550-9838-428B-8E0A-54B4989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200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643E6-AB13-486D-B5E7-88313801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34700" y="340042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BCF501E7-3B7C-41BD-B665-6733E8DA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4395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82875-7640-432F-90FD-7F19C0A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39725" y="39624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933588D-D37F-426A-B67C-202F5900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8257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B1884-A465-4211-9058-216B1BE6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934700" y="60388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0D2E1BD-8A28-47A6-9408-D467416F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34700" y="5981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5BBC2-D521-448A-A4EA-00E75C8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15200" y="60388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179FF078-395B-4FF4-A257-D763F2A1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0" y="5981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42B43-1894-4AB2-9BF3-17E97A6E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5700" y="60388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563EB"/>
            </a:solidFill>
            <a:prstDash val="solid"/>
          </a:ln>
        </p:spPr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56E10B8-102A-46F4-B473-26E4D3F0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695700" y="5981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1824F-91D0-4186-8810-D1317AB8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90750" y="39624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9DEE5"/>
            </a:solidFill>
            <a:prstDash val="solid"/>
          </a:ln>
        </p:spPr>
      </p:sp>
      <p:sp>
        <p:nvSpPr>
          <p:cNvPr id="22" name="surface">
            <a:extLst xmlns:a="http://schemas.openxmlformats.org/drawingml/2006/main">
              <a:ext uri="{FF2B5EF4-FFF2-40B4-BE49-F238E27FC236}">
                <a16:creationId xmlns:a16="http://schemas.microsoft.com/office/drawing/2014/main" id="{2C708336-6A84-453B-9127-F9E6CCB2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62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rface">
            <a:extLst xmlns:a="http://schemas.openxmlformats.org/drawingml/2006/main">
              <a:ext uri="{FF2B5EF4-FFF2-40B4-BE49-F238E27FC236}">
                <a16:creationId xmlns:a16="http://schemas.microsoft.com/office/drawing/2014/main" id="{AB94470E-0E51-4C37-A25F-2554CE2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1BAA881-F02A-463E-874C-C8BE24C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64566EA-1681-4DEE-A2CF-61745040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09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定义问题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5FA5A5E-7F86-4FA8-8B45-A780AB8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目标与底线</a:t>
            </a:r>
          </a:p>
        </p:txBody>
      </p:sp>
      <p:sp>
        <p:nvSpPr>
          <p:cNvPr id="27" name="surface">
            <a:extLst xmlns:a="http://schemas.openxmlformats.org/drawingml/2006/main">
              <a:ext uri="{FF2B5EF4-FFF2-40B4-BE49-F238E27FC236}">
                <a16:creationId xmlns:a16="http://schemas.microsoft.com/office/drawing/2014/main" id="{5F61087D-DBFF-49F4-8E2D-71846FA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47975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0F616B2-6AEC-4E90-B430-381C0E77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88D90083-FDF7-4F0C-88B7-A468F952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9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建立事实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0B635B2-4635-464A-8440-ACB38DC8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来源与未知</a:t>
            </a:r>
          </a:p>
        </p:txBody>
      </p:sp>
      <p:sp>
        <p:nvSpPr>
          <p:cNvPr id="31" name="surface">
            <a:extLst xmlns:a="http://schemas.openxmlformats.org/drawingml/2006/main">
              <a:ext uri="{FF2B5EF4-FFF2-40B4-BE49-F238E27FC236}">
                <a16:creationId xmlns:a16="http://schemas.microsoft.com/office/drawing/2014/main" id="{A609EE6B-511D-424D-821F-F52A6B7C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47975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AB26A37-1088-44BE-A0D9-880541F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9A8F1EE-2FA9-456A-9A9B-BE8F0130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9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生成方案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3F31EC0-5A56-4780-B0A7-5D1E18A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真实备选</a:t>
            </a:r>
          </a:p>
        </p:txBody>
      </p:sp>
      <p:sp>
        <p:nvSpPr>
          <p:cNvPr id="35" name="surface">
            <a:extLst xmlns:a="http://schemas.openxmlformats.org/drawingml/2006/main">
              <a:ext uri="{FF2B5EF4-FFF2-40B4-BE49-F238E27FC236}">
                <a16:creationId xmlns:a16="http://schemas.microsoft.com/office/drawing/2014/main" id="{E2BAF311-FA3A-4DE6-85ED-A0AB0331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847975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EA67F98D-4413-4E1E-99B0-4EF2B4B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009900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0CF195D2-DFAD-4F3E-A87A-493F662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009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约束比较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1EAC1B88-F359-42F4-A5D7-6D18AE5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3524250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时间与代价</a:t>
            </a:r>
          </a:p>
        </p:txBody>
      </p:sp>
      <p:sp>
        <p:nvSpPr>
          <p:cNvPr id="39" name="surface">
            <a:extLst xmlns:a="http://schemas.openxmlformats.org/drawingml/2006/main">
              <a:ext uri="{FF2B5EF4-FFF2-40B4-BE49-F238E27FC236}">
                <a16:creationId xmlns:a16="http://schemas.microsoft.com/office/drawing/2014/main" id="{7526D661-3C5C-4F7E-9804-A4E0FE1B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86400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28FC8C8-C738-4C64-8BF7-EC90343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56483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9EE9369-C0CF-4866-8486-8227D049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6483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反驳复核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9FB368E-1F03-4A0E-8609-961F0275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616267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反例与缺口</a:t>
            </a:r>
          </a:p>
        </p:txBody>
      </p:sp>
      <p:sp>
        <p:nvSpPr>
          <p:cNvPr id="43" name="surface">
            <a:extLst xmlns:a="http://schemas.openxmlformats.org/drawingml/2006/main">
              <a:ext uri="{FF2B5EF4-FFF2-40B4-BE49-F238E27FC236}">
                <a16:creationId xmlns:a16="http://schemas.microsoft.com/office/drawing/2014/main" id="{7E1A306E-C2B3-473F-9918-9D00F72F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65A0373-E848-460E-8518-06487CE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483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5F692978-A66E-49AD-B9F8-5C3532D1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483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建议取舍</a:t>
            </a:r>
          </a:p>
        </p:txBody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44FCF6D7-209F-4986-A427-1CFE8F8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6267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用户作选择</a:t>
            </a:r>
          </a:p>
        </p:txBody>
      </p:sp>
      <p:sp>
        <p:nvSpPr>
          <p:cNvPr id="47" name="surface">
            <a:extLst xmlns:a="http://schemas.openxmlformats.org/drawingml/2006/main">
              <a:ext uri="{FF2B5EF4-FFF2-40B4-BE49-F238E27FC236}">
                <a16:creationId xmlns:a16="http://schemas.microsoft.com/office/drawing/2014/main" id="{B7FFD846-69FC-4B32-A2E9-A1A643BB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F81FCD1B-4D5A-49EC-9A89-C2F92CF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483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F5ADB484-1488-4DBF-9296-FF0489A1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483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授权执行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8F1A21F4-38F9-40AD-8E41-BCA63AB2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16267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任务与验收</a:t>
            </a:r>
          </a:p>
        </p:txBody>
      </p:sp>
      <p:sp>
        <p:nvSpPr>
          <p:cNvPr id="51" name="surface">
            <a:extLst xmlns:a="http://schemas.openxmlformats.org/drawingml/2006/main">
              <a:ext uri="{FF2B5EF4-FFF2-40B4-BE49-F238E27FC236}">
                <a16:creationId xmlns:a16="http://schemas.microsoft.com/office/drawing/2014/main" id="{A1100CA9-AD9F-4641-A644-C02A98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30099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AF5B6CA7-E231-43B8-B88D-71C8997F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48325"/>
            <a:ext cx="5143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3951D3BD-BA75-4931-99FE-9CB7E164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648325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反馈更新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5816DF1C-DB98-4D5E-9A20-E456569F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6267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结果与修订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A4358B38-C6B7-420B-B182-1FB344C5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43725"/>
            <a:ext cx="1386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底层共享：23 个知识与方法模块，按问题调用。</a:t>
            </a:r>
          </a:p>
        </p:txBody>
      </p:sp>
    </p:spTree>
    <p:extLst>
      <p:ext uri="{BB962C8B-B14F-4D97-AF65-F5344CB8AC3E}">
        <p14:creationId xmlns:p14="http://schemas.microsoft.com/office/powerpoint/2010/main" val="442730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5F089B-B804-4B37-A081-DB5146DD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D92541-0CFD-48AB-8CB4-C74FFEB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C · 单位经济情景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0DAB4C-D177-4505-909A-8D975715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人工投入，决定订阅能否扩张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2081ED-45E9-4E89-AF42-48BBB9A9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假设订阅 ¥99/月，模型费用 ¥12，云服务及支付等直接费用 ¥8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C843302A-E4AF-4018-A157-177389A5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7E5B18-810A-488F-8595-0F98F3A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C4481E-3768-4E16-AFED-6B81590E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2847975"/>
          <a:ext xmlns:a="http://schemas.openxmlformats.org/drawingml/2006/main" cx="13868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24400"/>
                <a:gridCol w="2476500"/>
                <a:gridCol w="3333750"/>
                <a:gridCol w="3333750"/>
              </a:tblGrid>
              <a:tr h="7048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每用户每月人工时间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人工成本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直接贡献额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直接贡献率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分钟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69.7%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30 分钟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¥30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¥49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49.5%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8763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60 分钟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21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19.2%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11D8A2-8C76-47EF-BE25-242B1D84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每节省 20 分钟人工，单用户月贡献增加 ¥20。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EB02CF-5F00-48EA-8E5A-37D6603A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人工按¥60/小时计算；未计研发、管理、获客、税费、折扣与退款。为成本敏感性情景，非已实测毛利。</a:t>
            </a:r>
          </a:p>
        </p:txBody>
      </p:sp>
    </p:spTree>
    <p:extLst>
      <p:ext uri="{BB962C8B-B14F-4D97-AF65-F5344CB8AC3E}">
        <p14:creationId xmlns:p14="http://schemas.microsoft.com/office/powerpoint/2010/main" val="20036667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6804C9D-B16C-403C-A2BD-151DA61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83F18BD-C87B-4A96-8204-74F53357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D · 试点口径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AA2D98-63E3-4C16-82DB-C01E5721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验证标准，要先定义再看结果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DD2AAD-0BCD-4C0C-B35E-F9124416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386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小样本用于发现问题；后续队列重复验证，才考虑扩大投入</a:t>
            </a:r>
          </a:p>
        </p:txBody>
      </p:sp>
      <p:sp>
        <p:nvSpPr>
          <p:cNvPr id="5" name="surface">
            <a:extLst xmlns:a="http://schemas.openxmlformats.org/drawingml/2006/main">
              <a:ext uri="{FF2B5EF4-FFF2-40B4-BE49-F238E27FC236}">
                <a16:creationId xmlns:a16="http://schemas.microsoft.com/office/drawing/2014/main" id="{3D28C83E-85FF-4D63-AFDC-620FDA9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1198D2-8428-47EB-B20D-9EC92EB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5C76B0D-3B3B-4D31-9046-89784BB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138684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6524625"/>
                <a:gridCol w="4543425"/>
              </a:tblGrid>
              <a:tr h="6000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验证问题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记录口径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拟议决策门槛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7620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愿不愿付款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收到真实付款且未全额退款的人数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首轮争取10人；免费试用另列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有没有持续使用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同一队列第4周仍完成复盘的人数 / 入组人数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首轮目标≥60%；同时报告人数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7620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会不会续费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到期后实际续费人数 / 当期到期付费人数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同交付口径目标≥40%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是否值得自动化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每用户每月人工时间 + 直接成本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产品化后人工目标≤30分钟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81915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有没有额外价值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与通用AI+表格方案比较行动、成果、维护时间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若无明显帮助，收窄或改交付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F8D2515-0219-4948-B046-32E45F5A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以上为内部拟议判断门槛，非行业基准；续费跨价格或服务方案变化时分别报告，不混算。</a:t>
            </a:r>
          </a:p>
        </p:txBody>
      </p:sp>
    </p:spTree>
    <p:extLst>
      <p:ext uri="{BB962C8B-B14F-4D97-AF65-F5344CB8AC3E}">
        <p14:creationId xmlns:p14="http://schemas.microsoft.com/office/powerpoint/2010/main" val="20985986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49B4ED-51C2-4F1B-8BEF-FF8F6D23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A888EB-3AF9-4E63-9D6A-610D9D54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E · 12 个月预算情景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76CD7E-CA4F-4901-A9E2-7281DFE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100 万元，按产品化与验证分配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ED22814E-8CFC-4A94-A2F5-A746550F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266D4B1-83B2-4B67-961E-EE361CD5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F7D2E4-B83F-4154-9BE4-5154D124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628900"/>
          <a:ext xmlns:a="http://schemas.openxmlformats.org/drawingml/2006/main" cx="13868400" cy="4410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00525"/>
                <a:gridCol w="2400300"/>
                <a:gridCol w="7267575"/>
              </a:tblGrid>
              <a:tr h="5715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预算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对应交付</a:t>
                      </a:r>
                    </a:p>
                  </a:txBody>
                  <a:tcPr marL="91440" marR="91440" marT="45720" marB="45720" anchor="ctr">
                    <a:solidFill>
                      <a:srgbClr val="101318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产品与研发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66 万元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发起人推进 + 工程开发 + 阶段外包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模型与云服务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12 万元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开发测试、推理、存储与监控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用户试点与获客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 万元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用户研究、运营与渠道小实验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合规与财务支持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 万元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隐私设计、合同、财务等必要支持</a:t>
                      </a:r>
                    </a:p>
                  </a:txBody>
                  <a:tcPr marL="91440" marR="91440" marT="45720" marB="45720" anchor="ctr">
                    <a:solidFill>
                      <a:srgbClr val="F1F3F5"/>
                    </a:solidFill>
                  </a:tcPr>
                </a:tc>
              </a:tr>
              <a:tr h="638175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缓冲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 万元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0131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工期、成本与方案调整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合计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 万元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  <a:tc>
                  <a:txBody>
                    <a:bodyPr wrap="square" lIns="171450" tIns="95250" rIns="133350" bIns="9525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2563EB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目标覆盖12个月，平均约8.33万元/月</a:t>
                      </a:r>
                    </a:p>
                  </a:txBody>
                  <a:tcPr marL="91440" marR="91440" marT="45720" marB="45720" anchor="ctr"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A54136-84E0-4AAE-AFC3-561C240F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成本尚未取得真实团队与供应商报价。净融资需求＝预算－可投入现金－审慎可确认现金流。</a:t>
            </a:r>
          </a:p>
        </p:txBody>
      </p:sp>
    </p:spTree>
    <p:extLst>
      <p:ext uri="{BB962C8B-B14F-4D97-AF65-F5344CB8AC3E}">
        <p14:creationId xmlns:p14="http://schemas.microsoft.com/office/powerpoint/2010/main" val="19729175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BA0015C-2E23-4221-A88C-30EB7EF6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人生管理系统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CC41B5D-C9B8-47D1-8436-CB23D61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附录 F · 来源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1CAE0B-85DB-4727-AC95-C4845487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386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资料依据与当前证据边界</a:t>
            </a:r>
          </a:p>
        </p:txBody>
      </p:sp>
      <p:sp>
        <p:nvSpPr>
          <p:cNvPr id="4" name="surface">
            <a:extLst xmlns:a="http://schemas.openxmlformats.org/drawingml/2006/main">
              <a:ext uri="{FF2B5EF4-FFF2-40B4-BE49-F238E27FC236}">
                <a16:creationId xmlns:a16="http://schemas.microsoft.com/office/drawing/2014/main" id="{864115AC-0F14-4E8B-94AD-E4E481F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C9A057-3E29-4409-8FE9-326A778A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05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融资讨论稿 · 2026.09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6417533-BE33-43E7-A1A7-C0A0C85F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8105775"/>
            <a:ext cx="790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941AC4A-81BD-4CA7-965F-52693901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CNNIC 数据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7ADC284-399F-4711-8E52-723D9C3D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10458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中国生成式AI用户6.02亿，截至2025年12月。</a:t>
            </a:r>
          </a:p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辽宁省政府网站2026-03-03转引第57次报告。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E945215-2CF6-456E-AC73-789B3AD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8e271f9e30241af"/>
              </a:rPr>
              <a:t>打开原始页面</a:t>
            </a:r>
          </a:p>
        </p:txBody>
      </p:sp>
      <p:sp>
        <p:nvSpPr>
          <p:cNvPr id="10" name="surface">
            <a:extLst xmlns:a="http://schemas.openxmlformats.org/drawingml/2006/main">
              <a:ext uri="{FF2B5EF4-FFF2-40B4-BE49-F238E27FC236}">
                <a16:creationId xmlns:a16="http://schemas.microsoft.com/office/drawing/2014/main" id="{7EFC5898-168A-4340-8B8B-4EF513DD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4A6DD50-78C5-438B-B4AC-252308E0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Motion 官网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F131704-B8B7-4F2C-8A00-8A79FE6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71925"/>
            <a:ext cx="10458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自动重新规划、任务优先级、容量提示。</a:t>
            </a:r>
          </a:p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按公开功能说明引用，未做独立产品实测。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3CD9E94-E00D-4C08-A72B-51F41975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18493f49e5e4705"/>
              </a:rPr>
              <a:t>打开原始页面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4A13763D-61A6-43FA-9111-0D1B0469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386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78BED5-1466-40F0-8FFF-4FA753C2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01318"/>
                </a:solidFill>
                <a:latin typeface="Noto Sans CJK SC"/>
                <a:ea typeface="Noto Sans CJK SC"/>
                <a:cs typeface="Noto Sans CJK SC"/>
              </a:rPr>
              <a:t>Reclaim 官网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E6379B9-47C3-43F4-B7E6-CDEED1AC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10458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任务、习惯、专注、缓冲与日历安排。</a:t>
            </a:r>
          </a:p>
          <a:p xmlns:a="http://schemas.openxmlformats.org/drawingml/2006/main">
            <a:pPr algn="l">
              <a:def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按公开功能说明引用，未做独立产品实测。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FBFF7EA-B7EC-4DD6-A069-ACB92A32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48400"/>
            <a:ext cx="476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15aeaa39b214e49"/>
              </a:rPr>
              <a:t>打开原始页面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926909E-972B-46E6-8825-1BDC38B1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2825"/>
            <a:ext cx="1386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06875"/>
                </a:solidFill>
                <a:latin typeface="Noto Sans CJK SC"/>
                <a:ea typeface="Noto Sans CJK SC"/>
                <a:cs typeface="Noto Sans CJK SC"/>
              </a:rPr>
              <a:t>查阅日：2026-09-06。架构来自既有项目设计；界面、案例、价格、用户目标和预算均已按规划或情景标注。</a:t>
            </a:r>
          </a:p>
        </p:txBody>
      </p:sp>
    </p:spTree>
    <p:extLst>
      <p:ext uri="{BB962C8B-B14F-4D97-AF65-F5344CB8AC3E}">
        <p14:creationId xmlns:p14="http://schemas.microsoft.com/office/powerpoint/2010/main" val="1166566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2026-09-06T05:15:57.2680000Z</dcterms:created>
  <dcterms:modified xsi:type="dcterms:W3CDTF">2026-09-06T05:15:57.2680000Z</dcterms:modified>
</coreProperties>
</file>