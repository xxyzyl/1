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2DC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680000">
            <a:off x="7552944" y="502920"/>
            <a:ext cx="3977640" cy="3977640"/>
          </a:xfrm>
          <a:prstGeom prst="arc">
            <a:avLst/>
          </a:prstGeom>
          <a:solidFill>
            <a:srgbClr val="0B1F33">
              <a:alpha val="0"/>
            </a:srgbClr>
          </a:solidFill>
          <a:ln w="27940">
            <a:solidFill>
              <a:srgbClr val="294E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1444752"/>
            <a:ext cx="2011680" cy="2011680"/>
          </a:xfrm>
          <a:prstGeom prst="ellipse">
            <a:avLst/>
          </a:prstGeom>
          <a:solidFill>
            <a:srgbClr val="113552"/>
          </a:solidFill>
          <a:ln w="17780">
            <a:solidFill>
              <a:srgbClr val="2E5C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0264" y="1929384"/>
            <a:ext cx="1042416" cy="1042416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42832" y="2139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认知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82128" y="987552"/>
            <a:ext cx="859536" cy="859536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10160" dir="2700000">
              <a:srgbClr val="12202E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82128" y="11887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49840" y="914400"/>
            <a:ext cx="859536" cy="85953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  <a:effectLst>
            <a:outerShdw sx="100000" sy="100000" kx="0" ky="0" algn="bl" rotWithShape="0" blurRad="258064000" dist="129032000" dir="162000000000">
              <a:srgbClr val="12202E">
                <a:alpha val="8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149840" y="111556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588752" y="3035808"/>
            <a:ext cx="859536" cy="85953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  <a:effectLst>
            <a:outerShdw sx="100000" sy="100000" kx="0" ky="0" algn="bl" rotWithShape="0" blurRad="3277412800000" dist="1638706400000" dir="9720000000000000">
              <a:srgbClr val="12202E">
                <a:alpha val="800000000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88752" y="323697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73568" y="3703320"/>
            <a:ext cx="859536" cy="859536"/>
          </a:xfrm>
          <a:prstGeom prst="ellipse">
            <a:avLst/>
          </a:prstGeom>
          <a:solidFill>
            <a:srgbClr val="D5A43A"/>
          </a:solidFill>
          <a:ln w="12700">
            <a:solidFill>
              <a:srgbClr val="D5A43A">
                <a:alpha val="0"/>
              </a:srgbClr>
            </a:solidFill>
            <a:prstDash val="solid"/>
          </a:ln>
          <a:effectLst>
            <a:outerShdw sx="100000" sy="100000" kx="0" ky="0" algn="bl" rotWithShape="0" blurRad="41623142560000000" dist="20811571280000000" dir="583200000000000000000">
              <a:srgbClr val="12202E">
                <a:alpha val="80000000000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73568" y="390448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96328" y="2542032"/>
            <a:ext cx="859536" cy="859536"/>
          </a:xfrm>
          <a:prstGeom prst="ellipse">
            <a:avLst/>
          </a:prstGeom>
          <a:solidFill>
            <a:srgbClr val="4B9B6D"/>
          </a:solidFill>
          <a:ln w="12700">
            <a:solidFill>
              <a:srgbClr val="4B9B6D">
                <a:alpha val="0"/>
              </a:srgbClr>
            </a:solidFill>
            <a:prstDash val="solid"/>
          </a:ln>
          <a:effectLst>
            <a:outerShdw sx="100000" sy="100000" kx="0" ky="0" algn="bl" rotWithShape="0" blurRad="528613910512000000000" dist="264306955256000000000" dir="3.4992e+25">
              <a:srgbClr val="12202E">
                <a:alpha val="8e+2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96328" y="27432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人文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210" kern="0" dirty="0">
                <a:solidFill>
                  <a:srgbClr val="7FA0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 CAPABILITY SYSTEM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04088" y="1225296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个人长期能力</a:t>
            </a:r>
            <a:endParaRPr lang="en-US" sz="4000" dirty="0"/>
          </a:p>
          <a:p>
            <a:pPr indent="0" marL="0">
              <a:lnSpc>
                <a:spcPct val="9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成长体系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49808" y="2834640"/>
            <a:ext cx="5120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D5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从学习知识，到形成真正的人生决策力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9808" y="3511296"/>
            <a:ext cx="4114800" cy="0"/>
          </a:xfrm>
          <a:prstGeom prst="line">
            <a:avLst/>
          </a:prstGeom>
          <a:noFill/>
          <a:ln w="38100">
            <a:solidFill>
              <a:srgbClr val="E665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767328"/>
            <a:ext cx="50749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E6EE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目标不是知道更多名词，而是逐步形成：看得清、想得透、说得明、做得到、改得快。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49808" y="5961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长期学习路线 · 三年框架 · 30天启动方案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75520" y="502920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2408" y="502920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9296" y="502920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16184" y="502920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63072" y="502920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09960" y="502920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56848" y="502920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749808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22408" y="749808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69296" y="749808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16184" y="749808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63072" y="749808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9960" y="749808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56848" y="749808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0" y="996696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22408" y="996696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69296" y="996696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16184" y="996696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63072" y="996696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109960" y="996696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356848" y="996696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75520" y="1243584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22408" y="1243584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69296" y="1243584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16184" y="1243584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63072" y="1243584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09960" y="1243584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356848" y="1243584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75520" y="1490472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22408" y="1490472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69296" y="1490472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616184" y="1490472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63072" y="1490472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109960" y="1490472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356848" y="1490472"/>
            <a:ext cx="41148" cy="41148"/>
          </a:xfrm>
          <a:prstGeom prst="ellipse">
            <a:avLst/>
          </a:prstGeom>
          <a:solidFill>
            <a:srgbClr val="4A6B80">
              <a:alpha val="22000"/>
            </a:srgbClr>
          </a:solidFill>
          <a:ln w="12700">
            <a:solidFill>
              <a:srgbClr val="4A6B80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2DC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你真正要建设的，不是一张书单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知识只有进入行动闭环，才会真正转化为能力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07592"/>
            <a:ext cx="4754880" cy="4526280"/>
          </a:xfrm>
          <a:prstGeom prst="roundRect">
            <a:avLst>
              <a:gd name="adj" fmla="val 2828"/>
            </a:avLst>
          </a:prstGeom>
          <a:solidFill>
            <a:srgbClr val="0B1F33"/>
          </a:solidFill>
          <a:ln w="7620">
            <a:solidFill>
              <a:srgbClr val="0B1F33"/>
            </a:solidFill>
            <a:prstDash val="solid"/>
          </a:ln>
          <a:effectLst>
            <a:outerShdw sx="100000" sy="100000" kx="0" ky="0" algn="bl" rotWithShape="0" blurRad="30480" dist="15240" dir="2700000">
              <a:srgbClr val="12202E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73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AB0C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核心目标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2029968"/>
            <a:ext cx="397764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建立一套能够认识世界、判断真假、理解他人、配置资源，并根据结果持续修正自己的个人能力系统。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96112" y="48280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FD0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不是追求一次“选对”，而是让长期判断的胜率越来越高。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50992" y="1298448"/>
            <a:ext cx="5925312" cy="786384"/>
          </a:xfrm>
          <a:prstGeom prst="roundRect">
            <a:avLst>
              <a:gd name="adj" fmla="val 11628"/>
            </a:avLst>
          </a:prstGeom>
          <a:solidFill>
            <a:srgbClr val="FCE9DF"/>
          </a:solidFill>
          <a:ln w="7620">
            <a:solidFill>
              <a:srgbClr val="FCE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1426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1399032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看清问题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73568" y="140817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准确界定问题，识别真正目标与关键矛盾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650992" y="2231136"/>
            <a:ext cx="5925312" cy="786384"/>
          </a:xfrm>
          <a:prstGeom prst="roundRect">
            <a:avLst>
              <a:gd name="adj" fmla="val 11628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23591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判断真假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73568" y="234086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分辨事实、假设、观点与证据强弱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650992" y="3163824"/>
            <a:ext cx="5925312" cy="786384"/>
          </a:xfrm>
          <a:prstGeom prst="roundRect">
            <a:avLst>
              <a:gd name="adj" fmla="val 11628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32918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264408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理解人和制度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73568" y="327355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看见激励、心理、历史与结构的共同作用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5650992" y="4096512"/>
            <a:ext cx="5925312" cy="786384"/>
          </a:xfrm>
          <a:prstGeom prst="roundRect">
            <a:avLst>
              <a:gd name="adj" fmla="val 11628"/>
            </a:avLst>
          </a:prstGeom>
          <a:solidFill>
            <a:srgbClr val="EFEAFF"/>
          </a:solidFill>
          <a:ln w="7620">
            <a:solidFill>
              <a:srgbClr val="EFE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9592" y="4224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197096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在约束中选择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73568" y="420624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权衡风险、收益、资源与他人的反应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650992" y="5029200"/>
            <a:ext cx="5925312" cy="786384"/>
          </a:xfrm>
          <a:prstGeom prst="roundRect">
            <a:avLst>
              <a:gd name="adj" fmla="val 11628"/>
            </a:avLst>
          </a:prstGeom>
          <a:solidFill>
            <a:srgbClr val="E7F1EA"/>
          </a:solidFill>
          <a:ln w="7620">
            <a:solidFill>
              <a:srgbClr val="E7F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9592" y="51572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129784"/>
            <a:ext cx="1600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用反馈修正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73568" y="513892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把行动结果转化为新的认识和下一轮选择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完整能力地图：八个相互连接的层次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从思维基础一直延伸到人生经营与实际执行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43584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FCE9DF"/>
          </a:solidFill>
          <a:ln w="12700">
            <a:solidFill>
              <a:srgbClr val="FCE9D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243584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3533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32588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认知基础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33502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逻辑 · 认识论 · 科学方法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275320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避免想错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13232" y="1865376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E5F2EF"/>
          </a:solidFill>
          <a:ln w="12700">
            <a:solidFill>
              <a:srgbClr val="E5F2E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865376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9751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25296" y="19476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数量基础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2888" y="195681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 · 概率 · 统计 · 因果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827532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处理不确定性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13232" y="2487168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E8EE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487168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25296" y="25694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决策优化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32888" y="25786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决策理论 · 运筹学 · 博弈论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827532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选择与配置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13232" y="3108960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EFEAFF"/>
          </a:solidFill>
          <a:ln w="12700">
            <a:solidFill>
              <a:srgbClr val="EFEA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108960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2186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25296" y="31912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人和社会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32888" y="32004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 · 心理 · 历史 · 法律 · 社会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82753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理解机制与环境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13232" y="3730752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F7EFD9"/>
          </a:solidFill>
          <a:ln w="12700">
            <a:solidFill>
              <a:srgbClr val="F7EFD9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3730752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D5A43A"/>
          </a:solidFill>
          <a:ln w="12700">
            <a:solidFill>
              <a:srgbClr val="D5A43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3840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25296" y="381304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系统战略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32888" y="3822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系统科学 · 控制论 · 马克思主义 · 毛泽东思想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827532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D5A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把握整体与变化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713232" y="4352544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E7F1EA"/>
          </a:solidFill>
          <a:ln w="12700">
            <a:solidFill>
              <a:srgbClr val="E7F1E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4352544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4B9B6D"/>
          </a:solidFill>
          <a:ln w="12700">
            <a:solidFill>
              <a:srgbClr val="4B9B6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4622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25296" y="4434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现代技术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32888" y="444398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计算机 · 数据 · 人工智能 · 安全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8275320" y="4443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提高认知与执行杠杆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713232" y="4974336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F8E5E3"/>
          </a:solidFill>
          <a:ln w="12700">
            <a:solidFill>
              <a:srgbClr val="F8E5E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4974336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C8534E"/>
          </a:solidFill>
          <a:ln w="12700">
            <a:solidFill>
              <a:srgbClr val="C8534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50840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25296" y="50566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表达执行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32888" y="506577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写作 · 沟通 · 谈判 · 管理</a:t>
            </a:r>
            <a:endParaRPr lang="en-US" sz="1230" dirty="0"/>
          </a:p>
        </p:txBody>
      </p:sp>
      <p:sp>
        <p:nvSpPr>
          <p:cNvPr id="47" name="Text 45"/>
          <p:cNvSpPr/>
          <p:nvPr/>
        </p:nvSpPr>
        <p:spPr>
          <a:xfrm>
            <a:off x="8275320" y="5065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C8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让判断进入现实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713232" y="5596128"/>
            <a:ext cx="10771632" cy="493776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EEF0F2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" y="5596128"/>
            <a:ext cx="1554480" cy="493776"/>
          </a:xfrm>
          <a:prstGeom prst="roundRect">
            <a:avLst>
              <a:gd name="adj" fmla="val 16667"/>
            </a:avLst>
          </a:prstGeom>
          <a:solidFill>
            <a:srgbClr val="4E6577"/>
          </a:solidFill>
          <a:ln w="12700">
            <a:solidFill>
              <a:srgbClr val="4E6577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57058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225296" y="56784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个人经营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532888" y="56875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 · 财务 · 英语 · 人文</a:t>
            </a:r>
            <a:endParaRPr lang="en-US" sz="1230" dirty="0"/>
          </a:p>
        </p:txBody>
      </p:sp>
      <p:sp>
        <p:nvSpPr>
          <p:cNvPr id="53" name="Text 51"/>
          <p:cNvSpPr/>
          <p:nvPr/>
        </p:nvSpPr>
        <p:spPr>
          <a:xfrm>
            <a:off x="8275320" y="5687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E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保证长期稳定发展</a:t>
            </a:r>
            <a:endParaRPr lang="en-US" sz="1220" dirty="0"/>
          </a:p>
        </p:txBody>
      </p:sp>
      <p:sp>
        <p:nvSpPr>
          <p:cNvPr id="54" name="Text 52"/>
          <p:cNvSpPr/>
          <p:nvPr/>
        </p:nvSpPr>
        <p:spPr>
          <a:xfrm>
            <a:off x="1463040" y="633679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底层越牢，上层越稳定；上层不断把问题和反馈送回底层。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逻辑学、认识论与科学方法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先学会怎样提出好问题，再谈怎样找到答案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61872"/>
            <a:ext cx="3913632" cy="4736592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7096000" dist="193548000" dir="162000000000">
              <a:srgbClr val="12202E">
                <a:alpha val="13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600200"/>
            <a:ext cx="658368" cy="658368"/>
          </a:xfrm>
          <a:prstGeom prst="ellipse">
            <a:avLst/>
          </a:prstGeom>
          <a:solidFill>
            <a:srgbClr val="FCE9DF"/>
          </a:solidFill>
          <a:ln w="16510">
            <a:solidFill>
              <a:srgbClr val="E66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1848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19072" y="1609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具体学习什么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96112" y="2450592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331720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命题、前提、结论与论证结构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96112" y="2971800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852928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必要条件、充分条件与反例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896112" y="3493008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374136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演绎、归纳、类比与因果推理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96112" y="4014216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895344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证据等级、可证伪性与替代解释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96112" y="4535424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416552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确认偏误、锚定与常见逻辑谬误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896112" y="5056632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937760"/>
            <a:ext cx="3081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事实判断、价值判断与行动建议的区别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4828032" y="1261872"/>
            <a:ext cx="6766560" cy="4736592"/>
          </a:xfrm>
          <a:prstGeom prst="roundRect">
            <a:avLst>
              <a:gd name="adj" fmla="val 2703"/>
            </a:avLst>
          </a:prstGeom>
          <a:solidFill>
            <a:srgbClr val="F2EFE8"/>
          </a:solidFill>
          <a:ln w="7620">
            <a:solidFill>
              <a:srgbClr val="F2E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591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一个可靠判断的基本流程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5193792" y="2322576"/>
            <a:ext cx="768096" cy="768096"/>
          </a:xfrm>
          <a:prstGeom prst="ellipse">
            <a:avLst/>
          </a:prstGeom>
          <a:solidFill>
            <a:srgbClr val="FCE9DF"/>
          </a:solidFill>
          <a:ln w="19050">
            <a:solidFill>
              <a:srgbClr val="E665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468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035040" y="2551176"/>
            <a:ext cx="292608" cy="292608"/>
          </a:xfrm>
          <a:prstGeom prst="chevron">
            <a:avLst/>
          </a:prstGeom>
          <a:solidFill>
            <a:srgbClr val="C9C4BB"/>
          </a:solidFill>
          <a:ln w="12700">
            <a:solidFill>
              <a:srgbClr val="C9C4B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提出命题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37760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到底在判断什么？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428232" y="2322576"/>
            <a:ext cx="768096" cy="768096"/>
          </a:xfrm>
          <a:prstGeom prst="ellipse">
            <a:avLst/>
          </a:prstGeom>
          <a:solidFill>
            <a:srgbClr val="E5F2EF"/>
          </a:solidFill>
          <a:ln w="19050">
            <a:solidFill>
              <a:srgbClr val="0E7C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2468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269480" y="2551176"/>
            <a:ext cx="292608" cy="292608"/>
          </a:xfrm>
          <a:prstGeom prst="chevron">
            <a:avLst/>
          </a:prstGeom>
          <a:solidFill>
            <a:srgbClr val="C9C4BB"/>
          </a:solidFill>
          <a:ln w="12700">
            <a:solidFill>
              <a:srgbClr val="C9C4B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列出证据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72200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证据来自哪里？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662672" y="2322576"/>
            <a:ext cx="768096" cy="768096"/>
          </a:xfrm>
          <a:prstGeom prst="ellipse">
            <a:avLst/>
          </a:prstGeom>
          <a:solidFill>
            <a:srgbClr val="E8EE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2468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8503920" y="2551176"/>
            <a:ext cx="292608" cy="292608"/>
          </a:xfrm>
          <a:prstGeom prst="chevron">
            <a:avLst/>
          </a:prstGeom>
          <a:solidFill>
            <a:srgbClr val="C9C4BB"/>
          </a:solidFill>
          <a:ln w="12700">
            <a:solidFill>
              <a:srgbClr val="C9C4B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寻找反例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06640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什么情况会推翻它？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897112" y="2322576"/>
            <a:ext cx="768096" cy="768096"/>
          </a:xfrm>
          <a:prstGeom prst="ellipse">
            <a:avLst/>
          </a:prstGeom>
          <a:solidFill>
            <a:srgbClr val="EFEAFF"/>
          </a:solidFill>
          <a:ln w="19050">
            <a:solidFill>
              <a:srgbClr val="7A5A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97112" y="2468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9738360" y="2551176"/>
            <a:ext cx="292608" cy="292608"/>
          </a:xfrm>
          <a:prstGeom prst="chevron">
            <a:avLst/>
          </a:prstGeom>
          <a:solidFill>
            <a:srgbClr val="C9C4BB"/>
          </a:solidFill>
          <a:ln w="12700">
            <a:solidFill>
              <a:srgbClr val="C9C4B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比较解释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641080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是否还有别的原因？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10131552" y="2322576"/>
            <a:ext cx="768096" cy="768096"/>
          </a:xfrm>
          <a:prstGeom prst="ellipse">
            <a:avLst/>
          </a:prstGeom>
          <a:solidFill>
            <a:srgbClr val="E7F1EA"/>
          </a:solidFill>
          <a:ln w="19050">
            <a:solidFill>
              <a:srgbClr val="4B9B6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31552" y="2468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996696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暂时结论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875520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在什么条件下成立？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5230368" y="4892040"/>
            <a:ext cx="5897880" cy="667512"/>
          </a:xfrm>
          <a:prstGeom prst="roundRect">
            <a:avLst>
              <a:gd name="adj" fmla="val 1643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04688" y="502005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目标不是“永远不犯错”，而是让错误更早暴露、更容易修正。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数学、概率论、统计学与因果推断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把“感觉”升级为可以计算、检验和修正的判断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280160"/>
            <a:ext cx="2633472" cy="3310128"/>
          </a:xfrm>
          <a:prstGeom prst="roundRect">
            <a:avLst>
              <a:gd name="adj" fmla="val 4861"/>
            </a:avLst>
          </a:prstGeom>
          <a:solidFill>
            <a:srgbClr val="FCE9DF"/>
          </a:solidFill>
          <a:ln w="7620">
            <a:solidFill>
              <a:srgbClr val="FCE9DF"/>
            </a:solidFill>
            <a:prstDash val="solid"/>
          </a:ln>
          <a:effectLst>
            <a:outerShdw sx="100000" sy="100000" kx="0" ky="0" algn="bl" rotWithShape="0" blurRad="6.7133966635024e+24" dist="3.3566983317512e+24" dir="2.09952e+30">
              <a:srgbClr val="12202E">
                <a:alpha val="8e+2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554480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66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7276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1581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3225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建立抽象结构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880360"/>
            <a:ext cx="1993392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代数、函数、向量、矩阵、微积分的基本思想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3474720" y="1280160"/>
            <a:ext cx="2633472" cy="3310128"/>
          </a:xfrm>
          <a:prstGeom prst="roundRect">
            <a:avLst>
              <a:gd name="adj" fmla="val 4861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  <a:effectLst>
            <a:outerShdw sx="100000" sy="100000" kx="0" ky="0" algn="bl" rotWithShape="0" blurRad="8.526013762648047e+28" dist="4.2630068813240235e+28" dir="1.259712e+35">
              <a:srgbClr val="12202E">
                <a:alpha val="8e+3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1554480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E7C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57276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62272" y="1581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23225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描述不确定性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94760" y="2880360"/>
            <a:ext cx="1993392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条件概率、贝叶斯、期望、方差、常见分布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336792" y="1280160"/>
            <a:ext cx="2633472" cy="3310128"/>
          </a:xfrm>
          <a:prstGeom prst="roundRect">
            <a:avLst>
              <a:gd name="adj" fmla="val 4861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  <a:effectLst>
            <a:outerShdw sx="100000" sy="100000" kx="0" ky="0" algn="bl" rotWithShape="0" blurRad="1.0828037478563019e+33" dist="5.4140187392815096e+32" dir="7.558272e+39">
              <a:srgbClr val="12202E">
                <a:alpha val="8e+3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65392" y="1554480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57276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24344" y="1581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65392" y="23225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从样本认识总体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56832" y="2880360"/>
            <a:ext cx="1993392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抽样、置信区间、检验、回归、实验设计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9198864" y="1280160"/>
            <a:ext cx="2633472" cy="3310128"/>
          </a:xfrm>
          <a:prstGeom prst="roundRect">
            <a:avLst>
              <a:gd name="adj" fmla="val 4861"/>
            </a:avLst>
          </a:prstGeom>
          <a:solidFill>
            <a:srgbClr val="EFEAFF"/>
          </a:solidFill>
          <a:ln w="7620">
            <a:solidFill>
              <a:srgbClr val="EFEAFF"/>
            </a:solidFill>
            <a:prstDash val="solid"/>
          </a:ln>
          <a:effectLst>
            <a:outerShdw sx="100000" sy="100000" kx="0" ky="0" algn="bl" rotWithShape="0" blurRad="1.3751607597775034e+37" dist="6.875803798887517e+36" dir="4.5349632000000006e+44">
              <a:srgbClr val="12202E">
                <a:alpha val="8e+4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27464" y="1554480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A5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157276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186416" y="1581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因果推断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427464" y="23225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回答“为什么”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18904" y="2880360"/>
            <a:ext cx="1993392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混杂、反事实、自然实验、机制与边界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612648" y="4892040"/>
            <a:ext cx="10863072" cy="1042416"/>
          </a:xfrm>
          <a:prstGeom prst="roundRect">
            <a:avLst>
              <a:gd name="adj" fmla="val 11404"/>
            </a:avLst>
          </a:prstGeom>
          <a:solidFill>
            <a:srgbClr val="0B1F33"/>
          </a:solidFill>
          <a:ln w="7620">
            <a:solidFill>
              <a:srgbClr val="0B1F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102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54315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记录事实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0" y="5285232"/>
            <a:ext cx="438912" cy="292608"/>
          </a:xfrm>
          <a:prstGeom prst="chevron">
            <a:avLst/>
          </a:prstGeom>
          <a:solidFill>
            <a:srgbClr val="456176"/>
          </a:solidFill>
          <a:ln w="12700">
            <a:solidFill>
              <a:srgbClr val="45617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5102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建模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17520" y="54315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提出结构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96512" y="5285232"/>
            <a:ext cx="438912" cy="292608"/>
          </a:xfrm>
          <a:prstGeom prst="chevron">
            <a:avLst/>
          </a:prstGeom>
          <a:solidFill>
            <a:srgbClr val="456176"/>
          </a:solidFill>
          <a:ln w="12700">
            <a:solidFill>
              <a:srgbClr val="4561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5102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估计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02352" y="54315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给出范围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81344" y="5285232"/>
            <a:ext cx="438912" cy="292608"/>
          </a:xfrm>
          <a:prstGeom prst="chevron">
            <a:avLst/>
          </a:prstGeom>
          <a:solidFill>
            <a:srgbClr val="456176"/>
          </a:solidFill>
          <a:ln w="12700">
            <a:solidFill>
              <a:srgbClr val="45617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5102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87184" y="54315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比较证据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66176" y="5285232"/>
            <a:ext cx="438912" cy="292608"/>
          </a:xfrm>
          <a:prstGeom prst="chevron">
            <a:avLst/>
          </a:prstGeom>
          <a:solidFill>
            <a:srgbClr val="456176"/>
          </a:solidFill>
          <a:ln w="12700">
            <a:solidFill>
              <a:srgbClr val="45617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72016" y="5102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272016" y="54315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1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选择行动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决策理论、运筹学与博弈论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分别回答：怎么选、怎么分、别人会怎么反应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98448"/>
            <a:ext cx="3493008" cy="4206240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4916119200000" dist="2458059600000" dir="9720000000000000">
              <a:srgbClr val="12202E">
                <a:alpha val="1300000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298448"/>
            <a:ext cx="3493008" cy="128016"/>
          </a:xfrm>
          <a:prstGeom prst="rect">
            <a:avLst/>
          </a:prstGeom>
          <a:solidFill>
            <a:srgbClr val="E66532"/>
          </a:solidFill>
          <a:ln w="12700">
            <a:solidFill>
              <a:srgbClr val="E66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719072"/>
            <a:ext cx="658368" cy="658368"/>
          </a:xfrm>
          <a:prstGeom prst="ellipse">
            <a:avLst/>
          </a:prstGeom>
          <a:solidFill>
            <a:srgbClr val="FCE9DF"/>
          </a:solidFill>
          <a:ln w="16510">
            <a:solidFill>
              <a:srgbClr val="E665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37360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01368" y="1810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决策理论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57860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我应该选择什么？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" y="3209544"/>
            <a:ext cx="267004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期望效用 · 风险偏好 · 信息价值 · 决策树 · 多准则决策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1088136" y="4389120"/>
            <a:ext cx="2633472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59943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人生选择、投资、职业路径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4480560" y="1298448"/>
            <a:ext cx="3493008" cy="4206240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2434713840000000" dist="31217356920000000" dir="583200000000000000000">
              <a:srgbClr val="12202E">
                <a:alpha val="1300000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298448"/>
            <a:ext cx="3493008" cy="12801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719072"/>
            <a:ext cx="658368" cy="658368"/>
          </a:xfrm>
          <a:prstGeom prst="ellipse">
            <a:avLst/>
          </a:prstGeom>
          <a:solidFill>
            <a:srgbClr val="E8EE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737360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23560" y="1810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运筹学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28032" y="257860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有限资源怎样配置？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3209544"/>
            <a:ext cx="267004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线性规划 · 整数规划 · 调度 · 网络流 · 多目标优化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4910328" y="4389120"/>
            <a:ext cx="2633472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59943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时间、预算、团队、优先级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302752" y="1298448"/>
            <a:ext cx="3493008" cy="4206240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92920865768000000000" dist="396460432884000000000" dir="3.4992e+25">
              <a:srgbClr val="12202E">
                <a:alpha val="1.3e+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1298448"/>
            <a:ext cx="3493008" cy="128016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22792" y="1719072"/>
            <a:ext cx="658368" cy="658368"/>
          </a:xfrm>
          <a:prstGeom prst="ellipse">
            <a:avLst/>
          </a:prstGeom>
          <a:solidFill>
            <a:srgbClr val="EFEAFF"/>
          </a:solidFill>
          <a:ln w="16510">
            <a:solidFill>
              <a:srgbClr val="7A5A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22792" y="1737360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博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45752" y="1810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博弈论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50224" y="257860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对方会怎样回应？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14232" y="3209544"/>
            <a:ext cx="267004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最佳反应 · 纳什均衡 · 重复博弈 · 信号 · 承诺</a:t>
            </a:r>
            <a:endParaRPr lang="en-US" sz="1210" dirty="0"/>
          </a:p>
        </p:txBody>
      </p:sp>
      <p:sp>
        <p:nvSpPr>
          <p:cNvPr id="31" name="Shape 29"/>
          <p:cNvSpPr/>
          <p:nvPr/>
        </p:nvSpPr>
        <p:spPr>
          <a:xfrm>
            <a:off x="8732520" y="4389120"/>
            <a:ext cx="2633472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459943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谈判、竞争、合作与规则设计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1938528" y="582472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高质量决策 = 预期价值 × 风险承受力 × 可调整性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经济学与心理学：理解选择背后的动力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人并不是纯理性计算器，行为同时受激励、情绪和环境影响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35024"/>
            <a:ext cx="4709160" cy="4535424"/>
          </a:xfrm>
          <a:prstGeom prst="roundRect">
            <a:avLst>
              <a:gd name="adj" fmla="val 3226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85432" y="1335024"/>
            <a:ext cx="4709160" cy="4535424"/>
          </a:xfrm>
          <a:prstGeom prst="roundRect">
            <a:avLst>
              <a:gd name="adj" fmla="val 3226"/>
            </a:avLst>
          </a:prstGeom>
          <a:solidFill>
            <a:srgbClr val="FCE9DF"/>
          </a:solidFill>
          <a:ln w="7620">
            <a:solidFill>
              <a:srgbClr val="FCE9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2075688"/>
            <a:ext cx="3072384" cy="3072384"/>
          </a:xfrm>
          <a:prstGeom prst="ellipse">
            <a:avLst/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66944" y="3090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真实行为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65776" y="36210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激励 × 心理 × 情境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1664208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82496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55648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经济学视角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32688" y="254203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42316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机会成本与边际思维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" y="304495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92608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供需、价格与资源稀缺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" y="354787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42900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激励机制与制度约束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" y="405079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93192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信息不对称与委托代理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" y="455371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43484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外部性、交易成本与市场结构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88352" y="1664208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665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1682496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心理学视角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406640" y="2542032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242316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注意、记忆、动机与情绪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3044952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1232" y="292608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损失厌恶与沉没成本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06640" y="3547872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342900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确认偏误与过度自信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06640" y="4050792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71232" y="393192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从众、权威与群体极化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06640" y="4553712"/>
            <a:ext cx="73152" cy="73152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1232" y="4434840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习惯形成、压力与关系模式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历史、社会学与法律：理解环境如何塑造个人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很多现实结果，是个人选择与制度结构共同作用的产物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828800"/>
            <a:ext cx="10149840" cy="0"/>
          </a:xfrm>
          <a:prstGeom prst="line">
            <a:avLst/>
          </a:prstGeom>
          <a:noFill/>
          <a:ln w="25400">
            <a:solidFill>
              <a:srgbClr val="D8D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99616"/>
            <a:ext cx="658368" cy="658368"/>
          </a:xfrm>
          <a:prstGeom prst="ellipse">
            <a:avLst/>
          </a:prstGeom>
          <a:solidFill>
            <a:srgbClr val="F7EFD9"/>
          </a:solidFill>
          <a:ln w="19050">
            <a:solidFill>
              <a:srgbClr val="D5A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A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49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26334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长期演化与路径依赖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084064" y="1499616"/>
            <a:ext cx="658368" cy="658368"/>
          </a:xfrm>
          <a:prstGeom prst="ellipse">
            <a:avLst/>
          </a:prstGeom>
          <a:solidFill>
            <a:srgbClr val="E5F2EF"/>
          </a:solidFill>
          <a:ln w="19050">
            <a:solidFill>
              <a:srgbClr val="0E7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164592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8304" y="2249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9704" y="26334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群体、组织与阶层结构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235440" y="1499616"/>
            <a:ext cx="658368" cy="658368"/>
          </a:xfrm>
          <a:prstGeom prst="ellipse">
            <a:avLst/>
          </a:prstGeom>
          <a:solidFill>
            <a:srgbClr val="F8E5E3"/>
          </a:solidFill>
          <a:ln w="19050">
            <a:solidFill>
              <a:srgbClr val="C853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64592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2249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26334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权利、责任与行为边界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58368" y="3456432"/>
            <a:ext cx="3511296" cy="2103120"/>
          </a:xfrm>
          <a:prstGeom prst="roundRect">
            <a:avLst>
              <a:gd name="adj" fmla="val 5652"/>
            </a:avLst>
          </a:prstGeom>
          <a:solidFill>
            <a:srgbClr val="F7EFD9"/>
          </a:solidFill>
          <a:ln w="7620">
            <a:solidFill>
              <a:srgbClr val="F7EF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03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5A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历史要学什么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中国史 · 世界史 · 经济史 · 科技史 · 思想史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81888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不只背年代，更要理解长期积累、转折、偶然性和路径依赖。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489704" y="3456432"/>
            <a:ext cx="3511296" cy="2103120"/>
          </a:xfrm>
          <a:prstGeom prst="roundRect">
            <a:avLst>
              <a:gd name="adj" fmla="val 5652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3703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社会学要学什么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745736" y="41605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家庭 · 组织 · 阶层 · 权力 · 身份 · 非正式规则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45736" y="481888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理解个人行为为什么会被群体、组织和社会位置改变。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321040" y="3456432"/>
            <a:ext cx="3511296" cy="2103120"/>
          </a:xfrm>
          <a:prstGeom prst="roundRect">
            <a:avLst>
              <a:gd name="adj" fmla="val 5652"/>
            </a:avLst>
          </a:prstGeom>
          <a:solidFill>
            <a:srgbClr val="F8E5E3"/>
          </a:solidFill>
          <a:ln w="7620">
            <a:solidFill>
              <a:srgbClr val="F8E5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7072" y="3703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法律要学什么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577072" y="41605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民法 · 合同 · 劳动 · 公司 · 刑法 · 行政法基础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77072" y="481888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知道权利、责任、证据和程序，避免把道德判断等同于法律结论。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马克思主义与毛泽东思想：结构分析与实践方法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不把理论当成口号，而是学习它提出问题、分析关系和组织行动的方法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3474720" cy="307238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00700949952536e+25" dist="5.0350474976268e+24" dir="2.09952e+30">
              <a:srgbClr val="12202E">
                <a:alpha val="1.3e+2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618488"/>
            <a:ext cx="1060704" cy="329184"/>
          </a:xfrm>
          <a:prstGeom prst="roundRect">
            <a:avLst>
              <a:gd name="adj" fmla="val 33333"/>
            </a:avLst>
          </a:prstGeom>
          <a:solidFill>
            <a:srgbClr val="C8534E"/>
          </a:solidFill>
          <a:ln w="12700">
            <a:solidFill>
              <a:srgbClr val="C8534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2763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结构视角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213055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马克思主义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2761488"/>
            <a:ext cx="2816352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从生产、交换、分配、利益关系、制度结构与历史条件理解社会。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4480560" y="1353312"/>
            <a:ext cx="3474720" cy="307238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2789020643972073e+29" dist="6.3945103219860365e+28" dir="1.259712e+35">
              <a:srgbClr val="12202E">
                <a:alpha val="1.3e+3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18488"/>
            <a:ext cx="1060704" cy="329184"/>
          </a:xfrm>
          <a:prstGeom prst="roundRect">
            <a:avLst>
              <a:gd name="adj" fmla="val 33333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2763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实践视角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13055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毛泽东思想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2761488"/>
            <a:ext cx="2816352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从调查研究、实践检验、矛盾分析、主要任务、战略战术与组织方法理解行动。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8302752" y="1353312"/>
            <a:ext cx="3474720" cy="307238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6242056217844532e+33" dist="8.121028108922266e+32" dir="7.558272e+39">
              <a:srgbClr val="12202E">
                <a:alpha val="1.3e+3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1618488"/>
            <a:ext cx="1060704" cy="329184"/>
          </a:xfrm>
          <a:prstGeom prst="roundRect">
            <a:avLst>
              <a:gd name="adj" fmla="val 33333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162763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验证视角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77072" y="213055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现代学习原则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77072" y="2761488"/>
            <a:ext cx="2816352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比较不同理论的解释力，明确适用条件，用事实、数据和结果持续检验。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789920" cy="1051560"/>
          </a:xfrm>
          <a:prstGeom prst="roundRect">
            <a:avLst>
              <a:gd name="adj" fmla="val 11304"/>
            </a:avLst>
          </a:prstGeom>
          <a:solidFill>
            <a:srgbClr val="F2EFE8"/>
          </a:solidFill>
          <a:ln w="7620">
            <a:solidFill>
              <a:srgbClr val="F2E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调查研究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938528" y="4992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03704" y="499262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田野调查与信息核验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实践检验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53712" y="4992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18888" y="499262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实验、试点与反馈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81344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主要矛盾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68896" y="4992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34072" y="499262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优先级与资源集中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96528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群众路线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84080" y="4992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49256" y="499262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一线信息与组织动员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钱学森的系统科学与控制论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不要只解决一个点，而要设计能够观察、行动和修正的完整闭环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132320" cy="4754880"/>
          </a:xfrm>
          <a:prstGeom prst="roundRect">
            <a:avLst>
              <a:gd name="adj" fmla="val 3077"/>
            </a:avLst>
          </a:prstGeom>
          <a:solidFill>
            <a:srgbClr val="0B1F33"/>
          </a:solidFill>
          <a:ln w="7620">
            <a:solidFill>
              <a:srgbClr val="0B1F33"/>
            </a:solidFill>
            <a:prstDash val="solid"/>
          </a:ln>
          <a:effectLst>
            <a:outerShdw sx="100000" sy="100000" kx="0" ky="0" algn="bl" rotWithShape="0" blurRad="2.0627411396662555e+37" dist="1.0313705698331278e+37" dir="4.5349632000000006e+44">
              <a:srgbClr val="12202E">
                <a:alpha val="1.3e+44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6093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10" kern="0" dirty="0">
                <a:solidFill>
                  <a:srgbClr val="92ADB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反馈闭环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2532888"/>
            <a:ext cx="1051560" cy="1051560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  <a:effectLst>
            <a:outerShdw sx="100000" sy="100000" kx="0" ky="0" algn="bl" rotWithShape="0" blurRad="1.7464541649174293e+41" dist="8.732270824587147e+40" dir="2.72097792e+49">
              <a:srgbClr val="12202E">
                <a:alpha val="8e+4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715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310896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获取真实状态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536192" y="3063240"/>
            <a:ext cx="1783080" cy="-777240"/>
          </a:xfrm>
          <a:prstGeom prst="line">
            <a:avLst/>
          </a:prstGeom>
          <a:noFill/>
          <a:ln w="20320">
            <a:solidFill>
              <a:srgbClr val="547286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788920" y="1755648"/>
            <a:ext cx="1051560" cy="10515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  <a:effectLst>
            <a:outerShdw sx="100000" sy="100000" kx="0" ky="0" algn="bl" rotWithShape="0" blurRad="2.2179967894451352e+45" dist="1.1089983947225676e+45" dir="1.6325867520000003e+54">
              <a:srgbClr val="12202E">
                <a:alpha val="8e+53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88920" y="19385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62072" y="23317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形成当前判断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319272" y="2286000"/>
            <a:ext cx="1956816" cy="0"/>
          </a:xfrm>
          <a:prstGeom prst="line">
            <a:avLst/>
          </a:prstGeom>
          <a:noFill/>
          <a:ln w="20320">
            <a:solidFill>
              <a:srgbClr val="547286"/>
            </a:solidFill>
            <a:prstDash val="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745736" y="1755648"/>
            <a:ext cx="1051560" cy="1051560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  <a:effectLst>
            <a:outerShdw sx="100000" sy="100000" kx="0" ky="0" algn="bl" rotWithShape="0" blurRad="2.816855922595322e+49" dist="1.408427961297661e+49" dir="9.795520512000002e+58">
              <a:srgbClr val="12202E">
                <a:alpha val="8e+5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5736" y="19385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23317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选择控制动作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276088" y="2286000"/>
            <a:ext cx="1261872" cy="1325880"/>
          </a:xfrm>
          <a:prstGeom prst="line">
            <a:avLst/>
          </a:prstGeom>
          <a:noFill/>
          <a:ln w="20320">
            <a:solidFill>
              <a:srgbClr val="547286"/>
            </a:solidFill>
            <a:prstDash val="dash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007608" y="3081528"/>
            <a:ext cx="1051560" cy="1051560"/>
          </a:xfrm>
          <a:prstGeom prst="ellipse">
            <a:avLst/>
          </a:prstGeom>
          <a:solidFill>
            <a:srgbClr val="D5A43A"/>
          </a:solidFill>
          <a:ln w="12700">
            <a:solidFill>
              <a:srgbClr val="D5A43A">
                <a:alpha val="0"/>
              </a:srgbClr>
            </a:solidFill>
            <a:prstDash val="solid"/>
          </a:ln>
          <a:effectLst>
            <a:outerShdw sx="100000" sy="100000" kx="0" ky="0" algn="bl" rotWithShape="0" blurRad="3.5774070216960587e+53" dist="1.7887035108480293e+53" dir="5.877312307200001e+63">
              <a:srgbClr val="12202E">
                <a:alpha val="7.999999999999999e+63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07608" y="32644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365760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改变系统输入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537960" y="3611880"/>
            <a:ext cx="-1490472" cy="1380744"/>
          </a:xfrm>
          <a:prstGeom prst="line">
            <a:avLst/>
          </a:prstGeom>
          <a:noFill/>
          <a:ln w="20320">
            <a:solidFill>
              <a:srgbClr val="547286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517136" y="4462272"/>
            <a:ext cx="1051560" cy="105156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  <a:effectLst>
            <a:outerShdw sx="100000" sy="100000" kx="0" ky="0" algn="bl" rotWithShape="0" blurRad="4.543306917553994e+57" dist="2.271653458776997e+57" dir="3.526387384320001e+68">
              <a:srgbClr val="12202E">
                <a:alpha val="7.999999999999999e+68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17136" y="46451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90288" y="503834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比较结果偏差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047488" y="4992624"/>
            <a:ext cx="-2139696" cy="0"/>
          </a:xfrm>
          <a:prstGeom prst="line">
            <a:avLst/>
          </a:prstGeom>
          <a:noFill/>
          <a:ln w="20320">
            <a:solidFill>
              <a:srgbClr val="547286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377440" y="4462272"/>
            <a:ext cx="1051560" cy="1051560"/>
          </a:xfrm>
          <a:prstGeom prst="ellipse">
            <a:avLst/>
          </a:prstGeom>
          <a:solidFill>
            <a:srgbClr val="4B9B6D"/>
          </a:solidFill>
          <a:ln w="12700">
            <a:solidFill>
              <a:srgbClr val="4B9B6D">
                <a:alpha val="0"/>
              </a:srgbClr>
            </a:solidFill>
            <a:prstDash val="solid"/>
          </a:ln>
          <a:effectLst>
            <a:outerShdw sx="100000" sy="100000" kx="0" ky="0" algn="bl" rotWithShape="0" blurRad="5.769999785293573e+61" dist="2.8849998926467865e+61" dir="2.1158324305920003e+73">
              <a:srgbClr val="12202E">
                <a:alpha val="7.999999999999999e+73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377440" y="46451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450592" y="503834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修正模型与规则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907792" y="4992624"/>
            <a:ext cx="-1371600" cy="-1929384"/>
          </a:xfrm>
          <a:prstGeom prst="line">
            <a:avLst/>
          </a:prstGeom>
          <a:noFill/>
          <a:ln w="20320">
            <a:solidFill>
              <a:srgbClr val="547286"/>
            </a:solidFill>
            <a:prstDash val="dash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078992" y="548640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B9C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系统不是静止结构，而是“状态—行动—反馈—再行动”的连续过程。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8046720" y="1280160"/>
            <a:ext cx="3529584" cy="475488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6196812473761444e+41" dist="1.3098406236880722e+41" dir="2.72097792e+49">
              <a:srgbClr val="12202E">
                <a:alpha val="1.3e+4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85048" y="1627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重点概念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85048" y="235000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223113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系统边界与层级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85048" y="280720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268833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输入、输出与状态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85048" y="326440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314553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反馈、延迟与扰动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385048" y="372160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360273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稳定性与鲁棒性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385048" y="417880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9640" y="405993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可观测性与可控性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385048" y="463600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9640" y="451713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开放复杂巨系统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385048" y="509320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4974336"/>
            <a:ext cx="2532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人机结合与综合集成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计算机、数据与人工智能素养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不一定成为程序员，但必须掌握现代社会的基础语言和工具杠杆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6903720" cy="566928"/>
          </a:xfrm>
          <a:prstGeom prst="roundRect">
            <a:avLst>
              <a:gd name="adj" fmla="val 14516"/>
            </a:avLst>
          </a:prstGeom>
          <a:solidFill>
            <a:srgbClr val="F7EFD9"/>
          </a:solidFill>
          <a:ln w="12700">
            <a:solidFill>
              <a:srgbClr val="F7EFD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44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A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表格能力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 / Sheets：清洗、公式、透视、图表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59536" y="2075688"/>
            <a:ext cx="6611112" cy="566928"/>
          </a:xfrm>
          <a:prstGeom prst="roundRect">
            <a:avLst>
              <a:gd name="adj" fmla="val 14516"/>
            </a:avLst>
          </a:prstGeom>
          <a:solidFill>
            <a:srgbClr val="E5F2EF"/>
          </a:solidFill>
          <a:ln w="12700">
            <a:solidFill>
              <a:srgbClr val="E5F2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945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7632" y="21671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数据库能力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62656" y="216712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SQL：查询、连接、聚合、窗口函数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005840" y="2825496"/>
            <a:ext cx="6318504" cy="566928"/>
          </a:xfrm>
          <a:prstGeom prst="roundRect">
            <a:avLst>
              <a:gd name="adj" fmla="val 14516"/>
            </a:avLst>
          </a:prstGeom>
          <a:solidFill>
            <a:srgbClr val="E8EE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9443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73936" y="29169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编程能力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916936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Python：自动化、数据分析、基础算法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152144" y="3575304"/>
            <a:ext cx="6025896" cy="566928"/>
          </a:xfrm>
          <a:prstGeom prst="roundRect">
            <a:avLst>
              <a:gd name="adj" fmla="val 14516"/>
            </a:avLst>
          </a:prstGeom>
          <a:solidFill>
            <a:srgbClr val="EFEAFF"/>
          </a:solidFill>
          <a:ln w="12700">
            <a:solidFill>
              <a:srgbClr val="EFEA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69417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6667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数据能力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55264" y="366674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统计分析、可视化、模型评估与复现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1298448" y="4325112"/>
            <a:ext cx="5733288" cy="566928"/>
          </a:xfrm>
          <a:prstGeom prst="roundRect">
            <a:avLst>
              <a:gd name="adj" fmla="val 14516"/>
            </a:avLst>
          </a:prstGeom>
          <a:solidFill>
            <a:srgbClr val="FCE9DF"/>
          </a:solidFill>
          <a:ln w="12700">
            <a:solidFill>
              <a:srgbClr val="FCE9D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7904" y="44439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66544" y="44165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AI能力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01568" y="44165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检索、提示词、写作、编程、工作流自动化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1444752" y="507492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F8E5E3"/>
          </a:solidFill>
          <a:ln w="12700">
            <a:solidFill>
              <a:srgbClr val="F8E5E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64208" y="51937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12848" y="5166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安全与伦理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47872" y="51663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隐私、版权、偏差、幻觉与信息安全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247888" y="1335024"/>
            <a:ext cx="3310128" cy="4498848"/>
          </a:xfrm>
          <a:prstGeom prst="roundRect">
            <a:avLst>
              <a:gd name="adj" fmla="val 4420"/>
            </a:avLst>
          </a:prstGeom>
          <a:solidFill>
            <a:srgbClr val="0B1F33"/>
          </a:solidFill>
          <a:ln w="7620">
            <a:solidFill>
              <a:srgbClr val="0B1F33"/>
            </a:solidFill>
            <a:prstDash val="solid"/>
          </a:ln>
          <a:effectLst>
            <a:outerShdw sx="100000" sy="100000" kx="0" ky="0" algn="bl" rotWithShape="0" blurRad="3.3269951841677035e+45" dist="1.6634975920838518e+45" dir="1.6325867520000003e+54">
              <a:srgbClr val="12202E">
                <a:alpha val="1.2999999999999999e+54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77072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达到什么程度算够用？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705088" y="2423160"/>
            <a:ext cx="365760" cy="365760"/>
          </a:xfrm>
          <a:prstGeom prst="ellipse">
            <a:avLst/>
          </a:prstGeom>
          <a:solidFill>
            <a:srgbClr val="E66532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24871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81160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能自动化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9281160" y="2679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把重复工作变成稳定流程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705088" y="3182112"/>
            <a:ext cx="365760" cy="365760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05088" y="3246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81160" y="31638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能验证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9281160" y="34381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不盲信模型与AI给出的答案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705088" y="3941064"/>
            <a:ext cx="365760" cy="365760"/>
          </a:xfrm>
          <a:prstGeom prst="ellipse">
            <a:avLst/>
          </a:prstGeom>
          <a:solidFill>
            <a:srgbClr val="E66532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05088" y="40050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281160" y="39227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能复现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9281160" y="419709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别人可以重复你的过程和结果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705088" y="4700016"/>
            <a:ext cx="365760" cy="365760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05088" y="47640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281160" y="4681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能保护</a:t>
            </a:r>
            <a:endParaRPr lang="en-US" sz="1280" dirty="0"/>
          </a:p>
        </p:txBody>
      </p:sp>
      <p:sp>
        <p:nvSpPr>
          <p:cNvPr id="47" name="Text 45"/>
          <p:cNvSpPr/>
          <p:nvPr/>
        </p:nvSpPr>
        <p:spPr>
          <a:xfrm>
            <a:off x="9281160" y="49560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知道哪些数据不能上传、共享或滥用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写作、沟通、谈判与管理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真正的能力，必须能被别人理解、接受，并最终变成结果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72768"/>
            <a:ext cx="1005840" cy="1005840"/>
          </a:xfrm>
          <a:prstGeom prst="ellipse">
            <a:avLst/>
          </a:prstGeom>
          <a:solidFill>
            <a:srgbClr val="FCE9DF"/>
          </a:solidFill>
          <a:ln w="19050">
            <a:solidFill>
              <a:srgbClr val="E66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92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想清楚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" y="3182112"/>
            <a:ext cx="1700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阅读与提问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84248" y="1929384"/>
            <a:ext cx="502920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572768"/>
            <a:ext cx="1005840" cy="1005840"/>
          </a:xfrm>
          <a:prstGeom prst="ellipse">
            <a:avLst/>
          </a:prstGeom>
          <a:solidFill>
            <a:srgbClr val="E5F2EF"/>
          </a:solidFill>
          <a:ln w="19050">
            <a:solidFill>
              <a:srgbClr val="0E7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792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15768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写清楚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96896" y="3182112"/>
            <a:ext cx="1700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结构化写作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70248" y="1929384"/>
            <a:ext cx="502920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1572768"/>
            <a:ext cx="1005840" cy="1005840"/>
          </a:xfrm>
          <a:prstGeom prst="ellipse">
            <a:avLst/>
          </a:prstGeom>
          <a:solidFill>
            <a:srgbClr val="E8EE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792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01768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说清楚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82896" y="3182112"/>
            <a:ext cx="1700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表达与演讲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56248" y="1929384"/>
            <a:ext cx="502920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1572768"/>
            <a:ext cx="1005840" cy="1005840"/>
          </a:xfrm>
          <a:prstGeom prst="ellipse">
            <a:avLst/>
          </a:prstGeom>
          <a:solidFill>
            <a:srgbClr val="EFEAFF"/>
          </a:solidFill>
          <a:ln w="19050">
            <a:solidFill>
              <a:srgbClr val="7A5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792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87768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谈明白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68896" y="3182112"/>
            <a:ext cx="1700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谈判与冲突处理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42248" y="1929384"/>
            <a:ext cx="502920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02368" y="1572768"/>
            <a:ext cx="1005840" cy="1005840"/>
          </a:xfrm>
          <a:prstGeom prst="ellipse">
            <a:avLst/>
          </a:prstGeom>
          <a:solidFill>
            <a:srgbClr val="E7F1EA"/>
          </a:solidFill>
          <a:ln w="19050">
            <a:solidFill>
              <a:srgbClr val="4B9B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2368" y="1792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73768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做出来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54896" y="3182112"/>
            <a:ext cx="1700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项目管理与协作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" y="4169664"/>
            <a:ext cx="10570464" cy="1389888"/>
          </a:xfrm>
          <a:prstGeom prst="roundRect">
            <a:avLst>
              <a:gd name="adj" fmla="val 9868"/>
            </a:avLst>
          </a:prstGeom>
          <a:solidFill>
            <a:srgbClr val="0B1F33"/>
          </a:solidFill>
          <a:ln w="7620">
            <a:solidFill>
              <a:srgbClr val="0B1F33"/>
            </a:solidFill>
            <a:prstDash val="solid"/>
          </a:ln>
          <a:effectLst>
            <a:outerShdw sx="100000" sy="100000" kx="0" ky="0" algn="bl" rotWithShape="0" blurRad="4.2252838838929837e+49" dist="2.1126419419464918e+49" dir="9.795520512000002e+58">
              <a:srgbClr val="12202E">
                <a:alpha val="1.2999999999999998e+5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43000" y="44714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同一个复杂问题，必须能够形成三种表达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4681728" y="437083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4379976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61688" y="49194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0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一句话结论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93408" y="437083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4379976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73368" y="49194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0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决策备忘录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705088" y="437083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05088" y="4379976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85048" y="49194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0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技术报告与执行方案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个人经营能力：健康、财务、英语与人文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长期能力的上限，受身体状态、财务安全和精神世界共同限制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07592"/>
            <a:ext cx="5340096" cy="2029968"/>
          </a:xfrm>
          <a:prstGeom prst="roundRect">
            <a:avLst>
              <a:gd name="adj" fmla="val 7207"/>
            </a:avLst>
          </a:prstGeom>
          <a:solidFill>
            <a:srgbClr val="E7F1EA"/>
          </a:solidFill>
          <a:ln w="7620">
            <a:solidFill>
              <a:srgbClr val="E7F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36776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B9B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5506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92224" y="17007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睡眠 · 力量训练 · 有氧 · 营养 · 压力管理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950976" y="274320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身体是所有认知和行动的基础设施。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6263640" y="1307592"/>
            <a:ext cx="5340096" cy="2029968"/>
          </a:xfrm>
          <a:prstGeom prst="roundRect">
            <a:avLst>
              <a:gd name="adj" fmla="val 7207"/>
            </a:avLst>
          </a:prstGeom>
          <a:solidFill>
            <a:srgbClr val="F7EFD9"/>
          </a:solidFill>
          <a:ln w="7620">
            <a:solidFill>
              <a:srgbClr val="F7EF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4536" y="1636776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5A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165506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5A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34072" y="17007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92824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D5A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 · 现金流 · 保险 · 复利 · 资产配置 · 风险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592824" y="274320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目标不是暴富，而是不因一次意外就失去选择权。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21792" y="3639312"/>
            <a:ext cx="5340096" cy="2029968"/>
          </a:xfrm>
          <a:prstGeom prst="roundRect">
            <a:avLst>
              <a:gd name="adj" fmla="val 7207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3968496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98678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92224" y="40325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英语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" y="4681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 · 论文 · 技术文档 · 英文检索 · 公开课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950976" y="507492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重点是获取一手知识，而不是追求口音。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263640" y="3639312"/>
            <a:ext cx="5340096" cy="2029968"/>
          </a:xfrm>
          <a:prstGeom prst="roundRect">
            <a:avLst>
              <a:gd name="adj" fmla="val 7207"/>
            </a:avLst>
          </a:prstGeom>
          <a:solidFill>
            <a:srgbClr val="EFEAFF"/>
          </a:solidFill>
          <a:ln w="7620">
            <a:solidFill>
              <a:srgbClr val="EFE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4536" y="3968496"/>
            <a:ext cx="658368" cy="65836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A5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398678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34072" y="40325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人文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92824" y="4681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 · 艺术 · 美学 · 伦理 · 生命意义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6592824" y="507492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避免只会计算效率，却不知道什么值得追求。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这些学科怎样协同工作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面对同一个问题，不同学科分别承担不同环节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FCE9DF"/>
          </a:solidFill>
          <a:ln w="7620">
            <a:solidFill>
              <a:srgbClr val="FCE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定义问题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88136" y="2450592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245973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逻辑学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82696" y="2039112"/>
            <a:ext cx="219456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371600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5544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7328" y="191109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获取证据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3941064" y="2450592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245973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2039112"/>
            <a:ext cx="219456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1371600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15544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0256" y="191109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评估概率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793992" y="2450592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245973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概率统计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88552" y="2039112"/>
            <a:ext cx="219456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44584" y="1371600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EFEAFF"/>
          </a:solidFill>
          <a:ln w="7620">
            <a:solidFill>
              <a:srgbClr val="EFE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15544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73184" y="191109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解释机制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646920" y="2450592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245973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经济·心理·历史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3730752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F7EFD9"/>
          </a:solidFill>
          <a:ln w="7620">
            <a:solidFill>
              <a:srgbClr val="F7EF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913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A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270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设计方案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88136" y="480974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D5A43A"/>
          </a:solidFill>
          <a:ln w="12700">
            <a:solidFill>
              <a:srgbClr val="D5A43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8136" y="481888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决策理论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82696" y="4398264"/>
            <a:ext cx="219456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38728" y="3730752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E7F1EA"/>
          </a:solidFill>
          <a:ln w="7620">
            <a:solidFill>
              <a:srgbClr val="E7F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3913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67328" y="4270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配置资源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3941064" y="480974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4B9B6D"/>
          </a:solidFill>
          <a:ln w="12700">
            <a:solidFill>
              <a:srgbClr val="4B9B6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41064" y="481888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运筹学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35624" y="4398264"/>
            <a:ext cx="219456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91656" y="3730752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F8E5E3"/>
          </a:solidFill>
          <a:ln w="7620">
            <a:solidFill>
              <a:srgbClr val="F8E5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3913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20256" y="4270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预测反应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6793992" y="480974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C8534E"/>
          </a:solidFill>
          <a:ln w="12700">
            <a:solidFill>
              <a:srgbClr val="C8534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93992" y="481888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博弈·系统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88552" y="4398264"/>
            <a:ext cx="219456" cy="29260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44584" y="3730752"/>
            <a:ext cx="2542032" cy="1627632"/>
          </a:xfrm>
          <a:prstGeom prst="roundRect">
            <a:avLst>
              <a:gd name="adj" fmla="val 7865"/>
            </a:avLst>
          </a:prstGeom>
          <a:solidFill>
            <a:srgbClr val="EEF0F2"/>
          </a:solidFill>
          <a:ln w="7620">
            <a:solidFill>
              <a:srgbClr val="EEF0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73184" y="3913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473184" y="4270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执行修正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9646920" y="480974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4E6577"/>
          </a:solidFill>
          <a:ln w="12700">
            <a:solidFill>
              <a:srgbClr val="4E657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46920" y="481888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管理·控制论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 rot="5400000">
            <a:off x="5824728" y="3118104"/>
            <a:ext cx="566928" cy="384048"/>
          </a:xfrm>
          <a:prstGeom prst="chevron">
            <a:avLst/>
          </a:prstGeom>
          <a:solidFill>
            <a:srgbClr val="D0CBC2"/>
          </a:solidFill>
          <a:ln w="12700">
            <a:solidFill>
              <a:srgbClr val="D0CBC2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27632" y="608076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任何一门学科都不是万能答案；真正强的是把它们连接成完整流程。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三年学习路线：先打基础，再建立连接，最后形成系统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不是一次学完，而是让每一年都有明确能力产出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874520"/>
            <a:ext cx="10287000" cy="0"/>
          </a:xfrm>
          <a:prstGeom prst="line">
            <a:avLst/>
          </a:prstGeom>
          <a:noFill/>
          <a:ln w="38100">
            <a:solidFill>
              <a:srgbClr val="D8D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90472"/>
            <a:ext cx="777240" cy="777240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  <a:effectLst>
            <a:outerShdw sx="100000" sy="100000" kx="0" ky="0" algn="bl" rotWithShape="0" blurRad="7.327899727322837e+65" dist="3.6639498636614186e+65" dir="1.2694994583552002e+78">
              <a:srgbClr val="12202E">
                <a:alpha val="7.999999999999998e+7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709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" y="2487168"/>
            <a:ext cx="2880360" cy="2834640"/>
          </a:xfrm>
          <a:prstGeom prst="roundRect">
            <a:avLst>
              <a:gd name="adj" fmla="val 4839"/>
            </a:avLst>
          </a:prstGeom>
          <a:solidFill>
            <a:srgbClr val="FCE9DF"/>
          </a:solidFill>
          <a:ln w="7620">
            <a:solidFill>
              <a:srgbClr val="FCE9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77977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65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打底座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逻辑 · 概率统计 · 写作 · 英语 · 计算机 · 经济学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1170432" y="4535424"/>
            <a:ext cx="192024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7091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能独立学习、分析和表达一个问题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617720" y="1490472"/>
            <a:ext cx="777240" cy="777240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  <a:effectLst>
            <a:outerShdw sx="100000" sy="100000" kx="0" ky="0" algn="bl" rotWithShape="0" blurRad="9.306432653700004e+69" dist="4.653216326850002e+69" dir="7.616996750131201e+82">
              <a:srgbClr val="12202E">
                <a:alpha val="7.999999999999998e+8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1709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2487168"/>
            <a:ext cx="2880360" cy="2834640"/>
          </a:xfrm>
          <a:prstGeom prst="roundRect">
            <a:avLst>
              <a:gd name="adj" fmla="val 4839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277977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7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建连接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43484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线性代数 · 因果推断 · 运筹学 · 博弈论 · 社会学 · 法律 · 财务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4645152" y="4535424"/>
            <a:ext cx="192024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128" y="47091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能把多个学科组合成决策方案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092440" y="1490472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  <a:effectLst>
            <a:outerShdw sx="100000" sy="100000" kx="0" ky="0" algn="bl" rotWithShape="0" blurRad="1.1819169470199006e+74" dist="5.909584735099503e+73" dir="4.57019805007872e+87">
              <a:srgbClr val="12202E">
                <a:alpha val="7.999999999999998e+88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01000" y="1709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第3年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53528" y="2487168"/>
            <a:ext cx="2880360" cy="2834640"/>
          </a:xfrm>
          <a:prstGeom prst="roundRect">
            <a:avLst>
              <a:gd name="adj" fmla="val 4839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277977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6B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成系统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90956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系统科学 · 控制论 · 机器学习 · 管理 · 综合项目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8119872" y="4535424"/>
            <a:ext cx="192024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7848" y="47091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能解决真实复杂问题并持续迭代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第一年：建立可以独立思考和学习的底座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每个季度只抓住一组主线，避免同时铺开太多课程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325880"/>
            <a:ext cx="2633472" cy="452628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.3661105325440895e+53" dist="2.6830552662720448e+53" dir="5.877312307200001e+63">
              <a:srgbClr val="12202E">
                <a:alpha val="1.2999999999999998e+6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618488"/>
            <a:ext cx="676656" cy="384048"/>
          </a:xfrm>
          <a:prstGeom prst="roundRect">
            <a:avLst>
              <a:gd name="adj" fmla="val 28571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642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585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逻辑 + 数学基础 + 写作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127248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掌握论证、条件、反例；补代数、函数与集合；每周写一篇短分析。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4617720"/>
            <a:ext cx="1920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4882896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成果：20张概念卡 + 4篇分析文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3474720" y="1325880"/>
            <a:ext cx="2633472" cy="452628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.814960376330994e+57" dist="3.407480188165497e+57" dir="3.526387384320001e+68">
              <a:srgbClr val="12202E">
                <a:alpha val="1.2999999999999999e+6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1618488"/>
            <a:ext cx="676656" cy="384048"/>
          </a:xfrm>
          <a:prstGeom prst="roundRect">
            <a:avLst>
              <a:gd name="adj" fmla="val 28571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6642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30752" y="22585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概率统计 + Excel / SQL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3127248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学习条件概率、分布、抽样、置信区间；完成数据清洗与分析练习。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22192" y="4617720"/>
            <a:ext cx="1920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4882896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成果：1个数据项目 + 概率预测日志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336792" y="1325880"/>
            <a:ext cx="2633472" cy="452628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8.654999677940362e+61" dist="4.327499838970181e+61" dir="2.1158324305920003e+73">
              <a:srgbClr val="12202E">
                <a:alpha val="1.3e+7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92824" y="1618488"/>
            <a:ext cx="676656" cy="384048"/>
          </a:xfrm>
          <a:prstGeom prst="roundRect">
            <a:avLst>
              <a:gd name="adj" fmla="val 28571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16642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22585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经济学 + 心理学 + 历史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56832" y="3127248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用机会成本、激励、偏误、路径依赖分析真实社会和个人选择。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84264" y="4617720"/>
            <a:ext cx="1920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4882896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成果：3份跨学科案例分析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9198864" y="1325880"/>
            <a:ext cx="2633472" cy="452628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099184959098426e+66" dist="5.49592479549213e+65" dir="1.2694994583552002e+78">
              <a:srgbClr val="12202E">
                <a:alpha val="1.3e+7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454896" y="1618488"/>
            <a:ext cx="676656" cy="384048"/>
          </a:xfrm>
          <a:prstGeom prst="roundRect">
            <a:avLst>
              <a:gd name="adj" fmla="val 28571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54896" y="16642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54896" y="22585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 + 数据分析 + 决策复盘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18904" y="3127248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把前面所学转化为代码、图表和一页决策备忘录。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46336" y="4617720"/>
            <a:ext cx="1920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4882896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成果：个人能力作品集 v1.0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第二年与第三年：从单科能力走向综合解决问题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学习重点从“掌握概念”逐步转为“解决真实问题”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07592"/>
            <a:ext cx="5330952" cy="4526280"/>
          </a:xfrm>
          <a:prstGeom prst="roundRect">
            <a:avLst>
              <a:gd name="adj" fmla="val 3232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307592"/>
            <a:ext cx="5330952" cy="4526280"/>
          </a:xfrm>
          <a:prstGeom prst="roundRect">
            <a:avLst>
              <a:gd name="adj" fmla="val 3232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627632"/>
            <a:ext cx="1609344" cy="329184"/>
          </a:xfrm>
          <a:prstGeom prst="roundRect">
            <a:avLst>
              <a:gd name="adj" fmla="val 33333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3677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第2年 · 建连接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2219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把不同方法连接起来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78408" y="3026664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0779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线性代数与因果推断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978408" y="3520440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40156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运筹学与博弈论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78408" y="4014216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89534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社会学、法律与个人财务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78408" y="4507992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3891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系统化读马克思主义与毛泽东思想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978408" y="5001768"/>
            <a:ext cx="73152" cy="73152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88289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每季度完成一份决策备忘录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969264" y="529437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年度成果：能够用多个视角设计、比较和解释方案。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510528" y="1627632"/>
            <a:ext cx="1609344" cy="329184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63677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第3年 · 成系统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10528" y="22219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把学习转化为稳定能力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528816" y="302666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290779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系统科学、控制论与复杂系统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528816" y="352044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340156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机器学习、仿真与预测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528816" y="4014216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389534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项目管理、组织行为与沟通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528816" y="450799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43891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设计一个跨学科综合项目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528816" y="5001768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88289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建立公开或私有的个人作品集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6519672" y="529437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年度成果：能够独立分析、执行、复盘并持续迭代。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每周10小时的现实安排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少而稳定，比阶段性突击更容易形成长期复利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7406640" cy="446227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395964898055001e+70" dist="6.979824490275004e+69" dir="7.616996750131201e+82">
              <a:srgbClr val="12202E">
                <a:alpha val="1.3e+84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时间分配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331720"/>
            <a:ext cx="1810512" cy="685800"/>
          </a:xfrm>
          <a:prstGeom prst="roundRect">
            <a:avLst>
              <a:gd name="adj" fmla="val 13333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8716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25496" y="2331720"/>
            <a:ext cx="1207008" cy="685800"/>
          </a:xfrm>
          <a:prstGeom prst="roundRect">
            <a:avLst>
              <a:gd name="adj" fmla="val 13333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4871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87368" y="2331720"/>
            <a:ext cx="1207008" cy="68580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24871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49240" y="2331720"/>
            <a:ext cx="1207008" cy="685800"/>
          </a:xfrm>
          <a:prstGeom prst="roundRect">
            <a:avLst>
              <a:gd name="adj" fmla="val 13333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4871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1112" y="2331720"/>
            <a:ext cx="603504" cy="685800"/>
          </a:xfrm>
          <a:prstGeom prst="roundRect">
            <a:avLst>
              <a:gd name="adj" fmla="val 15152"/>
            </a:avLst>
          </a:prstGeom>
          <a:solidFill>
            <a:srgbClr val="4B9B6D"/>
          </a:solidFill>
          <a:ln w="12700">
            <a:solidFill>
              <a:srgbClr val="4B9B6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2487168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7552" y="3520440"/>
            <a:ext cx="91440" cy="91440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4290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 / 概率 / 统计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4114800" y="3429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7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3小时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987552" y="3913632"/>
            <a:ext cx="91440" cy="91440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逻辑 / 经济 / 社会科学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4114800" y="3822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7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2小时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987552" y="430682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2153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编程 / 数据实践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4114800" y="4215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7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2小时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987552" y="4700016"/>
            <a:ext cx="91440" cy="9144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46085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 / 哲学 / 经典阅读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4114800" y="46085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7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2小时</a:t>
            </a:r>
            <a:endParaRPr lang="en-US" sz="1170" dirty="0"/>
          </a:p>
        </p:txBody>
      </p:sp>
      <p:sp>
        <p:nvSpPr>
          <p:cNvPr id="30" name="Shape 28"/>
          <p:cNvSpPr/>
          <p:nvPr/>
        </p:nvSpPr>
        <p:spPr>
          <a:xfrm>
            <a:off x="987552" y="5093208"/>
            <a:ext cx="91440" cy="91440"/>
          </a:xfrm>
          <a:prstGeom prst="ellipse">
            <a:avLst/>
          </a:prstGeom>
          <a:solidFill>
            <a:srgbClr val="4B9B6D"/>
          </a:solidFill>
          <a:ln w="12700">
            <a:solidFill>
              <a:srgbClr val="4B9B6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5001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写作 / 复盘 / 决策日志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4114800" y="5001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70" b="1" dirty="0">
                <a:solidFill>
                  <a:srgbClr val="4B9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1小时</a:t>
            </a:r>
            <a:endParaRPr lang="en-US" sz="1170" dirty="0"/>
          </a:p>
        </p:txBody>
      </p:sp>
      <p:sp>
        <p:nvSpPr>
          <p:cNvPr id="33" name="Shape 31"/>
          <p:cNvSpPr/>
          <p:nvPr/>
        </p:nvSpPr>
        <p:spPr>
          <a:xfrm>
            <a:off x="8339328" y="1325880"/>
            <a:ext cx="3182112" cy="4462272"/>
          </a:xfrm>
          <a:prstGeom prst="roundRect">
            <a:avLst>
              <a:gd name="adj" fmla="val 4598"/>
            </a:avLst>
          </a:prstGeom>
          <a:solidFill>
            <a:srgbClr val="0B1F33"/>
          </a:solidFill>
          <a:ln w="7620">
            <a:solidFill>
              <a:srgbClr val="0B1F33"/>
            </a:solidFill>
            <a:prstDash val="solid"/>
          </a:ln>
          <a:effectLst>
            <a:outerShdw sx="100000" sy="100000" kx="0" ky="0" algn="bl" rotWithShape="0" blurRad="1.772875420529851e+74" dist="8.864377102649255e+73" dir="4.57019805007872e+87">
              <a:srgbClr val="12202E">
                <a:alpha val="1.3e+8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13648" y="17099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一种可执行的节奏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8686800" y="2423160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24323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周一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74352" y="244144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1D1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1h 理论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8686800" y="3026664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035808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74352" y="30449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1D1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1h 习题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8686800" y="3630168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3639312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74352" y="36484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1D1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1h 写作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8686800" y="423367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4242816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周六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74352" y="42519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1D1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4h 主课 + 项目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8686800" y="4837176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846320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74352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1D1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3h 阅读 + 复盘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怎样判断自己真的学会了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会背定义不等于掌握，必须通过五道“能力门槛”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2048256" cy="2834640"/>
          </a:xfrm>
          <a:prstGeom prst="roundRect">
            <a:avLst>
              <a:gd name="adj" fmla="val 6250"/>
            </a:avLst>
          </a:prstGeom>
          <a:solidFill>
            <a:srgbClr val="FCE9DF"/>
          </a:solidFill>
          <a:ln w="7620">
            <a:solidFill>
              <a:srgbClr val="FCE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5024" y="1700784"/>
            <a:ext cx="658368" cy="658368"/>
          </a:xfrm>
          <a:prstGeom prst="ellipse">
            <a:avLst/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18562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能讲清楚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18211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不用术语也能向别人说明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2944368" y="1389888"/>
            <a:ext cx="2048256" cy="2834640"/>
          </a:xfrm>
          <a:prstGeom prst="roundRect">
            <a:avLst>
              <a:gd name="adj" fmla="val 6250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1700784"/>
            <a:ext cx="658368" cy="658368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8562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45536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能手算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72968" y="318211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能独立完成一个小例子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248656" y="1389888"/>
            <a:ext cx="2048256" cy="2834640"/>
          </a:xfrm>
          <a:prstGeom prst="roundRect">
            <a:avLst>
              <a:gd name="adj" fmla="val 6250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700784"/>
            <a:ext cx="658368" cy="65836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8562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49824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能实现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77256" y="318211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能用工具、代码或流程复现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552944" y="1389888"/>
            <a:ext cx="2048256" cy="2834640"/>
          </a:xfrm>
          <a:prstGeom prst="roundRect">
            <a:avLst>
              <a:gd name="adj" fmla="val 6250"/>
            </a:avLst>
          </a:prstGeom>
          <a:solidFill>
            <a:srgbClr val="EFEAFF"/>
          </a:solidFill>
          <a:ln w="7620">
            <a:solidFill>
              <a:srgbClr val="EFE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1700784"/>
            <a:ext cx="658368" cy="658368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18562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54112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知边界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81544" y="318211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知道假设、条件和不适用场景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9857232" y="1389888"/>
            <a:ext cx="2048256" cy="2834640"/>
          </a:xfrm>
          <a:prstGeom prst="roundRect">
            <a:avLst>
              <a:gd name="adj" fmla="val 6250"/>
            </a:avLst>
          </a:prstGeom>
          <a:solidFill>
            <a:srgbClr val="E7F1EA"/>
          </a:solidFill>
          <a:ln w="7620">
            <a:solidFill>
              <a:srgbClr val="E7F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52176" y="1700784"/>
            <a:ext cx="658368" cy="658368"/>
          </a:xfrm>
          <a:prstGeom prst="ellipse">
            <a:avLst/>
          </a:prstGeom>
          <a:solidFill>
            <a:srgbClr val="4B9B6D"/>
          </a:solidFill>
          <a:ln w="12700">
            <a:solidFill>
              <a:srgbClr val="4B9B6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52176" y="18562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0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能应用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85832" y="318211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能解决一个真实问题并复盘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786384" y="4608576"/>
            <a:ext cx="10607040" cy="1051560"/>
          </a:xfrm>
          <a:prstGeom prst="roundRect">
            <a:avLst>
              <a:gd name="adj" fmla="val 12174"/>
            </a:avLst>
          </a:prstGeom>
          <a:solidFill>
            <a:srgbClr val="0B1F33"/>
          </a:solidFill>
          <a:ln w="7620">
            <a:solidFill>
              <a:srgbClr val="0B1F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928616"/>
            <a:ext cx="9802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每四周固定交付：一张知识结构图 · 一组习题 · 一个代码或工具作品 · 一页决策备忘录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建立个人知识与决策系统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让学过的东西能够被调用，让做过的判断能够被校准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71600"/>
            <a:ext cx="2578608" cy="1847088"/>
          </a:xfrm>
          <a:prstGeom prst="roundRect">
            <a:avLst>
              <a:gd name="adj" fmla="val 7426"/>
            </a:avLst>
          </a:prstGeom>
          <a:solidFill>
            <a:srgbClr val="FCE9DF"/>
          </a:solidFill>
          <a:ln w="7620">
            <a:solidFill>
              <a:srgbClr val="FCE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27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5256" y="202996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256032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是什么 · 解决什么 · 适用条件 · 反例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9584" y="1371600"/>
            <a:ext cx="2578608" cy="1847088"/>
          </a:xfrm>
          <a:prstGeom prst="roundRect">
            <a:avLst>
              <a:gd name="adj" fmla="val 7426"/>
            </a:avLst>
          </a:prstGeom>
          <a:solidFill>
            <a:srgbClr val="E5F2EF"/>
          </a:solidFill>
          <a:ln w="7620">
            <a:solidFill>
              <a:srgbClr val="E5F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627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58184" y="202996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85616" y="256032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 · 输出 · 步骤 · 风险 · 代码或工具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82512" y="1371600"/>
            <a:ext cx="2578608" cy="1847088"/>
          </a:xfrm>
          <a:prstGeom prst="roundRect">
            <a:avLst>
              <a:gd name="adj" fmla="val 7426"/>
            </a:avLst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627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1112" y="202996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56032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· 数据 · 判断 · 行动 · 结果 · 经验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578608" cy="1847088"/>
          </a:xfrm>
          <a:prstGeom prst="roundRect">
            <a:avLst>
              <a:gd name="adj" fmla="val 7426"/>
            </a:avLst>
          </a:prstGeom>
          <a:solidFill>
            <a:srgbClr val="EFEAFF"/>
          </a:solidFill>
          <a:ln w="7620">
            <a:solidFill>
              <a:srgbClr val="EFE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54896" y="1627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64040" y="202996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决策日志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91472" y="256032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 · 假设 · 概率 · 方案 · 结果 · 修正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" y="3675888"/>
            <a:ext cx="106070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251551784072911e+78" dist="1.1257758920364555e+78" dir="2.742118830047232e+92">
              <a:srgbClr val="12202E">
                <a:alpha val="1.3e+9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78992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一条决策日志应该记录什么？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2416" y="4553712"/>
            <a:ext cx="2880360" cy="438912"/>
          </a:xfrm>
          <a:prstGeom prst="roundRect">
            <a:avLst>
              <a:gd name="adj" fmla="val 20833"/>
            </a:avLst>
          </a:prstGeom>
          <a:solidFill>
            <a:srgbClr val="E5F2EF"/>
          </a:solidFill>
          <a:ln w="12700">
            <a:solidFill>
              <a:srgbClr val="E5F2E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62686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当时掌握的信息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379976" y="4553712"/>
            <a:ext cx="2880360" cy="438912"/>
          </a:xfrm>
          <a:prstGeom prst="roundRect">
            <a:avLst>
              <a:gd name="adj" fmla="val 20833"/>
            </a:avLst>
          </a:prstGeom>
          <a:solidFill>
            <a:srgbClr val="E5F2EF"/>
          </a:solidFill>
          <a:ln w="12700">
            <a:solidFill>
              <a:srgbClr val="E5F2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62686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核心假设与概率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717536" y="4553712"/>
            <a:ext cx="2880360" cy="438912"/>
          </a:xfrm>
          <a:prstGeom prst="roundRect">
            <a:avLst>
              <a:gd name="adj" fmla="val 20833"/>
            </a:avLst>
          </a:prstGeom>
          <a:solidFill>
            <a:srgbClr val="E5F2EF"/>
          </a:solidFill>
          <a:ln w="12700">
            <a:solidFill>
              <a:srgbClr val="E5F2E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4626864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选择与未选方案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1042416" y="5175504"/>
            <a:ext cx="2880360" cy="438912"/>
          </a:xfrm>
          <a:prstGeom prst="roundRect">
            <a:avLst>
              <a:gd name="adj" fmla="val 20833"/>
            </a:avLst>
          </a:prstGeom>
          <a:solidFill>
            <a:srgbClr val="FCE9DF"/>
          </a:solidFill>
          <a:ln w="12700">
            <a:solidFill>
              <a:srgbClr val="FCE9D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52486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预期结果与止损条件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4379976" y="5175504"/>
            <a:ext cx="2880360" cy="438912"/>
          </a:xfrm>
          <a:prstGeom prst="roundRect">
            <a:avLst>
              <a:gd name="adj" fmla="val 20833"/>
            </a:avLst>
          </a:prstGeom>
          <a:solidFill>
            <a:srgbClr val="FCE9DF"/>
          </a:solidFill>
          <a:ln w="12700">
            <a:solidFill>
              <a:srgbClr val="FCE9D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52486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实际结果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7717536" y="5175504"/>
            <a:ext cx="2880360" cy="438912"/>
          </a:xfrm>
          <a:prstGeom prst="roundRect">
            <a:avLst>
              <a:gd name="adj" fmla="val 20833"/>
            </a:avLst>
          </a:prstGeom>
          <a:solidFill>
            <a:srgbClr val="FCE9DF"/>
          </a:solidFill>
          <a:ln w="12700">
            <a:solidFill>
              <a:srgbClr val="FCE9D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5248656"/>
            <a:ext cx="2578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判断偏差与下一次修正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7726680" y="39776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3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复盘不是为过去找解释，而是为了校准未来。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15568" y="237744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520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从今天开始：30天启动计划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33856" y="70408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先建立学习闭环，再逐步扩大学科边界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987552"/>
            <a:ext cx="11128248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53312"/>
            <a:ext cx="2651760" cy="422452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859470765772597e+82" dist="1.4297353828862985e+82" dir="1.6452712980283393e+97">
              <a:srgbClr val="12202E">
                <a:alpha val="1.3e+9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664208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733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23042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逻辑与学习系统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9264" y="3218688"/>
            <a:ext cx="195681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建立目录；学习命题、前提、结论、必要与充分条件；完成10张概念卡。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1088136" y="4992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665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完成后打勾  □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493008" y="1353312"/>
            <a:ext cx="2651760" cy="422452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.631527872531198e+86" dist="1.815763936265599e+86" dir="9.871627788170037e+101">
              <a:srgbClr val="12202E">
                <a:alpha val="1.3e+10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03904" y="1664208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16733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94760" y="23042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数学与概率直觉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3218688"/>
            <a:ext cx="195681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复习代数、函数、比例；学习条件概率和贝叶斯；开始每周5个概率预测。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3959352" y="4992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E7C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完成后打勾  □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364224" y="1353312"/>
            <a:ext cx="2651760" cy="422452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4.6120403981146215e+90" dist="2.3060201990573107e+90" dir="5.9229766729020215e+106">
              <a:srgbClr val="12202E">
                <a:alpha val="1.3e+10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664208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6733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第3周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65976" y="23042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写作与英语输入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711696" y="3218688"/>
            <a:ext cx="195681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精读一篇高质量长文或课程；写一页摘要，区分事实、论证和结论。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6830568" y="4992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完成后打勾  □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235440" y="1353312"/>
            <a:ext cx="2651760" cy="422452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.85729130560557e+94" dist="2.928645652802785e+94" dir="3.553786003741213e+111">
              <a:srgbClr val="12202E">
                <a:alpha val="1.3e+11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46336" y="1664208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6336" y="16733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第4周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37192" y="230428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数据工具与小项目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82912" y="3218688"/>
            <a:ext cx="195681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110" dirty="0">
                <a:solidFill>
                  <a:srgbClr val="5E6A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学习Excel/SQL或Python基础；完成一次数据清洗、分析和图表表达。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9701784" y="4992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5A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完成后打勾  □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188720" y="596188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30天的目标不是“学很多”，而是证明你能稳定学习、输出、应用和复盘。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" y="64648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02920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22408" y="502920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9296" y="502920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16184" y="502920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63072" y="502920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9960" y="502920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502920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0" y="749808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22408" y="749808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69296" y="749808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16184" y="749808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63072" y="749808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9960" y="749808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56848" y="749808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0" y="996696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22408" y="996696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69296" y="996696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16184" y="996696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996696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9960" y="996696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56848" y="996696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1243584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2408" y="1243584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9296" y="1243584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16184" y="1243584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63072" y="1243584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09960" y="1243584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56848" y="1243584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490472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22408" y="1490472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69296" y="1490472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16184" y="1490472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63072" y="1490472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9960" y="1490472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56848" y="1490472"/>
            <a:ext cx="41148" cy="41148"/>
          </a:xfrm>
          <a:prstGeom prst="ellipse">
            <a:avLst/>
          </a:prstGeom>
          <a:solidFill>
            <a:srgbClr val="45667C">
              <a:alpha val="25000"/>
            </a:srgbClr>
          </a:solidFill>
          <a:ln w="12700">
            <a:solidFill>
              <a:srgbClr val="45667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960120"/>
            <a:ext cx="1417320" cy="0"/>
          </a:xfrm>
          <a:prstGeom prst="line">
            <a:avLst/>
          </a:prstGeom>
          <a:noFill/>
          <a:ln w="50800">
            <a:solidFill>
              <a:srgbClr val="E665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126187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你最终要成为怎样的人？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914400" y="2148840"/>
            <a:ext cx="630936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CFDC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不是知识最多的人，而是能够在复杂世界里找到可靠信息、识别关键问题、理解人和制度、评估风险、设计方案、推动行动，并在结果面前持续修正自己的人。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14400" y="4937760"/>
            <a:ext cx="1572768" cy="658368"/>
          </a:xfrm>
          <a:prstGeom prst="roundRect">
            <a:avLst>
              <a:gd name="adj" fmla="val 19444"/>
            </a:avLst>
          </a:prstGeom>
          <a:solidFill>
            <a:srgbClr val="E66532"/>
          </a:solidFill>
          <a:ln w="12700">
            <a:solidFill>
              <a:srgbClr val="E66532">
                <a:alpha val="0"/>
              </a:srgbClr>
            </a:solidFill>
            <a:prstDash val="solid"/>
          </a:ln>
          <a:effectLst>
            <a:outerShdw sx="100000" sy="100000" kx="0" ky="0" algn="bl" rotWithShape="0" blurRad="1.5010345227152738e+78" dist="7.505172613576369e+77" dir="2.742118830047232e+92">
              <a:srgbClr val="12202E">
                <a:alpha val="7.9999999999999985e+93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14400" y="5093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看得清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2852928" y="4937760"/>
            <a:ext cx="1572768" cy="658368"/>
          </a:xfrm>
          <a:prstGeom prst="roundRect">
            <a:avLst>
              <a:gd name="adj" fmla="val 19444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  <a:effectLst>
            <a:outerShdw sx="100000" sy="100000" kx="0" ky="0" algn="bl" rotWithShape="0" blurRad="1.9063138438483977e+82" dist="9.531569219241989e+81" dir="1.6452712980283393e+97">
              <a:srgbClr val="12202E">
                <a:alpha val="7.999999999999999e+98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852928" y="5093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想得透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4791456" y="4937760"/>
            <a:ext cx="1572768" cy="658368"/>
          </a:xfrm>
          <a:prstGeom prst="roundRect">
            <a:avLst>
              <a:gd name="adj" fmla="val 19444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  <a:effectLst>
            <a:outerShdw sx="100000" sy="100000" kx="0" ky="0" algn="bl" rotWithShape="0" blurRad="2.421018581687465e+86" dist="1.2105092908437325e+86" dir="9.871627788170037e+101">
              <a:srgbClr val="12202E">
                <a:alpha val="7.999999999999998e+103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91456" y="5093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说得明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6729984" y="4937760"/>
            <a:ext cx="1572768" cy="658368"/>
          </a:xfrm>
          <a:prstGeom prst="roundRect">
            <a:avLst>
              <a:gd name="adj" fmla="val 19444"/>
            </a:avLst>
          </a:prstGeom>
          <a:solidFill>
            <a:srgbClr val="D5A43A"/>
          </a:solidFill>
          <a:ln w="12700">
            <a:solidFill>
              <a:srgbClr val="D5A43A">
                <a:alpha val="0"/>
              </a:srgbClr>
            </a:solidFill>
            <a:prstDash val="solid"/>
          </a:ln>
          <a:effectLst>
            <a:outerShdw sx="100000" sy="100000" kx="0" ky="0" algn="bl" rotWithShape="0" blurRad="3.0746935987430805e+90" dist="1.5373467993715403e+90" dir="5.9229766729020215e+106">
              <a:srgbClr val="12202E">
                <a:alpha val="7.999999999999998e+108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729984" y="5093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做得到</a:t>
            </a:r>
            <a:endParaRPr lang="en-US" sz="1550" dirty="0"/>
          </a:p>
        </p:txBody>
      </p:sp>
      <p:sp>
        <p:nvSpPr>
          <p:cNvPr id="48" name="Shape 46"/>
          <p:cNvSpPr/>
          <p:nvPr/>
        </p:nvSpPr>
        <p:spPr>
          <a:xfrm>
            <a:off x="8668512" y="4937760"/>
            <a:ext cx="1572768" cy="658368"/>
          </a:xfrm>
          <a:prstGeom prst="roundRect">
            <a:avLst>
              <a:gd name="adj" fmla="val 19444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  <a:effectLst>
            <a:outerShdw sx="100000" sy="100000" kx="0" ky="0" algn="bl" rotWithShape="0" blurRad="3.904860870403712e+94" dist="1.952430435201856e+94" dir="3.553786003741213e+111">
              <a:srgbClr val="12202E">
                <a:alpha val="7.999999999999999e+113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68512" y="5093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改得快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914400" y="6172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5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个人长期能力成长体系 · V1.0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21945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2DC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个人长期能力成长体系</dc:title>
  <dc:subject>个人长期能力成长体系</dc:subject>
  <dc:creator>OpenAI</dc:creator>
  <cp:lastModifiedBy>OpenAI</cp:lastModifiedBy>
  <cp:revision>1</cp:revision>
  <dcterms:created xsi:type="dcterms:W3CDTF">2026-09-03T11:36:28Z</dcterms:created>
  <dcterms:modified xsi:type="dcterms:W3CDTF">2026-09-03T11:36:28Z</dcterms:modified>
</cp:coreProperties>
</file>